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27103" y="0"/>
            <a:ext cx="164592" cy="1371600"/>
          </a:xfrm>
          <a:prstGeom prst="rect">
            <a:avLst/>
          </a:prstGeom>
          <a:solidFill>
            <a:srgbClr val="D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27103" y="1371600"/>
            <a:ext cx="164592" cy="137160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027103" y="2743200"/>
            <a:ext cx="164592" cy="1371600"/>
          </a:xfrm>
          <a:prstGeom prst="rect">
            <a:avLst/>
          </a:prstGeom>
          <a:solidFill>
            <a:srgbClr val="1E7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027103" y="4114800"/>
            <a:ext cx="164592" cy="1371600"/>
          </a:xfrm>
          <a:prstGeom prst="rect">
            <a:avLst/>
          </a:prstGeom>
          <a:solidFill>
            <a:srgbClr val="1A3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27103" y="5486400"/>
            <a:ext cx="164592" cy="1371600"/>
          </a:xfrm>
          <a:prstGeom prst="rect">
            <a:avLst/>
          </a:prstGeom>
          <a:solidFill>
            <a:srgbClr val="2E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548640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4000" b="1">
                <a:solidFill>
                  <a:srgbClr val="0B1F3A"/>
                </a:solidFill>
                <a:latin typeface="Calibri"/>
              </a:rPr>
              <a:t>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7F4F"/>
                </a:solidFill>
                <a:latin typeface="Calibri"/>
              </a:rPr>
              <a:t>PAINT MASTER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alibri"/>
              </a:rPr>
              <a:t>Your daily
workflow.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7200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CBD5E1"/>
                </a:solidFill>
                <a:latin typeface="Calibri"/>
              </a:rPr>
              <a:t>From first sign-in to mark-QA-ready — the website is your home base.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217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Paint Masters Ghana — internal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1F3A"/>
                </a:solidFill>
                <a:latin typeface="Calibri"/>
              </a:rPr>
              <a:t>What's in this deck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50292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MASTER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2438339" cy="73152"/>
          </a:xfrm>
          <a:prstGeom prst="rect">
            <a:avLst/>
          </a:prstGeom>
          <a:solidFill>
            <a:srgbClr val="D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38339" y="6729984"/>
            <a:ext cx="2438339" cy="73152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76678" y="6729984"/>
            <a:ext cx="2438339" cy="73152"/>
          </a:xfrm>
          <a:prstGeom prst="rect">
            <a:avLst/>
          </a:prstGeom>
          <a:solidFill>
            <a:srgbClr val="1E7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017" y="6729984"/>
            <a:ext cx="2438339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53356" y="6729984"/>
            <a:ext cx="2438339" cy="73152"/>
          </a:xfrm>
          <a:prstGeom prst="rect">
            <a:avLst/>
          </a:prstGeom>
          <a:solidFill>
            <a:srgbClr val="2E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801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334155"/>
                </a:solidFill>
                <a:latin typeface="Calibri"/>
              </a:rPr>
              <a:t>A walkthrough of the platform from a Paint Master's perspective. Bookmark painter.html — that's your home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20240"/>
            <a:ext cx="106984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First sign-in flow — temp password to permanent.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Your dashboard — today's job, stats, calendar, notifications, earnings.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Doing a job — day before, morning of, mid-job, end of job.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Reviews and rating — what to aim for.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Calendar and availability — how to mark yourself off.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Getting paid — the manual flow today, automated flow soon.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0" b="1" i="0">
                <a:solidFill>
                  <a:srgbClr val="F5B800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First sign-in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7607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CBD5E1"/>
                </a:solidFill>
                <a:latin typeface="Calibri"/>
              </a:rPr>
              <a:t>Temp password from admin → change it once → straight to your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1F3A"/>
                </a:solidFill>
                <a:latin typeface="Calibri"/>
              </a:rPr>
              <a:t>Three steps the first time you log 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50292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SIGN-IN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2438339" cy="73152"/>
          </a:xfrm>
          <a:prstGeom prst="rect">
            <a:avLst/>
          </a:prstGeom>
          <a:solidFill>
            <a:srgbClr val="D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38339" y="6729984"/>
            <a:ext cx="2438339" cy="73152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76678" y="6729984"/>
            <a:ext cx="2438339" cy="73152"/>
          </a:xfrm>
          <a:prstGeom prst="rect">
            <a:avLst/>
          </a:prstGeom>
          <a:solidFill>
            <a:srgbClr val="1E7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017" y="6729984"/>
            <a:ext cx="2438339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53356" y="6729984"/>
            <a:ext cx="2438339" cy="73152"/>
          </a:xfrm>
          <a:prstGeom prst="rect">
            <a:avLst/>
          </a:prstGeom>
          <a:solidFill>
            <a:srgbClr val="2E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85135" y="1554480"/>
            <a:ext cx="2194560" cy="4572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68015" y="1737360"/>
            <a:ext cx="502920" cy="50292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5B800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68015" y="237744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Get the SMS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68015" y="3108960"/>
            <a:ext cx="182880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Admin sends you a temp password (something like PM-AKO-2847) and the sign-in link as soon as your application is approved.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98567" y="1554480"/>
            <a:ext cx="2194560" cy="4572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181447" y="1737360"/>
            <a:ext cx="502920" cy="50292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5B800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81447" y="237744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Sign in once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1447" y="3108960"/>
            <a:ext cx="182880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Open paintmasters.gh/login.html. Phone + temp password. The platform sends you straight to a change-password page.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1999" y="1554480"/>
            <a:ext cx="2194560" cy="4572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94879" y="1737360"/>
            <a:ext cx="502920" cy="50292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5B800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4879" y="237744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Set your real password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4879" y="3108960"/>
            <a:ext cx="182880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At least 6 characters. Type it twice. Save. You land on painter.html — your home page from now 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0" b="1" i="0">
                <a:solidFill>
                  <a:srgbClr val="F5B800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Your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7607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CBD5E1"/>
                </a:solidFill>
                <a:latin typeface="Calibri"/>
              </a:rPr>
              <a:t>Five panels. Bookmark this page.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1F3A"/>
                </a:solidFill>
                <a:latin typeface="Calibri"/>
              </a:rPr>
              <a:t>The dashboard panels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50292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2438339" cy="73152"/>
          </a:xfrm>
          <a:prstGeom prst="rect">
            <a:avLst/>
          </a:prstGeom>
          <a:solidFill>
            <a:srgbClr val="D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38339" y="6729984"/>
            <a:ext cx="2438339" cy="73152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76678" y="6729984"/>
            <a:ext cx="2438339" cy="73152"/>
          </a:xfrm>
          <a:prstGeom prst="rect">
            <a:avLst/>
          </a:prstGeom>
          <a:solidFill>
            <a:srgbClr val="1E7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017" y="6729984"/>
            <a:ext cx="2438339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53356" y="6729984"/>
            <a:ext cx="2438339" cy="73152"/>
          </a:xfrm>
          <a:prstGeom prst="rect">
            <a:avLst/>
          </a:prstGeom>
          <a:solidFill>
            <a:srgbClr val="2E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71600"/>
            <a:ext cx="5394960" cy="502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544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F3A"/>
                </a:solidFill>
                <a:latin typeface="Calibri"/>
              </a:rPr>
              <a:t>Across the top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94560"/>
            <a:ext cx="50292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Time-of-day greeting with your name.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Today's assignment card — big navy band with the customer, address, service, and time window.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Stat row: Today / This Week / On-time % / Customer rating.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Today card has stage-aware actions: Check in on site, then Mark QA-ready.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371600"/>
            <a:ext cx="5394960" cy="502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5544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F3A"/>
                </a:solidFill>
                <a:latin typeface="Calibri"/>
              </a:rPr>
              <a:t>Down the page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194560"/>
            <a:ext cx="50292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28-day calendar — Mon-start grid, today outlined in navy, booked days gold, busy/leave red.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Tap a booked tile for the job popover.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Upcoming list — your next 5 jobs.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Notifications panel — real-time events from admin and customers.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Earnings card — live numbers from your completed jobs.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1F3A"/>
                </a:solidFill>
                <a:latin typeface="Calibri"/>
              </a:rPr>
              <a:t>The earnings split (Phase 1)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50292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PAY SPLIT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2438339" cy="73152"/>
          </a:xfrm>
          <a:prstGeom prst="rect">
            <a:avLst/>
          </a:prstGeom>
          <a:solidFill>
            <a:srgbClr val="D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38339" y="6729984"/>
            <a:ext cx="2438339" cy="73152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76678" y="6729984"/>
            <a:ext cx="2438339" cy="73152"/>
          </a:xfrm>
          <a:prstGeom prst="rect">
            <a:avLst/>
          </a:prstGeom>
          <a:solidFill>
            <a:srgbClr val="1E7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017" y="6729984"/>
            <a:ext cx="2438339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53356" y="6729984"/>
            <a:ext cx="2438339" cy="73152"/>
          </a:xfrm>
          <a:prstGeom prst="rect">
            <a:avLst/>
          </a:prstGeom>
          <a:solidFill>
            <a:srgbClr val="2E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98167" y="1920240"/>
            <a:ext cx="2743200" cy="3291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98167" y="2286000"/>
            <a:ext cx="2743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 i="0">
                <a:solidFill>
                  <a:srgbClr val="0B1F3A"/>
                </a:solidFill>
                <a:latin typeface="Calibri"/>
              </a:rPr>
              <a:t>90%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98167" y="40233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5B800"/>
                </a:solidFill>
                <a:latin typeface="Calibri"/>
              </a:rPr>
              <a:t>Net to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81047" y="457200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334155"/>
                </a:solidFill>
                <a:latin typeface="Calibri"/>
              </a:rPr>
              <a:t>Of the booking total. The platform fee is 10%.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4247" y="2286000"/>
            <a:ext cx="2743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 i="0">
                <a:solidFill>
                  <a:srgbClr val="0B1F3A"/>
                </a:solidFill>
                <a:latin typeface="Calibri"/>
              </a:rPr>
              <a:t>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4247" y="40233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5B800"/>
                </a:solidFill>
                <a:latin typeface="Calibri"/>
              </a:rPr>
              <a:t>Warranty hold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07127" y="457200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334155"/>
                </a:solidFill>
                <a:latin typeface="Calibri"/>
              </a:rPr>
              <a:t>Of net. Released to you after 90 days with no claim.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50327" y="1920240"/>
            <a:ext cx="2743200" cy="3291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50327" y="2286000"/>
            <a:ext cx="2743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 i="0">
                <a:solidFill>
                  <a:srgbClr val="0B1F3A"/>
                </a:solidFill>
                <a:latin typeface="Calibri"/>
              </a:rPr>
              <a:t>95%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0327" y="40233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5B800"/>
                </a:solidFill>
                <a:latin typeface="Calibri"/>
              </a:rPr>
              <a:t>Released now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33207" y="457200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334155"/>
                </a:solidFill>
                <a:latin typeface="Calibri"/>
              </a:rPr>
              <a:t>Of net. Paid manually today; via Hubtel in Phase 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0" b="1" i="0">
                <a:solidFill>
                  <a:srgbClr val="F5B800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Doing a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7607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CBD5E1"/>
                </a:solidFill>
                <a:latin typeface="Calibri"/>
              </a:rPr>
              <a:t>Day before, morning of, mid-job, end of job.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1F3A"/>
                </a:solidFill>
                <a:latin typeface="Calibri"/>
              </a:rPr>
              <a:t>A typical Interior Wall Repaint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50292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JOB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2438339" cy="73152"/>
          </a:xfrm>
          <a:prstGeom prst="rect">
            <a:avLst/>
          </a:prstGeom>
          <a:solidFill>
            <a:srgbClr val="D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38339" y="6729984"/>
            <a:ext cx="2438339" cy="73152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76678" y="6729984"/>
            <a:ext cx="2438339" cy="73152"/>
          </a:xfrm>
          <a:prstGeom prst="rect">
            <a:avLst/>
          </a:prstGeom>
          <a:solidFill>
            <a:srgbClr val="1E7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017" y="6729984"/>
            <a:ext cx="2438339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53356" y="6729984"/>
            <a:ext cx="2438339" cy="73152"/>
          </a:xfrm>
          <a:prstGeom prst="rect">
            <a:avLst/>
          </a:prstGeom>
          <a:solidFill>
            <a:srgbClr val="2E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1703" y="1554480"/>
            <a:ext cx="2194560" cy="4572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54583" y="1737360"/>
            <a:ext cx="502920" cy="50292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5B800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4583" y="237744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Day before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4583" y="3108960"/>
            <a:ext cx="182880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Open the dashboard. Tomorrow's job shows in the today card. Read access notes (gate code, dog, parking) in the popover. Stock up on materials.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85135" y="1554480"/>
            <a:ext cx="2194560" cy="4572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868015" y="1737360"/>
            <a:ext cx="502920" cy="50292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5B800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68015" y="237744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Morning of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68015" y="3108960"/>
            <a:ext cx="182880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Tap 📍 Check in on site as you arrive. Take a BEFORE photo. Status flips to On site for the customer.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98567" y="1554480"/>
            <a:ext cx="2194560" cy="4572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81447" y="1737360"/>
            <a:ext cx="502920" cy="50292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5B800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1447" y="237744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Mid-job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1447" y="3108960"/>
            <a:ext cx="182880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Reply to photo requests on the next break. Reject any cash offers. Don't agree to scope changes off-platform — direct the customer to admin.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1999" y="1554480"/>
            <a:ext cx="2194560" cy="4572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94879" y="1737360"/>
            <a:ext cx="502920" cy="50292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5B800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4879" y="237744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End of job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4879" y="3108960"/>
            <a:ext cx="182880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Clean up properly. Take an AFTER photo. Tap ✓ Mark QA-ready. QA inspects within 24 hours.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25431" y="1554480"/>
            <a:ext cx="2194560" cy="4572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08311" y="1737360"/>
            <a:ext cx="502920" cy="50292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000" b="1">
                <a:solidFill>
                  <a:srgbClr val="F5B800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08311" y="237744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Day after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08311" y="3108960"/>
            <a:ext cx="182880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QA pass = the customer's 7-day holdback timer starts. Customer is invited to leave a review.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1F3A"/>
                </a:solidFill>
                <a:latin typeface="Calibri"/>
              </a:rPr>
              <a:t>The customer chat — what shows where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50292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CHAT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2438339" cy="73152"/>
          </a:xfrm>
          <a:prstGeom prst="rect">
            <a:avLst/>
          </a:prstGeom>
          <a:solidFill>
            <a:srgbClr val="D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38339" y="6729984"/>
            <a:ext cx="2438339" cy="73152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76678" y="6729984"/>
            <a:ext cx="2438339" cy="73152"/>
          </a:xfrm>
          <a:prstGeom prst="rect">
            <a:avLst/>
          </a:prstGeom>
          <a:solidFill>
            <a:srgbClr val="1E7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017" y="6729984"/>
            <a:ext cx="2438339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53356" y="6729984"/>
            <a:ext cx="2438339" cy="73152"/>
          </a:xfrm>
          <a:prstGeom prst="rect">
            <a:avLst/>
          </a:prstGeom>
          <a:solidFill>
            <a:srgbClr val="2E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801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334155"/>
                </a:solidFill>
                <a:latin typeface="Calibri"/>
              </a:rPr>
              <a:t>When a customer messages you on their tracker, you see the messages tagged Kofi (Master) in their chat. Reply through the same chat — it lands tagged the same way.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20240"/>
            <a:ext cx="106984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Customer messages can come via three channels: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    In-platform — appears in the tracker's chat.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    SMS — lands in your phone's regular SMS app.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    WhatsApp — lands in WhatsApp Web or the app.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Reply on whichever channel they used — the system shows a receipt either way.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Tagged messages are highlighted: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    [Photo request] — gold pill. Take and upload the photo.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    [Scope change] — yellow pill. Don't commit until admin confirms in writing.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    [Concern] — red pill. Read it now. Admin handles, but you should know.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0" b="1" i="0">
                <a:solidFill>
                  <a:srgbClr val="F5B800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Notifications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7607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CBD5E1"/>
                </a:solidFill>
                <a:latin typeface="Calibri"/>
              </a:rPr>
              <a:t>Cross-tab activity stream. New job assignments land here as cards.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1F3A"/>
                </a:solidFill>
                <a:latin typeface="Calibri"/>
              </a:rPr>
              <a:t>What you'll see in your notifications panel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50292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NOTIFICATIONS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2438339" cy="73152"/>
          </a:xfrm>
          <a:prstGeom prst="rect">
            <a:avLst/>
          </a:prstGeom>
          <a:solidFill>
            <a:srgbClr val="D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38339" y="6729984"/>
            <a:ext cx="2438339" cy="73152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76678" y="6729984"/>
            <a:ext cx="2438339" cy="73152"/>
          </a:xfrm>
          <a:prstGeom prst="rect">
            <a:avLst/>
          </a:prstGeom>
          <a:solidFill>
            <a:srgbClr val="1E7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017" y="6729984"/>
            <a:ext cx="2438339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53356" y="6729984"/>
            <a:ext cx="2438339" cy="73152"/>
          </a:xfrm>
          <a:prstGeom prst="rect">
            <a:avLst/>
          </a:prstGeom>
          <a:solidFill>
            <a:srgbClr val="2E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801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334155"/>
                </a:solidFill>
                <a:latin typeface="Calibri"/>
              </a:rPr>
              <a:t>Right column of the dashboard. Streams real events from admin and customers. Each card has a kind icon, title, source, and timestamp.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20240"/>
            <a:ext cx="106984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📅  New job assigned · PM-XXXXXX  — admin assigned a job to you.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    Card shows customer, service, start/end dates. Click View to open the job popover.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📅  Job dispatched  — admin gave the green light to start.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⭐  Customer review  — they've posted one (good or bad).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⚠️  Concerns / cash requests  — read these immediately.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Mark all read clears the unread badge.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0" b="1" i="0">
                <a:solidFill>
                  <a:srgbClr val="F5B800"/>
                </a:solidFill>
                <a:latin typeface="Calibr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Reviews and rating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7607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CBD5E1"/>
                </a:solidFill>
                <a:latin typeface="Calibri"/>
              </a:rPr>
              <a:t>Aim for 4.8+ across the last 30 days.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1F3A"/>
                </a:solidFill>
                <a:latin typeface="Calibri"/>
              </a:rPr>
              <a:t>Where your rating shows 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50292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REPUTATION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2438339" cy="73152"/>
          </a:xfrm>
          <a:prstGeom prst="rect">
            <a:avLst/>
          </a:prstGeom>
          <a:solidFill>
            <a:srgbClr val="D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38339" y="6729984"/>
            <a:ext cx="2438339" cy="73152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76678" y="6729984"/>
            <a:ext cx="2438339" cy="73152"/>
          </a:xfrm>
          <a:prstGeom prst="rect">
            <a:avLst/>
          </a:prstGeom>
          <a:solidFill>
            <a:srgbClr val="1E7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017" y="6729984"/>
            <a:ext cx="2438339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53356" y="6729984"/>
            <a:ext cx="2438339" cy="73152"/>
          </a:xfrm>
          <a:prstGeom prst="rect">
            <a:avLst/>
          </a:prstGeom>
          <a:solidFill>
            <a:srgbClr val="2E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71600"/>
            <a:ext cx="5394960" cy="502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544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F3A"/>
                </a:solidFill>
                <a:latin typeface="Calibri"/>
              </a:rPr>
              <a:t>Public surfaces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94560"/>
            <a:ext cx="50292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Your stat row on the dashboard (last 90-day average).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The public artisans page — future customers pick a Master from there.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The painter modal in admin — admins see your numbers when assigning.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371600"/>
            <a:ext cx="5394960" cy="502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5544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F3A"/>
                </a:solidFill>
                <a:latin typeface="Calibri"/>
              </a:rPr>
              <a:t>What to aim for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194560"/>
            <a:ext cx="50292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On-time %: 95+. Anything under triggers coaching.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Average rating: 4.8+ across the last 30 days.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QA pass on first try: 90+. QA failures mean a return visit.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If a review feels unfair, message admin via in-platform chat — they can mark it under review.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0" b="1" i="0">
                <a:solidFill>
                  <a:srgbClr val="F5B800"/>
                </a:solidFill>
                <a:latin typeface="Calibr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Calendar and availability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7607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CBD5E1"/>
                </a:solidFill>
                <a:latin typeface="Calibri"/>
              </a:rPr>
              <a:t>Admin assigns; you sometimes need to mark yourself off.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1F3A"/>
                </a:solidFill>
                <a:latin typeface="Calibri"/>
              </a:rPr>
              <a:t>Marking yourself unavailable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50292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CALENDAR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2438339" cy="73152"/>
          </a:xfrm>
          <a:prstGeom prst="rect">
            <a:avLst/>
          </a:prstGeom>
          <a:solidFill>
            <a:srgbClr val="D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38339" y="6729984"/>
            <a:ext cx="2438339" cy="73152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76678" y="6729984"/>
            <a:ext cx="2438339" cy="73152"/>
          </a:xfrm>
          <a:prstGeom prst="rect">
            <a:avLst/>
          </a:prstGeom>
          <a:solidFill>
            <a:srgbClr val="1E7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017" y="6729984"/>
            <a:ext cx="2438339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53356" y="6729984"/>
            <a:ext cx="2438339" cy="73152"/>
          </a:xfrm>
          <a:prstGeom prst="rect">
            <a:avLst/>
          </a:prstGeom>
          <a:solidFill>
            <a:srgbClr val="2E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8016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334155"/>
                </a:solidFill>
                <a:latin typeface="Calibri"/>
              </a:rPr>
              <a:t>The calendar updates whenever admin assigns or dispatches a job. You don't manually create events.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20240"/>
            <a:ext cx="106984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To take time off: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    Message dispatch via SMS or in-platform chat.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    Admin uses the painter modal to flip your status to On leave.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    Your calendar shows red for those days; you stop appearing in the assign-job picker.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When you're back: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    Message admin to flip you back to Available.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    The calendar clears.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Calibri"/>
              </a:rPr>
              <a:t>•  Why we don't let painters self-flip: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0F172A"/>
                </a:solidFill>
                <a:latin typeface="Calibri"/>
              </a:rPr>
              <a:t>•      Same-day disappearances would strand customers. Admin in the loop = better customer experience.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0" b="1" i="0">
                <a:solidFill>
                  <a:srgbClr val="F5B800"/>
                </a:solidFill>
                <a:latin typeface="Calibri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377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Getting paid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7607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CBD5E1"/>
                </a:solidFill>
                <a:latin typeface="Calibri"/>
              </a:rPr>
              <a:t>Manual flow today. Automated via Hubtel in Phase 2.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1F3A"/>
                </a:solidFill>
                <a:latin typeface="Calibri"/>
              </a:rPr>
              <a:t>The payout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0" y="50292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FFF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PAY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2438339" cy="73152"/>
          </a:xfrm>
          <a:prstGeom prst="rect">
            <a:avLst/>
          </a:prstGeom>
          <a:solidFill>
            <a:srgbClr val="D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38339" y="6729984"/>
            <a:ext cx="2438339" cy="73152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76678" y="6729984"/>
            <a:ext cx="2438339" cy="73152"/>
          </a:xfrm>
          <a:prstGeom prst="rect">
            <a:avLst/>
          </a:prstGeom>
          <a:solidFill>
            <a:srgbClr val="1E7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017" y="6729984"/>
            <a:ext cx="2438339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53356" y="6729984"/>
            <a:ext cx="2438339" cy="73152"/>
          </a:xfrm>
          <a:prstGeom prst="rect">
            <a:avLst/>
          </a:prstGeom>
          <a:solidFill>
            <a:srgbClr val="2E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371600"/>
            <a:ext cx="5394960" cy="502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544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F3A"/>
                </a:solidFill>
                <a:latin typeface="Calibri"/>
              </a:rPr>
              <a:t>Today (Phase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94560"/>
            <a:ext cx="50292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End of each week, admin opens the Painter Payouts page.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They see your gross, net (90%), warranty hold (5%), and payable amount.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Admin clicks Mark paid and sends the money via Hubtel from their MoMo wallet to yours.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You get a confirmation SMS from Hubtel.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If your numbers don't match what you expected, screenshot your dashboard and bring it to dispatch.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371600"/>
            <a:ext cx="5394960" cy="5029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5544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1F3A"/>
                </a:solidFill>
                <a:latin typeface="Calibri"/>
              </a:rPr>
              <a:t>Future (Phase 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194560"/>
            <a:ext cx="50292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When the Hubtel Send Money integration ships, the admin's Mark paid button becomes Send via Hubtel.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The disbursement happens server-side, no manual step.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PAYE and SSNIT will be deducted at source on monthly payroll.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 b="0">
                <a:solidFill>
                  <a:srgbClr val="0F172A"/>
                </a:solidFill>
                <a:latin typeface="Calibri"/>
              </a:rPr>
              <a:t>•  You'll get a payslip per month showing gross, deductions, and net.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5B800"/>
                </a:solidFill>
                <a:latin typeface="Calibri"/>
              </a:rPr>
              <a:t>PAINT MASTERS —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You're ready to go.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CBD5E1"/>
                </a:solidFill>
                <a:latin typeface="Calibri"/>
              </a:rPr>
              <a:t>Welcome to Paint Masters, Paint Master.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100584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•  In-platform chat on a job's tracker — fastest if it's about that job.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•  WhatsApp dispatch +233 54 000 0000 — Mon–Sat, 7am–8pm.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•  SMS dispatch — same number, slower in busy hours.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•  Email support@paintmasters.gh — 4-hour response window.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•  Urgent (locked out, hostile customer, safety) — call dispatch directly.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2438339" cy="73152"/>
          </a:xfrm>
          <a:prstGeom prst="rect">
            <a:avLst/>
          </a:prstGeom>
          <a:solidFill>
            <a:srgbClr val="D7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38339" y="6693408"/>
            <a:ext cx="2438339" cy="73152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76678" y="6693408"/>
            <a:ext cx="2438339" cy="73152"/>
          </a:xfrm>
          <a:prstGeom prst="rect">
            <a:avLst/>
          </a:prstGeom>
          <a:solidFill>
            <a:srgbClr val="1E7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017" y="6693408"/>
            <a:ext cx="2438339" cy="7315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53356" y="6693408"/>
            <a:ext cx="2438339" cy="73152"/>
          </a:xfrm>
          <a:prstGeom prst="rect">
            <a:avLst/>
          </a:prstGeom>
          <a:solidFill>
            <a:srgbClr val="2E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