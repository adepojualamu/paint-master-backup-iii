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3657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438339" cy="9144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38339" y="0"/>
            <a:ext cx="2438339" cy="9144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8" y="0"/>
            <a:ext cx="2438339" cy="91440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017" y="0"/>
            <a:ext cx="2438339" cy="91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53356" y="0"/>
            <a:ext cx="2438339" cy="91440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int-masters-logo-full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138679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38328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Trebuchet MS"/>
              </a:rPr>
              <a:t>Build Status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5B800"/>
                </a:solidFill>
                <a:latin typeface="Trebuchet MS"/>
              </a:rPr>
              <a:t>Where we are. 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Trebuchet MS"/>
              </a:rPr>
              <a:t>What's left.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CD8E8"/>
                </a:solidFill>
                <a:latin typeface="Calibri"/>
              </a:rPr>
              <a:t>Internal review · April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8339" y="6784848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76678" y="6784848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017" y="6784848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53356" y="6784848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4864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4864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48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4864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int-master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Trebuchet MS"/>
              </a:rPr>
              <a:t>Where we are, in one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Four areas of work, each tracking against a definition of done.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777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Trebuchet MS"/>
              </a:rPr>
              <a:t>Customer-facing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92808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9 of 9 pages live, including member area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673352"/>
            <a:ext cx="603504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1673352"/>
            <a:ext cx="5431536" cy="411480"/>
          </a:xfrm>
          <a:prstGeom prst="roundRect">
            <a:avLst>
              <a:gd name="adj" fmla="val 50000"/>
            </a:avLst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673352"/>
            <a:ext cx="5431536" cy="411480"/>
          </a:xfrm>
          <a:prstGeom prst="rect">
            <a:avLst/>
          </a:prstGeom>
          <a:noFill/>
        </p:spPr>
        <p:txBody>
          <a:bodyPr wrap="square" tIns="18288" bIns="18288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Trebuchet MS"/>
              </a:rP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6888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Trebuchet MS"/>
              </a:rPr>
              <a:t>Admin console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52928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8 modules + Settings + Help wired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633472"/>
            <a:ext cx="603504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2633472"/>
            <a:ext cx="5129784" cy="411480"/>
          </a:xfrm>
          <a:prstGeom prst="roundRect">
            <a:avLst>
              <a:gd name="adj" fmla="val 50000"/>
            </a:avLst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633472"/>
            <a:ext cx="5129784" cy="411480"/>
          </a:xfrm>
          <a:prstGeom prst="rect">
            <a:avLst/>
          </a:prstGeom>
          <a:noFill/>
        </p:spPr>
        <p:txBody>
          <a:bodyPr wrap="square" tIns="18288" bIns="18288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Trebuchet MS"/>
              </a:rPr>
              <a:t>85%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42900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Trebuchet MS"/>
              </a:rPr>
              <a:t>Auth &amp; member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813048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Login, JWT, role gating, dashboard — done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3593592"/>
            <a:ext cx="603504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20640" y="3593592"/>
            <a:ext cx="5733288" cy="411480"/>
          </a:xfrm>
          <a:prstGeom prst="roundRect">
            <a:avLst>
              <a:gd name="adj" fmla="val 50000"/>
            </a:avLst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3593592"/>
            <a:ext cx="5733288" cy="411480"/>
          </a:xfrm>
          <a:prstGeom prst="rect">
            <a:avLst/>
          </a:prstGeom>
          <a:noFill/>
        </p:spPr>
        <p:txBody>
          <a:bodyPr wrap="square" tIns="18288" bIns="18288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Trebuchet MS"/>
              </a:rPr>
              <a:t>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38912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Trebuchet MS"/>
              </a:rPr>
              <a:t>Backend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773168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Foundation + 6 routes; payments TBD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4553712"/>
            <a:ext cx="603504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120640" y="4553712"/>
            <a:ext cx="3621024" cy="411480"/>
          </a:xfrm>
          <a:prstGeom prst="roundRect">
            <a:avLst>
              <a:gd name="adj" fmla="val 50000"/>
            </a:avLst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4553712"/>
            <a:ext cx="3621024" cy="411480"/>
          </a:xfrm>
          <a:prstGeom prst="rect">
            <a:avLst/>
          </a:prstGeom>
          <a:noFill/>
        </p:spPr>
        <p:txBody>
          <a:bodyPr wrap="square" tIns="18288" bIns="18288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Trebuchet MS"/>
              </a:rPr>
              <a:t>60%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4864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4864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48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4864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int-master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Trebuchet MS"/>
              </a:rPr>
              <a:t>Backend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Industrial Express + SQLite layout. Clean module boundaries; one source of truth per concern.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777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" y="1627632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627632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5B800"/>
                </a:solidFill>
                <a:latin typeface="Trebuchet MS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1016" y="1600200"/>
            <a:ext cx="45720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Trebuchet MS"/>
              </a:rPr>
              <a:t>config/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189280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Typed env loader, business constants, CORS policy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368296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2487168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487168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5B800"/>
                </a:solidFill>
                <a:latin typeface="Trebuchet M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1016" y="2459736"/>
            <a:ext cx="45720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Trebuchet MS"/>
              </a:rPr>
              <a:t>db/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016" y="2752344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12 SQL migrations + runner + seed + WAL connection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227832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512" y="3346704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346704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5B800"/>
                </a:solidFill>
                <a:latin typeface="Trebuchet MS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1016" y="3319272"/>
            <a:ext cx="45720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Trebuchet MS"/>
              </a:rPr>
              <a:t>middleware/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611880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asyncHandler, validate, auth, requestId, audit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087368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7512" y="4206240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4206240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5B800"/>
                </a:solidFill>
                <a:latin typeface="Trebuchet MS"/>
              </a:rPr>
              <a:t>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1016" y="4178808"/>
            <a:ext cx="45720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Trebuchet MS"/>
              </a:rPr>
              <a:t>services/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1016" y="4471416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9 services — pricing canonical, the rest skeletons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946904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7512" y="5065776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5065776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5B800"/>
                </a:solidFill>
                <a:latin typeface="Trebuchet MS"/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71016" y="5038344"/>
            <a:ext cx="45720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Trebuchet MS"/>
              </a:rPr>
              <a:t>routes/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1016" y="5330952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9 route groups; /api/auth and /api/bookings live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06440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7512" y="5925312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5925312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5B800"/>
                </a:solidFill>
                <a:latin typeface="Trebuchet MS"/>
              </a:rPr>
              <a:t>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71016" y="5897880"/>
            <a:ext cx="45720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Trebuchet MS"/>
              </a:rPr>
              <a:t>utils/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71016" y="619048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errors, ids (crypto), money, phone (GH), dates, logger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1508760"/>
            <a:ext cx="5120640" cy="507492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169164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B800"/>
                </a:solidFill>
                <a:latin typeface="Trebuchet MS"/>
              </a:rPr>
              <a:t>Numbers, not vibes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210312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CD8E8"/>
                </a:solidFill>
                <a:latin typeface="Calibri"/>
              </a:rPr>
              <a:t>Counted from /backend after the restructure.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2697480"/>
            <a:ext cx="1417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5B800"/>
                </a:solidFill>
                <a:latin typeface="Trebuchet MS"/>
              </a:rPr>
              <a:t>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274320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rebuchet MS"/>
              </a:rPr>
              <a:t>Migrations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01752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CD8E8"/>
                </a:solidFill>
                <a:latin typeface="Calibri"/>
              </a:rPr>
              <a:t>Indexed, FK-on, transaction-wrapped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474720"/>
            <a:ext cx="1417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5B800"/>
                </a:solidFill>
                <a:latin typeface="Trebuchet MS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352044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rebuchet MS"/>
              </a:rPr>
              <a:t>Services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379476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CD8E8"/>
                </a:solidFill>
                <a:latin typeface="Calibri"/>
              </a:rPr>
              <a:t>Pricing canonical; payments/SMS skeletons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251960"/>
            <a:ext cx="1417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5B800"/>
                </a:solidFill>
                <a:latin typeface="Trebuchet MS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429768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rebuchet MS"/>
              </a:rPr>
              <a:t>Middleware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457200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CD8E8"/>
                </a:solidFill>
                <a:latin typeface="Calibri"/>
              </a:rPr>
              <a:t>incl. fire-and-forget audit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5029200"/>
            <a:ext cx="1417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5B800"/>
                </a:solidFill>
                <a:latin typeface="Trebuchet MS"/>
              </a:rP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507492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rebuchet MS"/>
              </a:rPr>
              <a:t>DB tables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534924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CD8E8"/>
                </a:solidFill>
                <a:latin typeface="Calibri"/>
              </a:rPr>
              <a:t>users, bookings, payments, audit_log, plus more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806440"/>
            <a:ext cx="1417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5B800"/>
                </a:solidFill>
                <a:latin typeface="Trebuchet MS"/>
              </a:rPr>
              <a:t>1×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585216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rebuchet MS"/>
              </a:rPr>
              <a:t>Quote calc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612648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CD8E8"/>
                </a:solidFill>
                <a:latin typeface="Calibri"/>
              </a:rPr>
              <a:t>Frontend + backend share the same formula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4864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4864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48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4864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int-master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Trebuchet MS"/>
              </a:rPr>
              <a:t>Customer-facing site — pages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Nine pages share one nav/footer mount, one stylesheet, one auth widget.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777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08760"/>
            <a:ext cx="73152" cy="141732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9164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Trebuchet MS"/>
              </a:rPr>
              <a:t>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488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Hero, trust bar, service tiles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50876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508760"/>
            <a:ext cx="73152" cy="1417320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69164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Trebuchet MS"/>
              </a:rPr>
              <a:t>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1488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Residential, commercial, decorative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150876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8744" y="1508760"/>
            <a:ext cx="73152" cy="141732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13064" y="169164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Trebuchet MS"/>
              </a:rPr>
              <a:t>Get a quote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4" y="21488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Instant pricing in under 3 sec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10896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108960"/>
            <a:ext cx="73152" cy="1417320"/>
          </a:xfrm>
          <a:prstGeom prst="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29184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Trebuchet MS"/>
              </a:rPr>
              <a:t>Booking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7490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Calendar, payment select, confirm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310896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3108960"/>
            <a:ext cx="73152" cy="1417320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2" y="329184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Trebuchet MS"/>
              </a:rPr>
              <a:t>Track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37490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Live stages, ETA, contact master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48272" y="32918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32918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0B1F3A"/>
                </a:solidFill>
                <a:latin typeface="Trebuchet MS"/>
              </a:rPr>
              <a:t>MEMBER ONLY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38744" y="310896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38744" y="3108960"/>
            <a:ext cx="73152" cy="1417320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13064" y="329184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Trebuchet MS"/>
              </a:rPr>
              <a:t>Our Masters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3064" y="37490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Browse painters by region + rating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70916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4709160"/>
            <a:ext cx="73152" cy="1417320"/>
          </a:xfrm>
          <a:prstGeom prst="rect">
            <a:avLst/>
          </a:prstGeom>
          <a:solidFill>
            <a:srgbClr val="1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89204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Trebuchet MS"/>
              </a:rPr>
              <a:t>About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3492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Story, warranty policy, contact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70832" y="470916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70832" y="4709160"/>
            <a:ext cx="73152" cy="141732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45152" y="489204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Trebuchet MS"/>
              </a:rPr>
              <a:t>Sign 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5152" y="53492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Unified login for 3 roles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38744" y="470916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38744" y="4709160"/>
            <a:ext cx="73152" cy="1417320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13064" y="489204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Trebuchet MS"/>
              </a:rPr>
              <a:t>My account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13064" y="53492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Bookings, warranty, profile, sign out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16184" y="48920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16184" y="48920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0B1F3A"/>
                </a:solidFill>
                <a:latin typeface="Trebuchet MS"/>
              </a:rPr>
              <a:t>MEMBER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4864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4864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48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4864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int-master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Trebuchet MS"/>
              </a:rPr>
              <a:t>Admin console — eight modules wired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Dispatcher view of the whole operation. Settings + Help added this sprint.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777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1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737360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5B800"/>
                </a:solidFill>
                <a:latin typeface="Trebuchet MS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rebuchet MS"/>
              </a:rP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52344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CD8E8"/>
                </a:solidFill>
                <a:latin typeface="Calibri"/>
              </a:rPr>
              <a:t>Revenue chart, today's 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150876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47872" y="1737360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1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737360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5B800"/>
                </a:solidFill>
                <a:latin typeface="Trebuchet MS"/>
              </a:rPr>
              <a:t>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4231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rebuchet MS"/>
              </a:rPr>
              <a:t>Job 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752344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CD8E8"/>
                </a:solidFill>
                <a:latin typeface="Calibri"/>
              </a:rPr>
              <a:t>Kanban across 6 stages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150876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9944" y="1737360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1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1737360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5B800"/>
                </a:solidFill>
                <a:latin typeface="Trebuchet MS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4231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rebuchet MS"/>
              </a:rPr>
              <a:t>Paint Masters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2752344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CD8E8"/>
                </a:solidFill>
                <a:latin typeface="Calibri"/>
              </a:rPr>
              <a:t>Roster, ratings, filters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9136" y="1508760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72016" y="1737360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1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2016" y="1737360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5B800"/>
                </a:solidFill>
                <a:latin typeface="Trebuchet MS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24231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rebuchet MS"/>
              </a:rPr>
              <a:t>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2016" y="2752344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CD8E8"/>
                </a:solidFill>
                <a:latin typeface="Calibri"/>
              </a:rPr>
              <a:t>CRM: LTV, history, notes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401568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3630168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1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630168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5B800"/>
                </a:solidFill>
                <a:latin typeface="Trebuchet MS"/>
              </a:rPr>
              <a:t>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31596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rebuchet MS"/>
              </a:rPr>
              <a:t>Inventory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645152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CD8E8"/>
                </a:solidFill>
                <a:latin typeface="Calibri"/>
              </a:rPr>
              <a:t>Stock + low-reorder alerts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64992" y="3401568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547872" y="3630168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1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47872" y="3630168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5B800"/>
                </a:solidFill>
                <a:latin typeface="Trebuchet MS"/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7872" y="431596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rebuchet MS"/>
              </a:rPr>
              <a:t>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47872" y="4645152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CD8E8"/>
                </a:solidFill>
                <a:latin typeface="Calibri"/>
              </a:rPr>
              <a:t>Revenue mix, funnel, top performers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7064" y="3401568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9944" y="3630168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1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3630168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5B800"/>
                </a:solidFill>
                <a:latin typeface="Trebuchet MS"/>
              </a:rPr>
              <a:t>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9944" y="431596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rebuchet MS"/>
              </a:rPr>
              <a:t>Settings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9944" y="4645152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CD8E8"/>
                </a:solidFill>
                <a:latin typeface="Calibri"/>
              </a:rPr>
              <a:t>Branding, pricing, security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89136" y="3401568"/>
            <a:ext cx="2743200" cy="16916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72016" y="3630168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1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72016" y="3630168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5B800"/>
                </a:solidFill>
                <a:latin typeface="Trebuchet MS"/>
              </a:rPr>
              <a:t>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72016" y="431596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rebuchet MS"/>
              </a:rPr>
              <a:t>Help &amp; Support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72016" y="4645152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CD8E8"/>
                </a:solidFill>
                <a:latin typeface="Calibri"/>
              </a:rPr>
              <a:t>FAQ, contact, ticket 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4864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4864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48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4864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int-master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Trebuchet MS"/>
              </a:rPr>
              <a:t>Auth &amp; member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One login form, three roles, a /next= redirect that brings members 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777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607" y="1691640"/>
            <a:ext cx="24688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6607" y="1691640"/>
            <a:ext cx="2468880" cy="91440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487" y="196596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Trebuchet MS"/>
              </a:rPr>
              <a:t>login.html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487" y="233172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Phone + 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487" y="260604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Unified form, role pills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61207" y="2240280"/>
            <a:ext cx="182880" cy="18288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89807" y="1691640"/>
            <a:ext cx="24688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89807" y="1691640"/>
            <a:ext cx="2468880" cy="9144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2687" y="196596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Trebuchet MS"/>
              </a:rPr>
              <a:t>/api/auth/login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2687" y="233172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Backend verifies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2687" y="260604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Falls back to demo creds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04407" y="2240280"/>
            <a:ext cx="182880" cy="18288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3007" y="1691640"/>
            <a:ext cx="24688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3007" y="1691640"/>
            <a:ext cx="2468880" cy="91440"/>
          </a:xfrm>
          <a:prstGeom prst="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5887" y="196596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Trebuchet MS"/>
              </a:rPr>
              <a:t>JWT issued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233172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localStorage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5887" y="260604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pmAuth.user() reads it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47607" y="2240280"/>
            <a:ext cx="182880" cy="18288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76207" y="1691640"/>
            <a:ext cx="24688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76207" y="1691640"/>
            <a:ext cx="2468880" cy="91440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59087" y="196596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Trebuchet MS"/>
              </a:rPr>
              <a:t>Role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9087" y="233172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admin / customer / painter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9087" y="260604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pmRequireAuth gates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6567" y="352044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6567" y="3520440"/>
            <a:ext cx="73152" cy="868680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735" y="368503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Trebuchet MS"/>
              </a:rPr>
              <a:t>→ Customer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735" y="40233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my.html — bookings, warranty, profile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67047" y="352044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047" y="3520440"/>
            <a:ext cx="73152" cy="868680"/>
          </a:xfrm>
          <a:prstGeom prst="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68215" y="368503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Trebuchet MS"/>
              </a:rPr>
              <a:t>→ Paint Master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8215" y="40233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index.html (dashboard on roadmap)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07527" y="352044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07527" y="3520440"/>
            <a:ext cx="73152" cy="868680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8695" y="368503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Trebuchet MS"/>
              </a:rPr>
              <a:t>→ Admin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8695" y="40233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admin/index.html — full console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4754880"/>
            <a:ext cx="11185855" cy="169164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956048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B800"/>
                </a:solidFill>
                <a:latin typeface="Trebuchet MS"/>
              </a:rPr>
              <a:t>What this gives us, beyond a login screen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257800"/>
            <a:ext cx="320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B800"/>
                </a:solidFill>
                <a:latin typeface="Trebuchet MS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5257800"/>
            <a:ext cx="1036289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Single source of truth — pmRequireAuth() gates any future page in one 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532120"/>
            <a:ext cx="320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B800"/>
                </a:solidFill>
                <a:latin typeface="Trebuchet MS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532120"/>
            <a:ext cx="1036289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Round-trip redirect — ?next= remembers where the member was headed and returns them after sign-in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806440"/>
            <a:ext cx="320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B800"/>
                </a:solidFill>
                <a:latin typeface="Trebuchet MS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5806440"/>
            <a:ext cx="1036289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Open-redirect safe — same-origin paths only; absolute and protocol-relative URLs are rejected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6080760"/>
            <a:ext cx="320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B800"/>
                </a:solidFill>
                <a:latin typeface="Trebuchet MS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6080760"/>
            <a:ext cx="1036289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Demo credentials baked in — flow works without the API; switches to real backend automatically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4864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4864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48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4864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int-master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Trebuchet MS"/>
              </a:rPr>
              <a:t>Brand system — one mark, four contexts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Drop a logo file once; nav, footer, sidebar, login all pick it up via CSS variables.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777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54864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int-master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00200" y="1783080"/>
            <a:ext cx="32004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Trebuchet MS"/>
              </a:rPr>
              <a:t>PAINT </a:t>
            </a:r>
          </a:p>
          <a:p>
            <a:pPr algn="l"/>
            <a:r>
              <a:rPr sz="1800" b="1">
                <a:solidFill>
                  <a:srgbClr val="F5B800"/>
                </a:solidFill>
                <a:latin typeface="Trebuchet MS"/>
              </a:rPr>
              <a:t>MASTERS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791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Trebuchet MS"/>
              </a:rPr>
              <a:t>Customer nav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98648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Light surface · dark mark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1508760"/>
            <a:ext cx="5486400" cy="10972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aint-masters-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783080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51192" y="1783080"/>
            <a:ext cx="32004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rebuchet MS"/>
              </a:rPr>
              <a:t>PAINT </a:t>
            </a:r>
          </a:p>
          <a:p>
            <a:pPr algn="l"/>
            <a:r>
              <a:rPr sz="1800" b="1">
                <a:solidFill>
                  <a:srgbClr val="F5B800"/>
                </a:solidFill>
                <a:latin typeface="Trebuchet MS"/>
              </a:rPr>
              <a:t>MASTERS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26791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Trebuchet MS"/>
              </a:rPr>
              <a:t>Customer footer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2898648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Dark surface · light mark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108960"/>
            <a:ext cx="5486400" cy="10972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aint-masters-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83280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00200" y="3383280"/>
            <a:ext cx="32004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rebuchet MS"/>
              </a:rPr>
              <a:t>PAINT </a:t>
            </a:r>
          </a:p>
          <a:p>
            <a:pPr algn="l"/>
            <a:r>
              <a:rPr sz="1800" b="1">
                <a:solidFill>
                  <a:srgbClr val="F5B800"/>
                </a:solidFill>
                <a:latin typeface="Trebuchet MS"/>
              </a:rPr>
              <a:t>MASTERS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793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Trebuchet MS"/>
              </a:rPr>
              <a:t>Admin sidebar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498848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Dark surface · light mark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3912" y="3108960"/>
            <a:ext cx="5486400" cy="10972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aint-masters-logo-ful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3291840"/>
            <a:ext cx="1947614" cy="731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153912" y="42793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Trebuchet MS"/>
              </a:rPr>
              <a:t>Login hero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912" y="4498848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Dark surface · full lockup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120640"/>
            <a:ext cx="11185855" cy="1508760"/>
          </a:xfrm>
          <a:prstGeom prst="roundRect">
            <a:avLst>
              <a:gd name="adj" fmla="val 5000"/>
            </a:avLst>
          </a:prstGeom>
          <a:solidFill>
            <a:srgbClr val="FFF4CC"/>
          </a:solidFill>
          <a:ln>
            <a:solidFill>
              <a:srgbClr val="F5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28523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Trebuchet MS"/>
              </a:rPr>
              <a:t>Why it's dynamic, not just "we put the file there"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23560"/>
            <a:ext cx="320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Trebuchet M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623560"/>
            <a:ext cx="1036289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Four asset variants (mark/lockup × dark/light) generated automatically from one upload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52160"/>
            <a:ext cx="320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Trebuchet M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852160"/>
            <a:ext cx="1036289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CSS :has(img) drops the placeholder navy box the moment a real image is present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080760"/>
            <a:ext cx="320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Trebuchet M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6080760"/>
            <a:ext cx="1036289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--brand-mark-size + .lg/.xl/.xxl modifiers — same logo at 34px in nav, 120px in Settings preview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309360"/>
            <a:ext cx="320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Trebuchet M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6309360"/>
            <a:ext cx="10362895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Missing-file safety: every brand mark falls back to "PM" text rather than a broken image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4864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4864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48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4864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int-master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Trebuchet MS"/>
              </a:rPr>
              <a:t>Milestones reached this sprint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Each marker = a complete, verifiable deliverable.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777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474720"/>
            <a:ext cx="9997135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3392424"/>
            <a:ext cx="219456" cy="219456"/>
          </a:xfrm>
          <a:prstGeom prst="ellipse">
            <a:avLst/>
          </a:prstGeom>
          <a:solidFill>
            <a:srgbClr val="1E7F4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1945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E7F4F"/>
                </a:solidFill>
                <a:latin typeface="Trebuchet MS"/>
              </a:rPr>
              <a:t>Apr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468880"/>
            <a:ext cx="15544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0B1F3A"/>
                </a:solidFill>
                <a:latin typeface="Calibri"/>
              </a:rPr>
              <a:t>Backend audit
+ hygiene fixes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2708" y="3200400"/>
            <a:ext cx="9144" cy="192024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53741" y="3392424"/>
            <a:ext cx="219456" cy="219456"/>
          </a:xfrm>
          <a:prstGeom prst="ellipse">
            <a:avLst/>
          </a:prstGeom>
          <a:solidFill>
            <a:srgbClr val="2E70C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6229" y="374904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E70C9"/>
                </a:solidFill>
                <a:latin typeface="Trebuchet MS"/>
              </a:rPr>
              <a:t>Apr 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6229" y="4023360"/>
            <a:ext cx="15544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0B1F3A"/>
                </a:solidFill>
                <a:latin typeface="Calibri"/>
              </a:rPr>
              <a:t>Foundation
config/utils/middleware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58897" y="3566160"/>
            <a:ext cx="9144" cy="192024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19930" y="3392424"/>
            <a:ext cx="219456" cy="219456"/>
          </a:xfrm>
          <a:prstGeom prst="ellipse">
            <a:avLst/>
          </a:prstGeom>
          <a:solidFill>
            <a:srgbClr val="F5B8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2418" y="21945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5B800"/>
                </a:solidFill>
                <a:latin typeface="Trebuchet MS"/>
              </a:rPr>
              <a:t>Apr 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2418" y="2468880"/>
            <a:ext cx="15544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0B1F3A"/>
                </a:solidFill>
                <a:latin typeface="Calibri"/>
              </a:rPr>
              <a:t>DB layer
+ 12 migrations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25086" y="3200400"/>
            <a:ext cx="9144" cy="192024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86119" y="3392424"/>
            <a:ext cx="219456" cy="219456"/>
          </a:xfrm>
          <a:prstGeom prst="ellipse">
            <a:avLst/>
          </a:prstGeom>
          <a:solidFill>
            <a:srgbClr val="EA7317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8607" y="374904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EA7317"/>
                </a:solidFill>
                <a:latin typeface="Trebuchet MS"/>
              </a:rPr>
              <a:t>Apr 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8607" y="4023360"/>
            <a:ext cx="15544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0B1F3A"/>
                </a:solidFill>
                <a:latin typeface="Calibri"/>
              </a:rPr>
              <a:t>Services
pricing canonical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1275" y="3566160"/>
            <a:ext cx="9144" cy="192024"/>
          </a:xfrm>
          <a:prstGeom prst="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52308" y="3392424"/>
            <a:ext cx="219456" cy="219456"/>
          </a:xfrm>
          <a:prstGeom prst="ellipse">
            <a:avLst/>
          </a:prstGeom>
          <a:solidFill>
            <a:srgbClr val="1A3A6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4796" y="21945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A3A66"/>
                </a:solidFill>
                <a:latin typeface="Trebuchet MS"/>
              </a:rPr>
              <a:t>Apr 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4796" y="2468880"/>
            <a:ext cx="15544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0B1F3A"/>
                </a:solidFill>
                <a:latin typeface="Calibri"/>
              </a:rPr>
              <a:t>Admin Settings
+ Help wired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57464" y="3200400"/>
            <a:ext cx="9144" cy="192024"/>
          </a:xfrm>
          <a:prstGeom prst="rect">
            <a:avLst/>
          </a:prstGeom>
          <a:solidFill>
            <a:srgbClr val="1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18497" y="3392424"/>
            <a:ext cx="219456" cy="219456"/>
          </a:xfrm>
          <a:prstGeom prst="ellipse">
            <a:avLst/>
          </a:prstGeom>
          <a:solidFill>
            <a:srgbClr val="D7263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0985" y="374904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D7263D"/>
                </a:solidFill>
                <a:latin typeface="Trebuchet MS"/>
              </a:rPr>
              <a:t>Apr 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0985" y="4023360"/>
            <a:ext cx="15544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0B1F3A"/>
                </a:solidFill>
                <a:latin typeface="Calibri"/>
              </a:rPr>
              <a:t>Logo system
+ favicon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23653" y="3566160"/>
            <a:ext cx="9144" cy="192024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84687" y="3392424"/>
            <a:ext cx="219456" cy="219456"/>
          </a:xfrm>
          <a:prstGeom prst="ellipse">
            <a:avLst/>
          </a:prstGeom>
          <a:solidFill>
            <a:srgbClr val="1E7F4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17175" y="219456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E7F4F"/>
                </a:solidFill>
                <a:latin typeface="Trebuchet MS"/>
              </a:rPr>
              <a:t>Apr 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17175" y="2468880"/>
            <a:ext cx="15544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0B1F3A"/>
                </a:solidFill>
                <a:latin typeface="Calibri"/>
              </a:rPr>
              <a:t>Member experience
+ /api login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089843" y="3200400"/>
            <a:ext cx="9144" cy="192024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45775" y="384048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5B800"/>
                </a:solidFill>
                <a:latin typeface="Trebuchet MS"/>
              </a:rPr>
              <a:t>TODAY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4864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4864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48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4864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int-master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Trebuchet MS"/>
              </a:rPr>
              <a:t>What's next — prioritised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Three buckets. P0 unblocks a real customer. P1 makes the platform investable.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777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3749039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08760"/>
            <a:ext cx="3749039" cy="9144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78308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78308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801368"/>
            <a:ext cx="25603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Trebuchet MS"/>
              </a:rPr>
              <a:t>Ship blockers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505456"/>
            <a:ext cx="91440" cy="9144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377440"/>
            <a:ext cx="310895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Wire Paystack for real payment capture + webhook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82696"/>
            <a:ext cx="91440" cy="9144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154680"/>
            <a:ext cx="310895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MoMo payout flow for paint masters (24h SLA)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59936"/>
            <a:ext cx="91440" cy="9144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31920"/>
            <a:ext cx="310895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Hubtel SMS for booking + dispatch alerts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837176"/>
            <a:ext cx="91440" cy="9144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310895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Smoke test the API end-to-end on a host with npm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614416"/>
            <a:ext cx="91440" cy="9144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310895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Replace localStorage seed data with real /api fetches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6551" y="1508760"/>
            <a:ext cx="3749039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6551" y="1508760"/>
            <a:ext cx="3749039" cy="9144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45151" y="178308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1" y="178308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6671" y="1801368"/>
            <a:ext cx="25603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Trebuchet MS"/>
              </a:rPr>
              <a:t>Next sprint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1" y="2505456"/>
            <a:ext cx="91440" cy="9144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1" y="2377440"/>
            <a:ext cx="310895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Painter dashboard (separate from customer my.html)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1" y="3282696"/>
            <a:ext cx="91440" cy="9144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28031" y="3154680"/>
            <a:ext cx="310895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Admin: real analytics tied to bookings table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45151" y="4059936"/>
            <a:ext cx="91440" cy="9144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1" y="3931920"/>
            <a:ext cx="310895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Quote → booking conversion + contract PDF render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45151" y="4837176"/>
            <a:ext cx="91440" cy="9144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28031" y="4709160"/>
            <a:ext cx="310895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Inventory write-paths (suppliers, POs, usage)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45151" y="5614416"/>
            <a:ext cx="91440" cy="9144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28031" y="5486400"/>
            <a:ext cx="310895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Forgot-password flow + email verification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30182" y="1508760"/>
            <a:ext cx="3749039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30182" y="1508760"/>
            <a:ext cx="3749039" cy="91440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558782" y="178308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58782" y="178308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P2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0302" y="1801368"/>
            <a:ext cx="25603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Trebuchet MS"/>
              </a:rPr>
              <a:t>Later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58782" y="2505456"/>
            <a:ext cx="91440" cy="91440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41662" y="2377440"/>
            <a:ext cx="310895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Twi translations (lang toggle is stubbed)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58782" y="3282696"/>
            <a:ext cx="91440" cy="91440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41662" y="3154680"/>
            <a:ext cx="310895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WhatsApp channel via Hubtel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58782" y="4059936"/>
            <a:ext cx="91440" cy="91440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1662" y="3931920"/>
            <a:ext cx="310895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Mobile-app shell around the same backend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58782" y="4837176"/>
            <a:ext cx="91440" cy="91440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41662" y="4709160"/>
            <a:ext cx="310895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Reviews moderation queue in admin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58782" y="5614416"/>
            <a:ext cx="91440" cy="91440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41662" y="5486400"/>
            <a:ext cx="310895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Multi-region rollout (Kumasi, Tema, Cape Coast)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54864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54864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548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54864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int-master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01168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2004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Trebuchet MS"/>
              </a:rPr>
              <a:t>Risks &amp; open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What's not done. What I'm uncertain about. Where I need a co-founder 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777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11185855" cy="777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08760"/>
            <a:ext cx="73152" cy="77724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170992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709928"/>
            <a:ext cx="13258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1600200"/>
            <a:ext cx="9357055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Trebuchet MS"/>
              </a:rPr>
              <a:t>Payments not yet executing 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1892808"/>
            <a:ext cx="93570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Gateway functions are stubbed; real transactions move through Paystack only when keys are wired and the webhook is verified.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331720"/>
            <a:ext cx="11185855" cy="777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331720"/>
            <a:ext cx="73152" cy="777240"/>
          </a:xfrm>
          <a:prstGeom prst="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25328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532888"/>
            <a:ext cx="13258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2423160"/>
            <a:ext cx="9357055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Trebuchet MS"/>
              </a:rPr>
              <a:t>Frontend still on localStorage seed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2715768"/>
            <a:ext cx="93570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Customer + admin pages read from localStorage, not the API. Demo accounts work; any real booking would not persist.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154680"/>
            <a:ext cx="11185855" cy="777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154680"/>
            <a:ext cx="73152" cy="777240"/>
          </a:xfrm>
          <a:prstGeom prst="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335584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355848"/>
            <a:ext cx="13258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246120"/>
            <a:ext cx="9357055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Trebuchet MS"/>
              </a:rPr>
              <a:t>API smoke test never run from this sandbox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3538728"/>
            <a:ext cx="93570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Backend code is syntax-clean but the npm registry is blocked here, so I haven't booted the server. Needs a host with internet to verify.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977640"/>
            <a:ext cx="11185855" cy="777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977640"/>
            <a:ext cx="73152" cy="777240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417880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178808"/>
            <a:ext cx="13258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4069080"/>
            <a:ext cx="9357055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Trebuchet MS"/>
              </a:rPr>
              <a:t>Are we shipping a painter dashboard or skipping?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361688"/>
            <a:ext cx="93570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Currently painters land on the customer site after sign-in. Decide: minimum painter view or punt to v2?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800600"/>
            <a:ext cx="11185855" cy="777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800600"/>
            <a:ext cx="73152" cy="777240"/>
          </a:xfrm>
          <a:prstGeom prst="rect">
            <a:avLst/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7240" y="500176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2E7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001768"/>
            <a:ext cx="13258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4892040"/>
            <a:ext cx="9357055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Trebuchet MS"/>
              </a:rPr>
              <a:t>Single-admin model — how do we add more?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184648"/>
            <a:ext cx="93570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create-admin script exists but no UI. Comfortable with shell access for now, or build admin invite flow?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623560"/>
            <a:ext cx="11185855" cy="777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623560"/>
            <a:ext cx="73152" cy="777240"/>
          </a:xfrm>
          <a:prstGeom prst="rect">
            <a:avLst/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77240" y="582472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824728"/>
            <a:ext cx="13258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Open 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40280" y="5715000"/>
            <a:ext cx="9357055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Trebuchet MS"/>
              </a:rPr>
              <a:t>12-month warranty — who pays for rework?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40280" y="6007608"/>
            <a:ext cx="93570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Code tracks the certificate; financial liability needs a policy + reserve. Worth a separate call.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