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097280"/>
            <a:ext cx="822960" cy="822960"/>
          </a:xfrm>
          <a:prstGeom prst="ellipse">
            <a:avLst/>
          </a:prstGeom>
          <a:solidFill>
            <a:srgbClr val="F5B8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2194560"/>
            <a:ext cx="365760" cy="365760"/>
          </a:xfrm>
          <a:prstGeom prst="ellipse">
            <a:avLst/>
          </a:prstGeom>
          <a:solidFill>
            <a:srgbClr val="D7263D">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011680" y="3291840"/>
            <a:ext cx="502920" cy="502920"/>
          </a:xfrm>
          <a:prstGeom prst="ellipse">
            <a:avLst/>
          </a:prstGeom>
          <a:solidFill>
            <a:srgbClr val="1E7F4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0" y="914400"/>
            <a:ext cx="640080" cy="640080"/>
          </a:xfrm>
          <a:prstGeom prst="ellipse">
            <a:avLst/>
          </a:prstGeom>
          <a:solidFill>
            <a:srgbClr val="F5B8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47120" y="2377440"/>
            <a:ext cx="274320" cy="274320"/>
          </a:xfrm>
          <a:prstGeom prst="ellipse">
            <a:avLst/>
          </a:prstGeom>
          <a:solidFill>
            <a:srgbClr val="D7263D">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424160" y="4206240"/>
            <a:ext cx="548640" cy="548640"/>
          </a:xfrm>
          <a:prstGeom prst="ellipse">
            <a:avLst/>
          </a:prstGeom>
          <a:solidFill>
            <a:srgbClr val="1E7F4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5669280"/>
            <a:ext cx="411480" cy="411480"/>
          </a:xfrm>
          <a:prstGeom prst="ellipse">
            <a:avLst/>
          </a:prstGeom>
          <a:solidFill>
            <a:srgbClr val="F5B8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0" y="5486400"/>
            <a:ext cx="457200" cy="457200"/>
          </a:xfrm>
          <a:prstGeom prst="ellipse">
            <a:avLst/>
          </a:prstGeom>
          <a:solidFill>
            <a:srgbClr val="F5B8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840480"/>
            <a:ext cx="365760" cy="36576"/>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68880"/>
            <a:ext cx="9144000" cy="548640"/>
          </a:xfrm>
          <a:prstGeom prst="rect">
            <a:avLst/>
          </a:prstGeom>
          <a:noFill/>
        </p:spPr>
        <p:txBody>
          <a:bodyPr wrap="square" lIns="0" rIns="0" tIns="0" bIns="0" anchor="t">
            <a:spAutoFit/>
          </a:bodyPr>
          <a:lstStyle/>
          <a:p>
            <a:pPr algn="l"/>
            <a:r>
              <a:rPr sz="1400" b="1" i="0">
                <a:solidFill>
                  <a:srgbClr val="F5B800"/>
                </a:solidFill>
                <a:latin typeface="Calibri"/>
              </a:rPr>
              <a:t>PAINT MASTERS</a:t>
            </a:r>
          </a:p>
        </p:txBody>
      </p:sp>
      <p:sp>
        <p:nvSpPr>
          <p:cNvPr id="13" name="TextBox 12"/>
          <p:cNvSpPr txBox="1"/>
          <p:nvPr/>
        </p:nvSpPr>
        <p:spPr>
          <a:xfrm>
            <a:off x="548640" y="2926080"/>
            <a:ext cx="10972800" cy="1280160"/>
          </a:xfrm>
          <a:prstGeom prst="rect">
            <a:avLst/>
          </a:prstGeom>
          <a:noFill/>
        </p:spPr>
        <p:txBody>
          <a:bodyPr wrap="square" lIns="0" rIns="0" tIns="0" bIns="0" anchor="t">
            <a:spAutoFit/>
          </a:bodyPr>
          <a:lstStyle/>
          <a:p>
            <a:pPr algn="l">
              <a:lnSpc>
                <a:spcPct val="105000"/>
              </a:lnSpc>
            </a:pPr>
            <a:r>
              <a:rPr sz="4400" b="1" i="0">
                <a:solidFill>
                  <a:srgbClr val="FFFFFF"/>
                </a:solidFill>
                <a:latin typeface="Georgia"/>
              </a:rPr>
              <a:t>Ghana's first professional</a:t>
            </a:r>
          </a:p>
          <a:p>
            <a:pPr algn="l">
              <a:lnSpc>
                <a:spcPct val="105000"/>
              </a:lnSpc>
            </a:pPr>
            <a:r>
              <a:rPr sz="4400" b="1" i="0">
                <a:solidFill>
                  <a:srgbClr val="FFFFFF"/>
                </a:solidFill>
                <a:latin typeface="Georgia"/>
              </a:rPr>
              <a:t>painting agency, end to end.</a:t>
            </a:r>
          </a:p>
        </p:txBody>
      </p:sp>
      <p:sp>
        <p:nvSpPr>
          <p:cNvPr id="14" name="TextBox 13"/>
          <p:cNvSpPr txBox="1"/>
          <p:nvPr/>
        </p:nvSpPr>
        <p:spPr>
          <a:xfrm>
            <a:off x="548640" y="4937760"/>
            <a:ext cx="10058400" cy="457200"/>
          </a:xfrm>
          <a:prstGeom prst="rect">
            <a:avLst/>
          </a:prstGeom>
          <a:noFill/>
        </p:spPr>
        <p:txBody>
          <a:bodyPr wrap="square" lIns="0" rIns="0" tIns="0" bIns="0" anchor="t">
            <a:spAutoFit/>
          </a:bodyPr>
          <a:lstStyle/>
          <a:p>
            <a:pPr algn="l"/>
            <a:r>
              <a:rPr sz="1500" b="0" i="0">
                <a:solidFill>
                  <a:srgbClr val="FFFFFF"/>
                </a:solidFill>
                <a:latin typeface="Calibri"/>
              </a:rPr>
              <a:t>Project overview — architecture, customer journey,</a:t>
            </a:r>
          </a:p>
        </p:txBody>
      </p:sp>
      <p:sp>
        <p:nvSpPr>
          <p:cNvPr id="15" name="TextBox 14"/>
          <p:cNvSpPr txBox="1"/>
          <p:nvPr/>
        </p:nvSpPr>
        <p:spPr>
          <a:xfrm>
            <a:off x="548640" y="5257800"/>
            <a:ext cx="10058400" cy="457200"/>
          </a:xfrm>
          <a:prstGeom prst="rect">
            <a:avLst/>
          </a:prstGeom>
          <a:noFill/>
        </p:spPr>
        <p:txBody>
          <a:bodyPr wrap="square" lIns="0" rIns="0" tIns="0" bIns="0" anchor="t">
            <a:spAutoFit/>
          </a:bodyPr>
          <a:lstStyle/>
          <a:p>
            <a:pPr algn="l"/>
            <a:r>
              <a:rPr sz="1500" b="0" i="0">
                <a:solidFill>
                  <a:srgbClr val="FFFFFF"/>
                </a:solidFill>
                <a:latin typeface="Calibri"/>
              </a:rPr>
              <a:t>quote estimation, paint volume gate, and what shipped.</a:t>
            </a:r>
          </a:p>
        </p:txBody>
      </p:sp>
      <p:sp>
        <p:nvSpPr>
          <p:cNvPr id="16" name="TextBox 15"/>
          <p:cNvSpPr txBox="1"/>
          <p:nvPr/>
        </p:nvSpPr>
        <p:spPr>
          <a:xfrm>
            <a:off x="548640" y="6126480"/>
            <a:ext cx="10058400" cy="365760"/>
          </a:xfrm>
          <a:prstGeom prst="rect">
            <a:avLst/>
          </a:prstGeom>
          <a:noFill/>
        </p:spPr>
        <p:txBody>
          <a:bodyPr wrap="square" lIns="0" rIns="0" tIns="0" bIns="0" anchor="t">
            <a:spAutoFit/>
          </a:bodyPr>
          <a:lstStyle/>
          <a:p>
            <a:pPr algn="l"/>
            <a:r>
              <a:rPr sz="1100" b="0" i="1">
                <a:solidFill>
                  <a:srgbClr val="C4CBD7"/>
                </a:solidFill>
                <a:latin typeface="Calibri"/>
              </a:rPr>
              <a:t>Internal review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What this deck covers</a:t>
            </a:r>
          </a:p>
        </p:txBody>
      </p:sp>
      <p:sp>
        <p:nvSpPr>
          <p:cNvPr id="5" name="Oval 4"/>
          <p:cNvSpPr/>
          <p:nvPr/>
        </p:nvSpPr>
        <p:spPr>
          <a:xfrm>
            <a:off x="640080" y="150876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457200" cy="457200"/>
          </a:xfrm>
          <a:prstGeom prst="rect">
            <a:avLst/>
          </a:prstGeom>
          <a:noFill/>
        </p:spPr>
        <p:txBody>
          <a:bodyPr wrap="square" lIns="0" rIns="0" tIns="0" bIns="0" anchor="ctr">
            <a:spAutoFit/>
          </a:bodyPr>
          <a:lstStyle/>
          <a:p>
            <a:pPr algn="ctr"/>
            <a:r>
              <a:rPr sz="1200" b="1" i="0">
                <a:solidFill>
                  <a:srgbClr val="F5B800"/>
                </a:solidFill>
                <a:latin typeface="Calibri"/>
              </a:rPr>
              <a:t>01</a:t>
            </a:r>
          </a:p>
        </p:txBody>
      </p:sp>
      <p:sp>
        <p:nvSpPr>
          <p:cNvPr id="7" name="TextBox 6"/>
          <p:cNvSpPr txBox="1"/>
          <p:nvPr/>
        </p:nvSpPr>
        <p:spPr>
          <a:xfrm>
            <a:off x="1280160" y="1463040"/>
            <a:ext cx="4663440" cy="292608"/>
          </a:xfrm>
          <a:prstGeom prst="rect">
            <a:avLst/>
          </a:prstGeom>
          <a:noFill/>
        </p:spPr>
        <p:txBody>
          <a:bodyPr wrap="square" lIns="0" rIns="0" tIns="0" bIns="0" anchor="t">
            <a:spAutoFit/>
          </a:bodyPr>
          <a:lstStyle/>
          <a:p>
            <a:pPr algn="l"/>
            <a:r>
              <a:rPr sz="1600" b="1" i="0">
                <a:solidFill>
                  <a:srgbClr val="0B1F3A"/>
                </a:solidFill>
                <a:latin typeface="Georgia"/>
              </a:rPr>
              <a:t>Product overview</a:t>
            </a:r>
          </a:p>
        </p:txBody>
      </p:sp>
      <p:sp>
        <p:nvSpPr>
          <p:cNvPr id="8" name="TextBox 7"/>
          <p:cNvSpPr txBox="1"/>
          <p:nvPr/>
        </p:nvSpPr>
        <p:spPr>
          <a:xfrm>
            <a:off x="1280160" y="1755648"/>
            <a:ext cx="4663440" cy="310896"/>
          </a:xfrm>
          <a:prstGeom prst="rect">
            <a:avLst/>
          </a:prstGeom>
          <a:noFill/>
        </p:spPr>
        <p:txBody>
          <a:bodyPr wrap="square" lIns="0" rIns="0" tIns="0" bIns="0" anchor="t">
            <a:spAutoFit/>
          </a:bodyPr>
          <a:lstStyle/>
          <a:p>
            <a:pPr algn="l"/>
            <a:r>
              <a:rPr sz="1100" b="0" i="0">
                <a:solidFill>
                  <a:srgbClr val="6E7A8C"/>
                </a:solidFill>
                <a:latin typeface="Calibri"/>
              </a:rPr>
              <a:t>What Paint Masters is and who it's for</a:t>
            </a:r>
          </a:p>
        </p:txBody>
      </p:sp>
      <p:sp>
        <p:nvSpPr>
          <p:cNvPr id="9" name="Oval 8"/>
          <p:cNvSpPr/>
          <p:nvPr/>
        </p:nvSpPr>
        <p:spPr>
          <a:xfrm>
            <a:off x="640080" y="2578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78608"/>
            <a:ext cx="457200" cy="457200"/>
          </a:xfrm>
          <a:prstGeom prst="rect">
            <a:avLst/>
          </a:prstGeom>
          <a:noFill/>
        </p:spPr>
        <p:txBody>
          <a:bodyPr wrap="square" lIns="0" rIns="0" tIns="0" bIns="0" anchor="ctr">
            <a:spAutoFit/>
          </a:bodyPr>
          <a:lstStyle/>
          <a:p>
            <a:pPr algn="ctr"/>
            <a:r>
              <a:rPr sz="1200" b="1" i="0">
                <a:solidFill>
                  <a:srgbClr val="F5B800"/>
                </a:solidFill>
                <a:latin typeface="Calibri"/>
              </a:rPr>
              <a:t>02</a:t>
            </a:r>
          </a:p>
        </p:txBody>
      </p:sp>
      <p:sp>
        <p:nvSpPr>
          <p:cNvPr id="11" name="TextBox 10"/>
          <p:cNvSpPr txBox="1"/>
          <p:nvPr/>
        </p:nvSpPr>
        <p:spPr>
          <a:xfrm>
            <a:off x="1280160" y="2532888"/>
            <a:ext cx="4663440" cy="292608"/>
          </a:xfrm>
          <a:prstGeom prst="rect">
            <a:avLst/>
          </a:prstGeom>
          <a:noFill/>
        </p:spPr>
        <p:txBody>
          <a:bodyPr wrap="square" lIns="0" rIns="0" tIns="0" bIns="0" anchor="t">
            <a:spAutoFit/>
          </a:bodyPr>
          <a:lstStyle/>
          <a:p>
            <a:pPr algn="l"/>
            <a:r>
              <a:rPr sz="1600" b="1" i="0">
                <a:solidFill>
                  <a:srgbClr val="0B1F3A"/>
                </a:solidFill>
                <a:latin typeface="Georgia"/>
              </a:rPr>
              <a:t>Customer journey</a:t>
            </a:r>
          </a:p>
        </p:txBody>
      </p:sp>
      <p:sp>
        <p:nvSpPr>
          <p:cNvPr id="12" name="TextBox 11"/>
          <p:cNvSpPr txBox="1"/>
          <p:nvPr/>
        </p:nvSpPr>
        <p:spPr>
          <a:xfrm>
            <a:off x="1280160" y="2825496"/>
            <a:ext cx="4663440" cy="310896"/>
          </a:xfrm>
          <a:prstGeom prst="rect">
            <a:avLst/>
          </a:prstGeom>
          <a:noFill/>
        </p:spPr>
        <p:txBody>
          <a:bodyPr wrap="square" lIns="0" rIns="0" tIns="0" bIns="0" anchor="t">
            <a:spAutoFit/>
          </a:bodyPr>
          <a:lstStyle/>
          <a:p>
            <a:pPr algn="l"/>
            <a:r>
              <a:rPr sz="1100" b="0" i="0">
                <a:solidFill>
                  <a:srgbClr val="6E7A8C"/>
                </a:solidFill>
                <a:latin typeface="Calibri"/>
              </a:rPr>
              <a:t>Quote → Volume gate → Book → Paint → Done</a:t>
            </a:r>
          </a:p>
        </p:txBody>
      </p:sp>
      <p:sp>
        <p:nvSpPr>
          <p:cNvPr id="13" name="Oval 12"/>
          <p:cNvSpPr/>
          <p:nvPr/>
        </p:nvSpPr>
        <p:spPr>
          <a:xfrm>
            <a:off x="640080" y="36484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648456"/>
            <a:ext cx="457200" cy="457200"/>
          </a:xfrm>
          <a:prstGeom prst="rect">
            <a:avLst/>
          </a:prstGeom>
          <a:noFill/>
        </p:spPr>
        <p:txBody>
          <a:bodyPr wrap="square" lIns="0" rIns="0" tIns="0" bIns="0" anchor="ctr">
            <a:spAutoFit/>
          </a:bodyPr>
          <a:lstStyle/>
          <a:p>
            <a:pPr algn="ctr"/>
            <a:r>
              <a:rPr sz="1200" b="1" i="0">
                <a:solidFill>
                  <a:srgbClr val="F5B800"/>
                </a:solidFill>
                <a:latin typeface="Calibri"/>
              </a:rPr>
              <a:t>03</a:t>
            </a:r>
          </a:p>
        </p:txBody>
      </p:sp>
      <p:sp>
        <p:nvSpPr>
          <p:cNvPr id="15" name="TextBox 14"/>
          <p:cNvSpPr txBox="1"/>
          <p:nvPr/>
        </p:nvSpPr>
        <p:spPr>
          <a:xfrm>
            <a:off x="1280160" y="3602736"/>
            <a:ext cx="4663440" cy="292608"/>
          </a:xfrm>
          <a:prstGeom prst="rect">
            <a:avLst/>
          </a:prstGeom>
          <a:noFill/>
        </p:spPr>
        <p:txBody>
          <a:bodyPr wrap="square" lIns="0" rIns="0" tIns="0" bIns="0" anchor="t">
            <a:spAutoFit/>
          </a:bodyPr>
          <a:lstStyle/>
          <a:p>
            <a:pPr algn="l"/>
            <a:r>
              <a:rPr sz="1600" b="1" i="0">
                <a:solidFill>
                  <a:srgbClr val="0B1F3A"/>
                </a:solidFill>
                <a:latin typeface="Georgia"/>
              </a:rPr>
              <a:t>How a quote is estimated</a:t>
            </a:r>
          </a:p>
        </p:txBody>
      </p:sp>
      <p:sp>
        <p:nvSpPr>
          <p:cNvPr id="16" name="TextBox 15"/>
          <p:cNvSpPr txBox="1"/>
          <p:nvPr/>
        </p:nvSpPr>
        <p:spPr>
          <a:xfrm>
            <a:off x="1280160" y="3895344"/>
            <a:ext cx="4663440" cy="310896"/>
          </a:xfrm>
          <a:prstGeom prst="rect">
            <a:avLst/>
          </a:prstGeom>
          <a:noFill/>
        </p:spPr>
        <p:txBody>
          <a:bodyPr wrap="square" lIns="0" rIns="0" tIns="0" bIns="0" anchor="t">
            <a:spAutoFit/>
          </a:bodyPr>
          <a:lstStyle/>
          <a:p>
            <a:pPr algn="l"/>
            <a:r>
              <a:rPr sz="1100" b="0" i="0">
                <a:solidFill>
                  <a:srgbClr val="6E7A8C"/>
                </a:solidFill>
                <a:latin typeface="Calibri"/>
              </a:rPr>
              <a:t>Every parameter, every multiplier, the maths in detail</a:t>
            </a:r>
          </a:p>
        </p:txBody>
      </p:sp>
      <p:sp>
        <p:nvSpPr>
          <p:cNvPr id="17" name="Oval 16"/>
          <p:cNvSpPr/>
          <p:nvPr/>
        </p:nvSpPr>
        <p:spPr>
          <a:xfrm>
            <a:off x="640080" y="4718303"/>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18303"/>
            <a:ext cx="457200" cy="457200"/>
          </a:xfrm>
          <a:prstGeom prst="rect">
            <a:avLst/>
          </a:prstGeom>
          <a:noFill/>
        </p:spPr>
        <p:txBody>
          <a:bodyPr wrap="square" lIns="0" rIns="0" tIns="0" bIns="0" anchor="ctr">
            <a:spAutoFit/>
          </a:bodyPr>
          <a:lstStyle/>
          <a:p>
            <a:pPr algn="ctr"/>
            <a:r>
              <a:rPr sz="1200" b="1" i="0">
                <a:solidFill>
                  <a:srgbClr val="F5B800"/>
                </a:solidFill>
                <a:latin typeface="Calibri"/>
              </a:rPr>
              <a:t>04</a:t>
            </a:r>
          </a:p>
        </p:txBody>
      </p:sp>
      <p:sp>
        <p:nvSpPr>
          <p:cNvPr id="19" name="TextBox 18"/>
          <p:cNvSpPr txBox="1"/>
          <p:nvPr/>
        </p:nvSpPr>
        <p:spPr>
          <a:xfrm>
            <a:off x="1280160" y="4672583"/>
            <a:ext cx="4663440" cy="292608"/>
          </a:xfrm>
          <a:prstGeom prst="rect">
            <a:avLst/>
          </a:prstGeom>
          <a:noFill/>
        </p:spPr>
        <p:txBody>
          <a:bodyPr wrap="square" lIns="0" rIns="0" tIns="0" bIns="0" anchor="t">
            <a:spAutoFit/>
          </a:bodyPr>
          <a:lstStyle/>
          <a:p>
            <a:pPr algn="l"/>
            <a:r>
              <a:rPr sz="1600" b="1" i="0">
                <a:solidFill>
                  <a:srgbClr val="0B1F3A"/>
                </a:solidFill>
                <a:latin typeface="Georgia"/>
              </a:rPr>
              <a:t>Paint volume gate</a:t>
            </a:r>
          </a:p>
        </p:txBody>
      </p:sp>
      <p:sp>
        <p:nvSpPr>
          <p:cNvPr id="20" name="TextBox 19"/>
          <p:cNvSpPr txBox="1"/>
          <p:nvPr/>
        </p:nvSpPr>
        <p:spPr>
          <a:xfrm>
            <a:off x="1280160" y="4965192"/>
            <a:ext cx="4663440" cy="310896"/>
          </a:xfrm>
          <a:prstGeom prst="rect">
            <a:avLst/>
          </a:prstGeom>
          <a:noFill/>
        </p:spPr>
        <p:txBody>
          <a:bodyPr wrap="square" lIns="0" rIns="0" tIns="0" bIns="0" anchor="t">
            <a:spAutoFit/>
          </a:bodyPr>
          <a:lstStyle/>
          <a:p>
            <a:pPr algn="l"/>
            <a:r>
              <a:rPr sz="1100" b="0" i="0">
                <a:solidFill>
                  <a:srgbClr val="6E7A8C"/>
                </a:solidFill>
                <a:latin typeface="Calibri"/>
              </a:rPr>
              <a:t>The new dispatcher-review step before contracts ship</a:t>
            </a:r>
          </a:p>
        </p:txBody>
      </p:sp>
      <p:sp>
        <p:nvSpPr>
          <p:cNvPr id="21" name="Oval 20"/>
          <p:cNvSpPr/>
          <p:nvPr/>
        </p:nvSpPr>
        <p:spPr>
          <a:xfrm>
            <a:off x="6309360" y="150876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508760"/>
            <a:ext cx="457200" cy="457200"/>
          </a:xfrm>
          <a:prstGeom prst="rect">
            <a:avLst/>
          </a:prstGeom>
          <a:noFill/>
        </p:spPr>
        <p:txBody>
          <a:bodyPr wrap="square" lIns="0" rIns="0" tIns="0" bIns="0" anchor="ctr">
            <a:spAutoFit/>
          </a:bodyPr>
          <a:lstStyle/>
          <a:p>
            <a:pPr algn="ctr"/>
            <a:r>
              <a:rPr sz="1200" b="1" i="0">
                <a:solidFill>
                  <a:srgbClr val="F5B800"/>
                </a:solidFill>
                <a:latin typeface="Calibri"/>
              </a:rPr>
              <a:t>05</a:t>
            </a:r>
          </a:p>
        </p:txBody>
      </p:sp>
      <p:sp>
        <p:nvSpPr>
          <p:cNvPr id="23" name="TextBox 22"/>
          <p:cNvSpPr txBox="1"/>
          <p:nvPr/>
        </p:nvSpPr>
        <p:spPr>
          <a:xfrm>
            <a:off x="6949440" y="1463040"/>
            <a:ext cx="4663440" cy="292608"/>
          </a:xfrm>
          <a:prstGeom prst="rect">
            <a:avLst/>
          </a:prstGeom>
          <a:noFill/>
        </p:spPr>
        <p:txBody>
          <a:bodyPr wrap="square" lIns="0" rIns="0" tIns="0" bIns="0" anchor="t">
            <a:spAutoFit/>
          </a:bodyPr>
          <a:lstStyle/>
          <a:p>
            <a:pPr algn="l"/>
            <a:r>
              <a:rPr sz="1600" b="1" i="0">
                <a:solidFill>
                  <a:srgbClr val="0B1F3A"/>
                </a:solidFill>
                <a:latin typeface="Georgia"/>
              </a:rPr>
              <a:t>Paint catalog &amp; Caparol</a:t>
            </a:r>
          </a:p>
        </p:txBody>
      </p:sp>
      <p:sp>
        <p:nvSpPr>
          <p:cNvPr id="24" name="TextBox 23"/>
          <p:cNvSpPr txBox="1"/>
          <p:nvPr/>
        </p:nvSpPr>
        <p:spPr>
          <a:xfrm>
            <a:off x="6949440" y="1755648"/>
            <a:ext cx="4663440" cy="310896"/>
          </a:xfrm>
          <a:prstGeom prst="rect">
            <a:avLst/>
          </a:prstGeom>
          <a:noFill/>
        </p:spPr>
        <p:txBody>
          <a:bodyPr wrap="square" lIns="0" rIns="0" tIns="0" bIns="0" anchor="t">
            <a:spAutoFit/>
          </a:bodyPr>
          <a:lstStyle/>
          <a:p>
            <a:pPr algn="l"/>
            <a:r>
              <a:rPr sz="1100" b="0" i="0">
                <a:solidFill>
                  <a:srgbClr val="6E7A8C"/>
                </a:solidFill>
                <a:latin typeface="Calibri"/>
              </a:rPr>
              <a:t>Nine product categories and our anchor partner</a:t>
            </a:r>
          </a:p>
        </p:txBody>
      </p:sp>
      <p:sp>
        <p:nvSpPr>
          <p:cNvPr id="25" name="Oval 24"/>
          <p:cNvSpPr/>
          <p:nvPr/>
        </p:nvSpPr>
        <p:spPr>
          <a:xfrm>
            <a:off x="6309360" y="2578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578608"/>
            <a:ext cx="457200" cy="457200"/>
          </a:xfrm>
          <a:prstGeom prst="rect">
            <a:avLst/>
          </a:prstGeom>
          <a:noFill/>
        </p:spPr>
        <p:txBody>
          <a:bodyPr wrap="square" lIns="0" rIns="0" tIns="0" bIns="0" anchor="ctr">
            <a:spAutoFit/>
          </a:bodyPr>
          <a:lstStyle/>
          <a:p>
            <a:pPr algn="ctr"/>
            <a:r>
              <a:rPr sz="1200" b="1" i="0">
                <a:solidFill>
                  <a:srgbClr val="F5B800"/>
                </a:solidFill>
                <a:latin typeface="Calibri"/>
              </a:rPr>
              <a:t>06</a:t>
            </a:r>
          </a:p>
        </p:txBody>
      </p:sp>
      <p:sp>
        <p:nvSpPr>
          <p:cNvPr id="27" name="TextBox 26"/>
          <p:cNvSpPr txBox="1"/>
          <p:nvPr/>
        </p:nvSpPr>
        <p:spPr>
          <a:xfrm>
            <a:off x="6949440" y="2532888"/>
            <a:ext cx="4663440" cy="292608"/>
          </a:xfrm>
          <a:prstGeom prst="rect">
            <a:avLst/>
          </a:prstGeom>
          <a:noFill/>
        </p:spPr>
        <p:txBody>
          <a:bodyPr wrap="square" lIns="0" rIns="0" tIns="0" bIns="0" anchor="t">
            <a:spAutoFit/>
          </a:bodyPr>
          <a:lstStyle/>
          <a:p>
            <a:pPr algn="l"/>
            <a:r>
              <a:rPr sz="1600" b="1" i="0">
                <a:solidFill>
                  <a:srgbClr val="0B1F3A"/>
                </a:solidFill>
                <a:latin typeface="Georgia"/>
              </a:rPr>
              <a:t>Role structure &amp; admin</a:t>
            </a:r>
          </a:p>
        </p:txBody>
      </p:sp>
      <p:sp>
        <p:nvSpPr>
          <p:cNvPr id="28" name="TextBox 27"/>
          <p:cNvSpPr txBox="1"/>
          <p:nvPr/>
        </p:nvSpPr>
        <p:spPr>
          <a:xfrm>
            <a:off x="6949440" y="2825496"/>
            <a:ext cx="4663440" cy="310896"/>
          </a:xfrm>
          <a:prstGeom prst="rect">
            <a:avLst/>
          </a:prstGeom>
          <a:noFill/>
        </p:spPr>
        <p:txBody>
          <a:bodyPr wrap="square" lIns="0" rIns="0" tIns="0" bIns="0" anchor="t">
            <a:spAutoFit/>
          </a:bodyPr>
          <a:lstStyle/>
          <a:p>
            <a:pPr algn="l"/>
            <a:r>
              <a:rPr sz="1100" b="0" i="0">
                <a:solidFill>
                  <a:srgbClr val="6E7A8C"/>
                </a:solidFill>
                <a:latin typeface="Calibri"/>
              </a:rPr>
              <a:t>Customer · Painter · Admin sub-roles</a:t>
            </a:r>
          </a:p>
        </p:txBody>
      </p:sp>
      <p:sp>
        <p:nvSpPr>
          <p:cNvPr id="29" name="Oval 28"/>
          <p:cNvSpPr/>
          <p:nvPr/>
        </p:nvSpPr>
        <p:spPr>
          <a:xfrm>
            <a:off x="6309360" y="36484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3648456"/>
            <a:ext cx="457200" cy="457200"/>
          </a:xfrm>
          <a:prstGeom prst="rect">
            <a:avLst/>
          </a:prstGeom>
          <a:noFill/>
        </p:spPr>
        <p:txBody>
          <a:bodyPr wrap="square" lIns="0" rIns="0" tIns="0" bIns="0" anchor="ctr">
            <a:spAutoFit/>
          </a:bodyPr>
          <a:lstStyle/>
          <a:p>
            <a:pPr algn="ctr"/>
            <a:r>
              <a:rPr sz="1200" b="1" i="0">
                <a:solidFill>
                  <a:srgbClr val="F5B800"/>
                </a:solidFill>
                <a:latin typeface="Calibri"/>
              </a:rPr>
              <a:t>07</a:t>
            </a:r>
          </a:p>
        </p:txBody>
      </p:sp>
      <p:sp>
        <p:nvSpPr>
          <p:cNvPr id="31" name="TextBox 30"/>
          <p:cNvSpPr txBox="1"/>
          <p:nvPr/>
        </p:nvSpPr>
        <p:spPr>
          <a:xfrm>
            <a:off x="6949440" y="3602736"/>
            <a:ext cx="4663440" cy="292608"/>
          </a:xfrm>
          <a:prstGeom prst="rect">
            <a:avLst/>
          </a:prstGeom>
          <a:noFill/>
        </p:spPr>
        <p:txBody>
          <a:bodyPr wrap="square" lIns="0" rIns="0" tIns="0" bIns="0" anchor="t">
            <a:spAutoFit/>
          </a:bodyPr>
          <a:lstStyle/>
          <a:p>
            <a:pPr algn="l"/>
            <a:r>
              <a:rPr sz="1600" b="1" i="0">
                <a:solidFill>
                  <a:srgbClr val="0B1F3A"/>
                </a:solidFill>
                <a:latin typeface="Georgia"/>
              </a:rPr>
              <a:t>Architecture &amp; API surface</a:t>
            </a:r>
          </a:p>
        </p:txBody>
      </p:sp>
      <p:sp>
        <p:nvSpPr>
          <p:cNvPr id="32" name="TextBox 31"/>
          <p:cNvSpPr txBox="1"/>
          <p:nvPr/>
        </p:nvSpPr>
        <p:spPr>
          <a:xfrm>
            <a:off x="6949440" y="3895344"/>
            <a:ext cx="4663440" cy="310896"/>
          </a:xfrm>
          <a:prstGeom prst="rect">
            <a:avLst/>
          </a:prstGeom>
          <a:noFill/>
        </p:spPr>
        <p:txBody>
          <a:bodyPr wrap="square" lIns="0" rIns="0" tIns="0" bIns="0" anchor="t">
            <a:spAutoFit/>
          </a:bodyPr>
          <a:lstStyle/>
          <a:p>
            <a:pPr algn="l"/>
            <a:r>
              <a:rPr sz="1100" b="0" i="0">
                <a:solidFill>
                  <a:srgbClr val="6E7A8C"/>
                </a:solidFill>
                <a:latin typeface="Calibri"/>
              </a:rPr>
              <a:t>Node + Express + SQLite + static frontend</a:t>
            </a:r>
          </a:p>
        </p:txBody>
      </p:sp>
      <p:sp>
        <p:nvSpPr>
          <p:cNvPr id="33" name="Oval 32"/>
          <p:cNvSpPr/>
          <p:nvPr/>
        </p:nvSpPr>
        <p:spPr>
          <a:xfrm>
            <a:off x="6309360" y="4718303"/>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4718303"/>
            <a:ext cx="457200" cy="457200"/>
          </a:xfrm>
          <a:prstGeom prst="rect">
            <a:avLst/>
          </a:prstGeom>
          <a:noFill/>
        </p:spPr>
        <p:txBody>
          <a:bodyPr wrap="square" lIns="0" rIns="0" tIns="0" bIns="0" anchor="ctr">
            <a:spAutoFit/>
          </a:bodyPr>
          <a:lstStyle/>
          <a:p>
            <a:pPr algn="ctr"/>
            <a:r>
              <a:rPr sz="1200" b="1" i="0">
                <a:solidFill>
                  <a:srgbClr val="F5B800"/>
                </a:solidFill>
                <a:latin typeface="Calibri"/>
              </a:rPr>
              <a:t>08</a:t>
            </a:r>
          </a:p>
        </p:txBody>
      </p:sp>
      <p:sp>
        <p:nvSpPr>
          <p:cNvPr id="35" name="TextBox 34"/>
          <p:cNvSpPr txBox="1"/>
          <p:nvPr/>
        </p:nvSpPr>
        <p:spPr>
          <a:xfrm>
            <a:off x="6949440" y="4672583"/>
            <a:ext cx="4663440" cy="292608"/>
          </a:xfrm>
          <a:prstGeom prst="rect">
            <a:avLst/>
          </a:prstGeom>
          <a:noFill/>
        </p:spPr>
        <p:txBody>
          <a:bodyPr wrap="square" lIns="0" rIns="0" tIns="0" bIns="0" anchor="t">
            <a:spAutoFit/>
          </a:bodyPr>
          <a:lstStyle/>
          <a:p>
            <a:pPr algn="l"/>
            <a:r>
              <a:rPr sz="1600" b="1" i="0">
                <a:solidFill>
                  <a:srgbClr val="0B1F3A"/>
                </a:solidFill>
                <a:latin typeface="Georgia"/>
              </a:rPr>
              <a:t>What shipped &amp; what's next</a:t>
            </a:r>
          </a:p>
        </p:txBody>
      </p:sp>
      <p:sp>
        <p:nvSpPr>
          <p:cNvPr id="36" name="TextBox 35"/>
          <p:cNvSpPr txBox="1"/>
          <p:nvPr/>
        </p:nvSpPr>
        <p:spPr>
          <a:xfrm>
            <a:off x="6949440" y="4965192"/>
            <a:ext cx="4663440" cy="310896"/>
          </a:xfrm>
          <a:prstGeom prst="rect">
            <a:avLst/>
          </a:prstGeom>
          <a:noFill/>
        </p:spPr>
        <p:txBody>
          <a:bodyPr wrap="square" lIns="0" rIns="0" tIns="0" bIns="0" anchor="t">
            <a:spAutoFit/>
          </a:bodyPr>
          <a:lstStyle/>
          <a:p>
            <a:pPr algn="l"/>
            <a:r>
              <a:rPr sz="1100" b="0" i="0">
                <a:solidFill>
                  <a:srgbClr val="6E7A8C"/>
                </a:solidFill>
                <a:latin typeface="Calibri"/>
              </a:rPr>
              <a:t>This iteration's deliverables and the roadmap</a:t>
            </a:r>
          </a:p>
        </p:txBody>
      </p:sp>
      <p:sp>
        <p:nvSpPr>
          <p:cNvPr id="37" name="TextBox 36"/>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38" name="TextBox 37"/>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Paint Masters in one paragraph</a:t>
            </a:r>
          </a:p>
        </p:txBody>
      </p:sp>
      <p:sp>
        <p:nvSpPr>
          <p:cNvPr id="5" name="TextBox 4"/>
          <p:cNvSpPr txBox="1"/>
          <p:nvPr/>
        </p:nvSpPr>
        <p:spPr>
          <a:xfrm>
            <a:off x="868680" y="1325880"/>
            <a:ext cx="10515600" cy="1463040"/>
          </a:xfrm>
          <a:prstGeom prst="rect">
            <a:avLst/>
          </a:prstGeom>
          <a:noFill/>
        </p:spPr>
        <p:txBody>
          <a:bodyPr wrap="square" lIns="0" rIns="0" tIns="0" bIns="0" anchor="t">
            <a:spAutoFit/>
          </a:bodyPr>
          <a:lstStyle/>
          <a:p>
            <a:pPr algn="l">
              <a:lnSpc>
                <a:spcPct val="135000"/>
              </a:lnSpc>
            </a:pPr>
            <a:r>
              <a:rPr sz="1400" b="0" i="0">
                <a:solidFill>
                  <a:srgbClr val="424E60"/>
                </a:solidFill>
                <a:latin typeface="Calibri"/>
              </a:rPr>
              <a:t>A two-sided marketplace that lets homeowners and SMBs in Ghana book a vetted painter for a fixed-price job. The customer side gives an instant quote, schedules a slot, signs a digital contract, and pays an escrowed deposit. The admin side runs job dispatch, paint inventory, payouts, and QA. Pricing, inventory and paint volume are coupled through one canonical math service so the customer's quote, the dispatcher's plan, and the inventory manager's stock all reconcile.</a:t>
            </a:r>
          </a:p>
        </p:txBody>
      </p:sp>
      <p:sp>
        <p:nvSpPr>
          <p:cNvPr id="6" name="Rectangle 5"/>
          <p:cNvSpPr/>
          <p:nvPr/>
        </p:nvSpPr>
        <p:spPr>
          <a:xfrm>
            <a:off x="636879" y="3749039"/>
            <a:ext cx="2606040" cy="219456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2639" y="425195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76959" y="4114800"/>
            <a:ext cx="1691640" cy="457200"/>
          </a:xfrm>
          <a:prstGeom prst="rect">
            <a:avLst/>
          </a:prstGeom>
          <a:noFill/>
        </p:spPr>
        <p:txBody>
          <a:bodyPr wrap="square" lIns="0" rIns="0" tIns="0" bIns="0" anchor="t">
            <a:spAutoFit/>
          </a:bodyPr>
          <a:lstStyle/>
          <a:p>
            <a:pPr algn="l"/>
            <a:r>
              <a:rPr sz="1800" b="1" i="0">
                <a:solidFill>
                  <a:srgbClr val="0B1F3A"/>
                </a:solidFill>
                <a:latin typeface="Georgia"/>
              </a:rPr>
              <a:t>Fixed-price</a:t>
            </a:r>
          </a:p>
        </p:txBody>
      </p:sp>
      <p:sp>
        <p:nvSpPr>
          <p:cNvPr id="9" name="TextBox 8"/>
          <p:cNvSpPr txBox="1"/>
          <p:nvPr/>
        </p:nvSpPr>
        <p:spPr>
          <a:xfrm>
            <a:off x="1002639" y="4709159"/>
            <a:ext cx="1874519" cy="109728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Quote engine locks the price up front. No surprise add-ons on the day.</a:t>
            </a:r>
          </a:p>
        </p:txBody>
      </p:sp>
      <p:sp>
        <p:nvSpPr>
          <p:cNvPr id="10" name="Rectangle 9"/>
          <p:cNvSpPr/>
          <p:nvPr/>
        </p:nvSpPr>
        <p:spPr>
          <a:xfrm>
            <a:off x="3407511" y="3749039"/>
            <a:ext cx="2606040" cy="219456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73271" y="425195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47591" y="4114800"/>
            <a:ext cx="1691640" cy="457200"/>
          </a:xfrm>
          <a:prstGeom prst="rect">
            <a:avLst/>
          </a:prstGeom>
          <a:noFill/>
        </p:spPr>
        <p:txBody>
          <a:bodyPr wrap="square" lIns="0" rIns="0" tIns="0" bIns="0" anchor="t">
            <a:spAutoFit/>
          </a:bodyPr>
          <a:lstStyle/>
          <a:p>
            <a:pPr algn="l"/>
            <a:r>
              <a:rPr sz="1800" b="1" i="0">
                <a:solidFill>
                  <a:srgbClr val="0B1F3A"/>
                </a:solidFill>
                <a:latin typeface="Georgia"/>
              </a:rPr>
              <a:t>Escrowed</a:t>
            </a:r>
          </a:p>
        </p:txBody>
      </p:sp>
      <p:sp>
        <p:nvSpPr>
          <p:cNvPr id="13" name="TextBox 12"/>
          <p:cNvSpPr txBox="1"/>
          <p:nvPr/>
        </p:nvSpPr>
        <p:spPr>
          <a:xfrm>
            <a:off x="3773271" y="4709159"/>
            <a:ext cx="1874519" cy="109728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40% deposit held by a licensed escrow partner. Released after QA passes.</a:t>
            </a:r>
          </a:p>
        </p:txBody>
      </p:sp>
      <p:sp>
        <p:nvSpPr>
          <p:cNvPr id="14" name="Rectangle 13"/>
          <p:cNvSpPr/>
          <p:nvPr/>
        </p:nvSpPr>
        <p:spPr>
          <a:xfrm>
            <a:off x="6178143" y="3749039"/>
            <a:ext cx="2606040" cy="219456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43903" y="425195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8223" y="4114800"/>
            <a:ext cx="1691640" cy="457200"/>
          </a:xfrm>
          <a:prstGeom prst="rect">
            <a:avLst/>
          </a:prstGeom>
          <a:noFill/>
        </p:spPr>
        <p:txBody>
          <a:bodyPr wrap="square" lIns="0" rIns="0" tIns="0" bIns="0" anchor="t">
            <a:spAutoFit/>
          </a:bodyPr>
          <a:lstStyle/>
          <a:p>
            <a:pPr algn="l"/>
            <a:r>
              <a:rPr sz="1800" b="1" i="0">
                <a:solidFill>
                  <a:srgbClr val="0B1F3A"/>
                </a:solidFill>
                <a:latin typeface="Georgia"/>
              </a:rPr>
              <a:t>Warrantied</a:t>
            </a:r>
          </a:p>
        </p:txBody>
      </p:sp>
      <p:sp>
        <p:nvSpPr>
          <p:cNvPr id="17" name="TextBox 16"/>
          <p:cNvSpPr txBox="1"/>
          <p:nvPr/>
        </p:nvSpPr>
        <p:spPr>
          <a:xfrm>
            <a:off x="6543903" y="4709159"/>
            <a:ext cx="1874519" cy="109728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12-month finish warranty as standard. 18 months for Caparol jobs.</a:t>
            </a:r>
          </a:p>
        </p:txBody>
      </p:sp>
      <p:sp>
        <p:nvSpPr>
          <p:cNvPr id="18" name="Rectangle 17"/>
          <p:cNvSpPr/>
          <p:nvPr/>
        </p:nvSpPr>
        <p:spPr>
          <a:xfrm>
            <a:off x="8948775" y="3749039"/>
            <a:ext cx="2606040" cy="219456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14535" y="425195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88855" y="4114800"/>
            <a:ext cx="1691640" cy="457200"/>
          </a:xfrm>
          <a:prstGeom prst="rect">
            <a:avLst/>
          </a:prstGeom>
          <a:noFill/>
        </p:spPr>
        <p:txBody>
          <a:bodyPr wrap="square" lIns="0" rIns="0" tIns="0" bIns="0" anchor="t">
            <a:spAutoFit/>
          </a:bodyPr>
          <a:lstStyle/>
          <a:p>
            <a:pPr algn="l"/>
            <a:r>
              <a:rPr sz="1800" b="1" i="0">
                <a:solidFill>
                  <a:srgbClr val="0B1F3A"/>
                </a:solidFill>
                <a:latin typeface="Georgia"/>
              </a:rPr>
              <a:t>Volume-gated</a:t>
            </a:r>
          </a:p>
        </p:txBody>
      </p:sp>
      <p:sp>
        <p:nvSpPr>
          <p:cNvPr id="21" name="TextBox 20"/>
          <p:cNvSpPr txBox="1"/>
          <p:nvPr/>
        </p:nvSpPr>
        <p:spPr>
          <a:xfrm>
            <a:off x="9314535" y="4709159"/>
            <a:ext cx="1874519" cy="109728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Every quote is reviewed for paint volume by a dispatcher before contracting.</a:t>
            </a:r>
          </a:p>
        </p:txBody>
      </p:sp>
      <p:sp>
        <p:nvSpPr>
          <p:cNvPr id="22" name="TextBox 21"/>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23" name="TextBox 22"/>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Customer journey, end to end</a:t>
            </a:r>
          </a:p>
        </p:txBody>
      </p:sp>
      <p:sp>
        <p:nvSpPr>
          <p:cNvPr id="5" name="Rectangle 4"/>
          <p:cNvSpPr/>
          <p:nvPr/>
        </p:nvSpPr>
        <p:spPr>
          <a:xfrm>
            <a:off x="838047" y="2157984"/>
            <a:ext cx="10515600" cy="36576"/>
          </a:xfrm>
          <a:prstGeom prst="rect">
            <a:avLst/>
          </a:prstGeom>
          <a:solidFill>
            <a:srgbClr val="E9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80363" y="1828800"/>
            <a:ext cx="658368" cy="65836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727" y="1883664"/>
            <a:ext cx="1691640" cy="548640"/>
          </a:xfrm>
          <a:prstGeom prst="rect">
            <a:avLst/>
          </a:prstGeom>
          <a:noFill/>
        </p:spPr>
        <p:txBody>
          <a:bodyPr wrap="square" lIns="0" rIns="0" tIns="0" bIns="0" anchor="ctr">
            <a:spAutoFit/>
          </a:bodyPr>
          <a:lstStyle/>
          <a:p>
            <a:pPr algn="ctr"/>
            <a:r>
              <a:rPr sz="2200" b="1" i="0">
                <a:solidFill>
                  <a:srgbClr val="F5B800"/>
                </a:solidFill>
                <a:latin typeface="Calibri"/>
              </a:rPr>
              <a:t>1</a:t>
            </a:r>
          </a:p>
        </p:txBody>
      </p:sp>
      <p:sp>
        <p:nvSpPr>
          <p:cNvPr id="8" name="TextBox 7"/>
          <p:cNvSpPr txBox="1"/>
          <p:nvPr/>
        </p:nvSpPr>
        <p:spPr>
          <a:xfrm>
            <a:off x="563727" y="2651760"/>
            <a:ext cx="1691640" cy="365760"/>
          </a:xfrm>
          <a:prstGeom prst="rect">
            <a:avLst/>
          </a:prstGeom>
          <a:noFill/>
        </p:spPr>
        <p:txBody>
          <a:bodyPr wrap="square" lIns="0" rIns="0" tIns="0" bIns="0" anchor="t">
            <a:spAutoFit/>
          </a:bodyPr>
          <a:lstStyle/>
          <a:p>
            <a:pPr algn="ctr"/>
            <a:r>
              <a:rPr sz="1400" b="1" i="0">
                <a:solidFill>
                  <a:srgbClr val="0B1F3A"/>
                </a:solidFill>
                <a:latin typeface="Georgia"/>
              </a:rPr>
              <a:t>Quote</a:t>
            </a:r>
          </a:p>
        </p:txBody>
      </p:sp>
      <p:sp>
        <p:nvSpPr>
          <p:cNvPr id="9" name="TextBox 8"/>
          <p:cNvSpPr txBox="1"/>
          <p:nvPr/>
        </p:nvSpPr>
        <p:spPr>
          <a:xfrm>
            <a:off x="563727" y="3063240"/>
            <a:ext cx="1691640" cy="1280160"/>
          </a:xfrm>
          <a:prstGeom prst="rect">
            <a:avLst/>
          </a:prstGeom>
          <a:noFill/>
        </p:spPr>
        <p:txBody>
          <a:bodyPr wrap="square" lIns="0" rIns="0" tIns="0" bIns="0" anchor="t">
            <a:spAutoFit/>
          </a:bodyPr>
          <a:lstStyle/>
          <a:p>
            <a:pPr algn="ctr">
              <a:lnSpc>
                <a:spcPct val="130000"/>
              </a:lnSpc>
            </a:pPr>
            <a:r>
              <a:rPr sz="1000" b="0" i="0">
                <a:solidFill>
                  <a:srgbClr val="424E60"/>
                </a:solidFill>
                <a:latin typeface="Calibri"/>
              </a:rPr>
              <a:t>Pick service, enter dimensions,</a:t>
            </a:r>
          </a:p>
          <a:p>
            <a:pPr algn="ctr">
              <a:lnSpc>
                <a:spcPct val="130000"/>
              </a:lnSpc>
            </a:pPr>
            <a:r>
              <a:rPr sz="1000" b="0" i="0">
                <a:solidFill>
                  <a:srgbClr val="424E60"/>
                </a:solidFill>
                <a:latin typeface="Calibri"/>
              </a:rPr>
              <a:t>choose surface and finish.</a:t>
            </a:r>
          </a:p>
        </p:txBody>
      </p:sp>
      <p:sp>
        <p:nvSpPr>
          <p:cNvPr id="10" name="Oval 9"/>
          <p:cNvSpPr/>
          <p:nvPr/>
        </p:nvSpPr>
        <p:spPr>
          <a:xfrm>
            <a:off x="2954883" y="1828800"/>
            <a:ext cx="658368" cy="65836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38247" y="1883664"/>
            <a:ext cx="1691640" cy="548640"/>
          </a:xfrm>
          <a:prstGeom prst="rect">
            <a:avLst/>
          </a:prstGeom>
          <a:noFill/>
        </p:spPr>
        <p:txBody>
          <a:bodyPr wrap="square" lIns="0" rIns="0" tIns="0" bIns="0" anchor="ctr">
            <a:spAutoFit/>
          </a:bodyPr>
          <a:lstStyle/>
          <a:p>
            <a:pPr algn="ctr"/>
            <a:r>
              <a:rPr sz="2200" b="1" i="0">
                <a:solidFill>
                  <a:srgbClr val="F5B800"/>
                </a:solidFill>
                <a:latin typeface="Calibri"/>
              </a:rPr>
              <a:t>2</a:t>
            </a:r>
          </a:p>
        </p:txBody>
      </p:sp>
      <p:sp>
        <p:nvSpPr>
          <p:cNvPr id="12" name="TextBox 11"/>
          <p:cNvSpPr txBox="1"/>
          <p:nvPr/>
        </p:nvSpPr>
        <p:spPr>
          <a:xfrm>
            <a:off x="2438247" y="2651760"/>
            <a:ext cx="1691640" cy="365760"/>
          </a:xfrm>
          <a:prstGeom prst="rect">
            <a:avLst/>
          </a:prstGeom>
          <a:noFill/>
        </p:spPr>
        <p:txBody>
          <a:bodyPr wrap="square" lIns="0" rIns="0" tIns="0" bIns="0" anchor="t">
            <a:spAutoFit/>
          </a:bodyPr>
          <a:lstStyle/>
          <a:p>
            <a:pPr algn="ctr"/>
            <a:r>
              <a:rPr sz="1400" b="1" i="0">
                <a:solidFill>
                  <a:srgbClr val="0B1F3A"/>
                </a:solidFill>
                <a:latin typeface="Georgia"/>
              </a:rPr>
              <a:t>Paint</a:t>
            </a:r>
          </a:p>
        </p:txBody>
      </p:sp>
      <p:sp>
        <p:nvSpPr>
          <p:cNvPr id="13" name="TextBox 12"/>
          <p:cNvSpPr txBox="1"/>
          <p:nvPr/>
        </p:nvSpPr>
        <p:spPr>
          <a:xfrm>
            <a:off x="2438247" y="3063240"/>
            <a:ext cx="1691640" cy="1280160"/>
          </a:xfrm>
          <a:prstGeom prst="rect">
            <a:avLst/>
          </a:prstGeom>
          <a:noFill/>
        </p:spPr>
        <p:txBody>
          <a:bodyPr wrap="square" lIns="0" rIns="0" tIns="0" bIns="0" anchor="t">
            <a:spAutoFit/>
          </a:bodyPr>
          <a:lstStyle/>
          <a:p>
            <a:pPr algn="ctr">
              <a:lnSpc>
                <a:spcPct val="130000"/>
              </a:lnSpc>
            </a:pPr>
            <a:r>
              <a:rPr sz="1000" b="0" i="0">
                <a:solidFill>
                  <a:srgbClr val="424E60"/>
                </a:solidFill>
                <a:latin typeface="Calibri"/>
              </a:rPr>
              <a:t>Select the actual paint product(s)</a:t>
            </a:r>
          </a:p>
          <a:p>
            <a:pPr algn="ctr">
              <a:lnSpc>
                <a:spcPct val="130000"/>
              </a:lnSpc>
            </a:pPr>
            <a:r>
              <a:rPr sz="1000" b="0" i="0">
                <a:solidFill>
                  <a:srgbClr val="424E60"/>
                </a:solidFill>
                <a:latin typeface="Calibri"/>
              </a:rPr>
              <a:t>and coats per surface.</a:t>
            </a:r>
          </a:p>
        </p:txBody>
      </p:sp>
      <p:sp>
        <p:nvSpPr>
          <p:cNvPr id="14" name="Oval 13"/>
          <p:cNvSpPr/>
          <p:nvPr/>
        </p:nvSpPr>
        <p:spPr>
          <a:xfrm>
            <a:off x="4829403" y="1828800"/>
            <a:ext cx="658368" cy="658368"/>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2767" y="1883664"/>
            <a:ext cx="1691640" cy="548640"/>
          </a:xfrm>
          <a:prstGeom prst="rect">
            <a:avLst/>
          </a:prstGeom>
          <a:noFill/>
        </p:spPr>
        <p:txBody>
          <a:bodyPr wrap="square" lIns="0" rIns="0" tIns="0" bIns="0" anchor="ctr">
            <a:spAutoFit/>
          </a:bodyPr>
          <a:lstStyle/>
          <a:p>
            <a:pPr algn="ctr"/>
            <a:r>
              <a:rPr sz="2200" b="1" i="0">
                <a:solidFill>
                  <a:srgbClr val="F5B800"/>
                </a:solidFill>
                <a:latin typeface="Calibri"/>
              </a:rPr>
              <a:t>3</a:t>
            </a:r>
          </a:p>
        </p:txBody>
      </p:sp>
      <p:sp>
        <p:nvSpPr>
          <p:cNvPr id="16" name="TextBox 15"/>
          <p:cNvSpPr txBox="1"/>
          <p:nvPr/>
        </p:nvSpPr>
        <p:spPr>
          <a:xfrm>
            <a:off x="4312767" y="2651760"/>
            <a:ext cx="1691640" cy="365760"/>
          </a:xfrm>
          <a:prstGeom prst="rect">
            <a:avLst/>
          </a:prstGeom>
          <a:noFill/>
        </p:spPr>
        <p:txBody>
          <a:bodyPr wrap="square" lIns="0" rIns="0" tIns="0" bIns="0" anchor="t">
            <a:spAutoFit/>
          </a:bodyPr>
          <a:lstStyle/>
          <a:p>
            <a:pPr algn="ctr"/>
            <a:r>
              <a:rPr sz="1400" b="1" i="0">
                <a:solidFill>
                  <a:srgbClr val="0B1F3A"/>
                </a:solidFill>
                <a:latin typeface="Georgia"/>
              </a:rPr>
              <a:t>Review gate</a:t>
            </a:r>
          </a:p>
        </p:txBody>
      </p:sp>
      <p:sp>
        <p:nvSpPr>
          <p:cNvPr id="17" name="TextBox 16"/>
          <p:cNvSpPr txBox="1"/>
          <p:nvPr/>
        </p:nvSpPr>
        <p:spPr>
          <a:xfrm>
            <a:off x="4312767" y="3063240"/>
            <a:ext cx="1691640" cy="1280160"/>
          </a:xfrm>
          <a:prstGeom prst="rect">
            <a:avLst/>
          </a:prstGeom>
          <a:noFill/>
        </p:spPr>
        <p:txBody>
          <a:bodyPr wrap="square" lIns="0" rIns="0" tIns="0" bIns="0" anchor="t">
            <a:spAutoFit/>
          </a:bodyPr>
          <a:lstStyle/>
          <a:p>
            <a:pPr algn="ctr">
              <a:lnSpc>
                <a:spcPct val="130000"/>
              </a:lnSpc>
            </a:pPr>
            <a:r>
              <a:rPr sz="1000" b="0" i="0">
                <a:solidFill>
                  <a:srgbClr val="424E60"/>
                </a:solidFill>
                <a:latin typeface="Calibri"/>
              </a:rPr>
              <a:t>Dispatcher confirms litres and</a:t>
            </a:r>
          </a:p>
          <a:p>
            <a:pPr algn="ctr">
              <a:lnSpc>
                <a:spcPct val="130000"/>
              </a:lnSpc>
            </a:pPr>
            <a:r>
              <a:rPr sz="1000" b="0" i="0">
                <a:solidFill>
                  <a:srgbClr val="424E60"/>
                </a:solidFill>
                <a:latin typeface="Calibri"/>
              </a:rPr>
              <a:t>bucket count before pricing locks.</a:t>
            </a:r>
          </a:p>
        </p:txBody>
      </p:sp>
      <p:sp>
        <p:nvSpPr>
          <p:cNvPr id="18" name="Oval 17"/>
          <p:cNvSpPr/>
          <p:nvPr/>
        </p:nvSpPr>
        <p:spPr>
          <a:xfrm>
            <a:off x="6703923" y="1828800"/>
            <a:ext cx="658368" cy="65836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7287" y="1883664"/>
            <a:ext cx="1691640" cy="548640"/>
          </a:xfrm>
          <a:prstGeom prst="rect">
            <a:avLst/>
          </a:prstGeom>
          <a:noFill/>
        </p:spPr>
        <p:txBody>
          <a:bodyPr wrap="square" lIns="0" rIns="0" tIns="0" bIns="0" anchor="ctr">
            <a:spAutoFit/>
          </a:bodyPr>
          <a:lstStyle/>
          <a:p>
            <a:pPr algn="ctr"/>
            <a:r>
              <a:rPr sz="2200" b="1" i="0">
                <a:solidFill>
                  <a:srgbClr val="F5B800"/>
                </a:solidFill>
                <a:latin typeface="Calibri"/>
              </a:rPr>
              <a:t>4</a:t>
            </a:r>
          </a:p>
        </p:txBody>
      </p:sp>
      <p:sp>
        <p:nvSpPr>
          <p:cNvPr id="20" name="TextBox 19"/>
          <p:cNvSpPr txBox="1"/>
          <p:nvPr/>
        </p:nvSpPr>
        <p:spPr>
          <a:xfrm>
            <a:off x="6187287" y="2651760"/>
            <a:ext cx="1691640" cy="365760"/>
          </a:xfrm>
          <a:prstGeom prst="rect">
            <a:avLst/>
          </a:prstGeom>
          <a:noFill/>
        </p:spPr>
        <p:txBody>
          <a:bodyPr wrap="square" lIns="0" rIns="0" tIns="0" bIns="0" anchor="t">
            <a:spAutoFit/>
          </a:bodyPr>
          <a:lstStyle/>
          <a:p>
            <a:pPr algn="ctr"/>
            <a:r>
              <a:rPr sz="1400" b="1" i="0">
                <a:solidFill>
                  <a:srgbClr val="0B1F3A"/>
                </a:solidFill>
                <a:latin typeface="Georgia"/>
              </a:rPr>
              <a:t>Book</a:t>
            </a:r>
          </a:p>
        </p:txBody>
      </p:sp>
      <p:sp>
        <p:nvSpPr>
          <p:cNvPr id="21" name="TextBox 20"/>
          <p:cNvSpPr txBox="1"/>
          <p:nvPr/>
        </p:nvSpPr>
        <p:spPr>
          <a:xfrm>
            <a:off x="6187287" y="3063240"/>
            <a:ext cx="1691640" cy="1280160"/>
          </a:xfrm>
          <a:prstGeom prst="rect">
            <a:avLst/>
          </a:prstGeom>
          <a:noFill/>
        </p:spPr>
        <p:txBody>
          <a:bodyPr wrap="square" lIns="0" rIns="0" tIns="0" bIns="0" anchor="t">
            <a:spAutoFit/>
          </a:bodyPr>
          <a:lstStyle/>
          <a:p>
            <a:pPr algn="ctr">
              <a:lnSpc>
                <a:spcPct val="130000"/>
              </a:lnSpc>
            </a:pPr>
            <a:r>
              <a:rPr sz="1000" b="0" i="0">
                <a:solidFill>
                  <a:srgbClr val="424E60"/>
                </a:solidFill>
                <a:latin typeface="Calibri"/>
              </a:rPr>
              <a:t>Pick a date, sign the contract,</a:t>
            </a:r>
          </a:p>
          <a:p>
            <a:pPr algn="ctr">
              <a:lnSpc>
                <a:spcPct val="130000"/>
              </a:lnSpc>
            </a:pPr>
            <a:r>
              <a:rPr sz="1000" b="0" i="0">
                <a:solidFill>
                  <a:srgbClr val="424E60"/>
                </a:solidFill>
                <a:latin typeface="Calibri"/>
              </a:rPr>
              <a:t>pay the 40% escrow deposit.</a:t>
            </a:r>
          </a:p>
        </p:txBody>
      </p:sp>
      <p:sp>
        <p:nvSpPr>
          <p:cNvPr id="22" name="Oval 21"/>
          <p:cNvSpPr/>
          <p:nvPr/>
        </p:nvSpPr>
        <p:spPr>
          <a:xfrm>
            <a:off x="8578443" y="1828800"/>
            <a:ext cx="658368" cy="65836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61807" y="1883664"/>
            <a:ext cx="1691640" cy="548640"/>
          </a:xfrm>
          <a:prstGeom prst="rect">
            <a:avLst/>
          </a:prstGeom>
          <a:noFill/>
        </p:spPr>
        <p:txBody>
          <a:bodyPr wrap="square" lIns="0" rIns="0" tIns="0" bIns="0" anchor="ctr">
            <a:spAutoFit/>
          </a:bodyPr>
          <a:lstStyle/>
          <a:p>
            <a:pPr algn="ctr"/>
            <a:r>
              <a:rPr sz="2200" b="1" i="0">
                <a:solidFill>
                  <a:srgbClr val="F5B800"/>
                </a:solidFill>
                <a:latin typeface="Calibri"/>
              </a:rPr>
              <a:t>5</a:t>
            </a:r>
          </a:p>
        </p:txBody>
      </p:sp>
      <p:sp>
        <p:nvSpPr>
          <p:cNvPr id="24" name="TextBox 23"/>
          <p:cNvSpPr txBox="1"/>
          <p:nvPr/>
        </p:nvSpPr>
        <p:spPr>
          <a:xfrm>
            <a:off x="8061807" y="2651760"/>
            <a:ext cx="1691640" cy="365760"/>
          </a:xfrm>
          <a:prstGeom prst="rect">
            <a:avLst/>
          </a:prstGeom>
          <a:noFill/>
        </p:spPr>
        <p:txBody>
          <a:bodyPr wrap="square" lIns="0" rIns="0" tIns="0" bIns="0" anchor="t">
            <a:spAutoFit/>
          </a:bodyPr>
          <a:lstStyle/>
          <a:p>
            <a:pPr algn="ctr"/>
            <a:r>
              <a:rPr sz="1400" b="1" i="0">
                <a:solidFill>
                  <a:srgbClr val="0B1F3A"/>
                </a:solidFill>
                <a:latin typeface="Georgia"/>
              </a:rPr>
              <a:t>Paint day</a:t>
            </a:r>
          </a:p>
        </p:txBody>
      </p:sp>
      <p:sp>
        <p:nvSpPr>
          <p:cNvPr id="25" name="TextBox 24"/>
          <p:cNvSpPr txBox="1"/>
          <p:nvPr/>
        </p:nvSpPr>
        <p:spPr>
          <a:xfrm>
            <a:off x="8061807" y="3063240"/>
            <a:ext cx="1691640" cy="1280160"/>
          </a:xfrm>
          <a:prstGeom prst="rect">
            <a:avLst/>
          </a:prstGeom>
          <a:noFill/>
        </p:spPr>
        <p:txBody>
          <a:bodyPr wrap="square" lIns="0" rIns="0" tIns="0" bIns="0" anchor="t">
            <a:spAutoFit/>
          </a:bodyPr>
          <a:lstStyle/>
          <a:p>
            <a:pPr algn="ctr">
              <a:lnSpc>
                <a:spcPct val="130000"/>
              </a:lnSpc>
            </a:pPr>
            <a:r>
              <a:rPr sz="1000" b="0" i="0">
                <a:solidFill>
                  <a:srgbClr val="424E60"/>
                </a:solidFill>
                <a:latin typeface="Calibri"/>
              </a:rPr>
              <a:t>Painter shows up, painter</a:t>
            </a:r>
          </a:p>
          <a:p>
            <a:pPr algn="ctr">
              <a:lnSpc>
                <a:spcPct val="130000"/>
              </a:lnSpc>
            </a:pPr>
            <a:r>
              <a:rPr sz="1000" b="0" i="0">
                <a:solidFill>
                  <a:srgbClr val="424E60"/>
                </a:solidFill>
                <a:latin typeface="Calibri"/>
              </a:rPr>
              <a:t>uploads progress milestones.</a:t>
            </a:r>
          </a:p>
        </p:txBody>
      </p:sp>
      <p:sp>
        <p:nvSpPr>
          <p:cNvPr id="26" name="Oval 25"/>
          <p:cNvSpPr/>
          <p:nvPr/>
        </p:nvSpPr>
        <p:spPr>
          <a:xfrm>
            <a:off x="10452963" y="1828800"/>
            <a:ext cx="658368" cy="65836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36327" y="1883664"/>
            <a:ext cx="1691640" cy="548640"/>
          </a:xfrm>
          <a:prstGeom prst="rect">
            <a:avLst/>
          </a:prstGeom>
          <a:noFill/>
        </p:spPr>
        <p:txBody>
          <a:bodyPr wrap="square" lIns="0" rIns="0" tIns="0" bIns="0" anchor="ctr">
            <a:spAutoFit/>
          </a:bodyPr>
          <a:lstStyle/>
          <a:p>
            <a:pPr algn="ctr"/>
            <a:r>
              <a:rPr sz="2200" b="1" i="0">
                <a:solidFill>
                  <a:srgbClr val="F5B800"/>
                </a:solidFill>
                <a:latin typeface="Calibri"/>
              </a:rPr>
              <a:t>6</a:t>
            </a:r>
          </a:p>
        </p:txBody>
      </p:sp>
      <p:sp>
        <p:nvSpPr>
          <p:cNvPr id="28" name="TextBox 27"/>
          <p:cNvSpPr txBox="1"/>
          <p:nvPr/>
        </p:nvSpPr>
        <p:spPr>
          <a:xfrm>
            <a:off x="9936327" y="2651760"/>
            <a:ext cx="1691640" cy="365760"/>
          </a:xfrm>
          <a:prstGeom prst="rect">
            <a:avLst/>
          </a:prstGeom>
          <a:noFill/>
        </p:spPr>
        <p:txBody>
          <a:bodyPr wrap="square" lIns="0" rIns="0" tIns="0" bIns="0" anchor="t">
            <a:spAutoFit/>
          </a:bodyPr>
          <a:lstStyle/>
          <a:p>
            <a:pPr algn="ctr"/>
            <a:r>
              <a:rPr sz="1400" b="1" i="0">
                <a:solidFill>
                  <a:srgbClr val="0B1F3A"/>
                </a:solidFill>
                <a:latin typeface="Georgia"/>
              </a:rPr>
              <a:t>QA &amp; release</a:t>
            </a:r>
          </a:p>
        </p:txBody>
      </p:sp>
      <p:sp>
        <p:nvSpPr>
          <p:cNvPr id="29" name="TextBox 28"/>
          <p:cNvSpPr txBox="1"/>
          <p:nvPr/>
        </p:nvSpPr>
        <p:spPr>
          <a:xfrm>
            <a:off x="9936327" y="3063240"/>
            <a:ext cx="1691640" cy="1280160"/>
          </a:xfrm>
          <a:prstGeom prst="rect">
            <a:avLst/>
          </a:prstGeom>
          <a:noFill/>
        </p:spPr>
        <p:txBody>
          <a:bodyPr wrap="square" lIns="0" rIns="0" tIns="0" bIns="0" anchor="t">
            <a:spAutoFit/>
          </a:bodyPr>
          <a:lstStyle/>
          <a:p>
            <a:pPr algn="ctr">
              <a:lnSpc>
                <a:spcPct val="130000"/>
              </a:lnSpc>
            </a:pPr>
            <a:r>
              <a:rPr sz="1000" b="0" i="0">
                <a:solidFill>
                  <a:srgbClr val="424E60"/>
                </a:solidFill>
                <a:latin typeface="Calibri"/>
              </a:rPr>
              <a:t>QA signs off. Escrow releases</a:t>
            </a:r>
          </a:p>
          <a:p>
            <a:pPr algn="ctr">
              <a:lnSpc>
                <a:spcPct val="130000"/>
              </a:lnSpc>
            </a:pPr>
            <a:r>
              <a:rPr sz="1000" b="0" i="0">
                <a:solidFill>
                  <a:srgbClr val="424E60"/>
                </a:solidFill>
                <a:latin typeface="Calibri"/>
              </a:rPr>
              <a:t>60% to the painter.</a:t>
            </a:r>
          </a:p>
        </p:txBody>
      </p:sp>
      <p:sp>
        <p:nvSpPr>
          <p:cNvPr id="30" name="Rectangle 29"/>
          <p:cNvSpPr/>
          <p:nvPr/>
        </p:nvSpPr>
        <p:spPr>
          <a:xfrm>
            <a:off x="868680" y="4572000"/>
            <a:ext cx="10424160" cy="1554480"/>
          </a:xfrm>
          <a:prstGeom prst="rect">
            <a:avLst/>
          </a:prstGeom>
          <a:solidFill>
            <a:srgbClr val="E2F3E9"/>
          </a:solidFill>
          <a:ln w="9525">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43000" y="493776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17320" y="4800600"/>
            <a:ext cx="9601200" cy="457200"/>
          </a:xfrm>
          <a:prstGeom prst="rect">
            <a:avLst/>
          </a:prstGeom>
          <a:noFill/>
        </p:spPr>
        <p:txBody>
          <a:bodyPr wrap="square" lIns="0" rIns="0" tIns="0" bIns="0" anchor="t">
            <a:spAutoFit/>
          </a:bodyPr>
          <a:lstStyle/>
          <a:p>
            <a:pPr algn="l"/>
            <a:r>
              <a:rPr sz="1600" b="1" i="0">
                <a:solidFill>
                  <a:srgbClr val="0B1F3A"/>
                </a:solidFill>
                <a:latin typeface="Georgia"/>
              </a:rPr>
              <a:t>The volume gate is the new step (step 3).</a:t>
            </a:r>
          </a:p>
        </p:txBody>
      </p:sp>
      <p:sp>
        <p:nvSpPr>
          <p:cNvPr id="33" name="TextBox 32"/>
          <p:cNvSpPr txBox="1"/>
          <p:nvPr/>
        </p:nvSpPr>
        <p:spPr>
          <a:xfrm>
            <a:off x="1417320" y="5257800"/>
            <a:ext cx="9601200" cy="91440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Before, the customer could finalize a quote with no idea how much paint the job actually needed. Now, a dispatcher reviews the litres / buckets / material cost before the contract goes out — and the price the customer saw matches the paint the painter shows up with.</a:t>
            </a:r>
          </a:p>
        </p:txBody>
      </p:sp>
      <p:sp>
        <p:nvSpPr>
          <p:cNvPr id="34" name="TextBox 33"/>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35" name="TextBox 34"/>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How a quote is estimated — overview</a:t>
            </a:r>
          </a:p>
        </p:txBody>
      </p:sp>
      <p:sp>
        <p:nvSpPr>
          <p:cNvPr id="5" name="TextBox 4"/>
          <p:cNvSpPr txBox="1"/>
          <p:nvPr/>
        </p:nvSpPr>
        <p:spPr>
          <a:xfrm>
            <a:off x="868680" y="1280160"/>
            <a:ext cx="10515600" cy="548640"/>
          </a:xfrm>
          <a:prstGeom prst="rect">
            <a:avLst/>
          </a:prstGeom>
          <a:noFill/>
        </p:spPr>
        <p:txBody>
          <a:bodyPr wrap="square" lIns="0" rIns="0" tIns="0" bIns="0" anchor="t">
            <a:spAutoFit/>
          </a:bodyPr>
          <a:lstStyle/>
          <a:p>
            <a:pPr algn="l">
              <a:lnSpc>
                <a:spcPct val="140000"/>
              </a:lnSpc>
            </a:pPr>
            <a:r>
              <a:rPr sz="1400" b="0" i="1">
                <a:solidFill>
                  <a:srgbClr val="6E7A8C"/>
                </a:solidFill>
                <a:latin typeface="Calibri"/>
              </a:rPr>
              <a:t>Every quote runs through one deterministic pipeline. The customer can re-derive any number on the page, and the backend stores the same breakdown on the quote record.</a:t>
            </a:r>
          </a:p>
        </p:txBody>
      </p:sp>
      <p:sp>
        <p:nvSpPr>
          <p:cNvPr id="6" name="Rounded Rectangle 5"/>
          <p:cNvSpPr/>
          <p:nvPr/>
        </p:nvSpPr>
        <p:spPr>
          <a:xfrm>
            <a:off x="609447" y="2103120"/>
            <a:ext cx="2121408" cy="2743200"/>
          </a:xfrm>
          <a:prstGeom prst="roundRect">
            <a:avLst>
              <a:gd name="adj" fmla="val 4000"/>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3767" y="246887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2367" y="2359152"/>
            <a:ext cx="1481328" cy="411480"/>
          </a:xfrm>
          <a:prstGeom prst="rect">
            <a:avLst/>
          </a:prstGeom>
          <a:noFill/>
        </p:spPr>
        <p:txBody>
          <a:bodyPr wrap="square" lIns="0" rIns="0" tIns="0" bIns="0" anchor="t">
            <a:spAutoFit/>
          </a:bodyPr>
          <a:lstStyle/>
          <a:p>
            <a:pPr algn="l"/>
            <a:r>
              <a:rPr sz="1700" b="1" i="0">
                <a:solidFill>
                  <a:srgbClr val="0B1F3A"/>
                </a:solidFill>
                <a:latin typeface="Georgia"/>
              </a:rPr>
              <a:t>Area</a:t>
            </a:r>
          </a:p>
        </p:txBody>
      </p:sp>
      <p:sp>
        <p:nvSpPr>
          <p:cNvPr id="9" name="TextBox 8"/>
          <p:cNvSpPr txBox="1"/>
          <p:nvPr/>
        </p:nvSpPr>
        <p:spPr>
          <a:xfrm>
            <a:off x="883767" y="2971800"/>
            <a:ext cx="1572767" cy="173736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Length × width × ceiling height</a:t>
            </a:r>
          </a:p>
          <a:p>
            <a:pPr algn="l">
              <a:lnSpc>
                <a:spcPct val="135000"/>
              </a:lnSpc>
            </a:pPr>
            <a:r>
              <a:rPr sz="1100" b="0" i="0">
                <a:solidFill>
                  <a:srgbClr val="424E60"/>
                </a:solidFill>
                <a:latin typeface="Calibri"/>
              </a:rPr>
              <a:t>from the dimensions step,</a:t>
            </a:r>
          </a:p>
          <a:p>
            <a:pPr algn="l">
              <a:lnSpc>
                <a:spcPct val="135000"/>
              </a:lnSpc>
            </a:pPr>
            <a:r>
              <a:rPr sz="1100" b="0" i="0">
                <a:solidFill>
                  <a:srgbClr val="424E60"/>
                </a:solidFill>
                <a:latin typeface="Calibri"/>
              </a:rPr>
              <a:t>multiplied across rooms.</a:t>
            </a:r>
          </a:p>
        </p:txBody>
      </p:sp>
      <p:sp>
        <p:nvSpPr>
          <p:cNvPr id="10" name="TextBox 9"/>
          <p:cNvSpPr txBox="1"/>
          <p:nvPr/>
        </p:nvSpPr>
        <p:spPr>
          <a:xfrm>
            <a:off x="2703423" y="3310127"/>
            <a:ext cx="182880" cy="329184"/>
          </a:xfrm>
          <a:prstGeom prst="rect">
            <a:avLst/>
          </a:prstGeom>
          <a:noFill/>
        </p:spPr>
        <p:txBody>
          <a:bodyPr wrap="square" lIns="0" rIns="0" tIns="0" bIns="0" anchor="ctr">
            <a:spAutoFit/>
          </a:bodyPr>
          <a:lstStyle/>
          <a:p>
            <a:pPr algn="ctr"/>
            <a:r>
              <a:rPr sz="2600" b="1" i="0">
                <a:solidFill>
                  <a:srgbClr val="F5B800"/>
                </a:solidFill>
                <a:latin typeface="Georgia"/>
              </a:rPr>
              <a:t>›</a:t>
            </a:r>
          </a:p>
        </p:txBody>
      </p:sp>
      <p:sp>
        <p:nvSpPr>
          <p:cNvPr id="11" name="Rounded Rectangle 10"/>
          <p:cNvSpPr/>
          <p:nvPr/>
        </p:nvSpPr>
        <p:spPr>
          <a:xfrm>
            <a:off x="2822295" y="2103120"/>
            <a:ext cx="2121408" cy="2743200"/>
          </a:xfrm>
          <a:prstGeom prst="roundRect">
            <a:avLst>
              <a:gd name="adj" fmla="val 4000"/>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96615" y="246887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25215" y="2359152"/>
            <a:ext cx="1481328" cy="411480"/>
          </a:xfrm>
          <a:prstGeom prst="rect">
            <a:avLst/>
          </a:prstGeom>
          <a:noFill/>
        </p:spPr>
        <p:txBody>
          <a:bodyPr wrap="square" lIns="0" rIns="0" tIns="0" bIns="0" anchor="t">
            <a:spAutoFit/>
          </a:bodyPr>
          <a:lstStyle/>
          <a:p>
            <a:pPr algn="l"/>
            <a:r>
              <a:rPr sz="1700" b="1" i="0">
                <a:solidFill>
                  <a:srgbClr val="0B1F3A"/>
                </a:solidFill>
                <a:latin typeface="Georgia"/>
              </a:rPr>
              <a:t>Base rates</a:t>
            </a:r>
          </a:p>
        </p:txBody>
      </p:sp>
      <p:sp>
        <p:nvSpPr>
          <p:cNvPr id="14" name="TextBox 13"/>
          <p:cNvSpPr txBox="1"/>
          <p:nvPr/>
        </p:nvSpPr>
        <p:spPr>
          <a:xfrm>
            <a:off x="3096615" y="2971800"/>
            <a:ext cx="1572767" cy="173736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Labour &amp; material per m², set</a:t>
            </a:r>
          </a:p>
          <a:p>
            <a:pPr algn="l">
              <a:lnSpc>
                <a:spcPct val="135000"/>
              </a:lnSpc>
            </a:pPr>
            <a:r>
              <a:rPr sz="1100" b="0" i="0">
                <a:solidFill>
                  <a:srgbClr val="424E60"/>
                </a:solidFill>
                <a:latin typeface="Calibri"/>
              </a:rPr>
              <a:t>by the chosen service</a:t>
            </a:r>
          </a:p>
          <a:p>
            <a:pPr algn="l">
              <a:lnSpc>
                <a:spcPct val="135000"/>
              </a:lnSpc>
            </a:pPr>
            <a:r>
              <a:rPr sz="1100" b="0" i="0">
                <a:solidFill>
                  <a:srgbClr val="424E60"/>
                </a:solidFill>
                <a:latin typeface="Calibri"/>
              </a:rPr>
              <a:t>(Interior Wall, Façade, etc.).</a:t>
            </a:r>
          </a:p>
        </p:txBody>
      </p:sp>
      <p:sp>
        <p:nvSpPr>
          <p:cNvPr id="15" name="TextBox 14"/>
          <p:cNvSpPr txBox="1"/>
          <p:nvPr/>
        </p:nvSpPr>
        <p:spPr>
          <a:xfrm>
            <a:off x="4916271" y="3310127"/>
            <a:ext cx="182880" cy="329184"/>
          </a:xfrm>
          <a:prstGeom prst="rect">
            <a:avLst/>
          </a:prstGeom>
          <a:noFill/>
        </p:spPr>
        <p:txBody>
          <a:bodyPr wrap="square" lIns="0" rIns="0" tIns="0" bIns="0" anchor="ctr">
            <a:spAutoFit/>
          </a:bodyPr>
          <a:lstStyle/>
          <a:p>
            <a:pPr algn="ctr"/>
            <a:r>
              <a:rPr sz="2600" b="1" i="0">
                <a:solidFill>
                  <a:srgbClr val="F5B800"/>
                </a:solidFill>
                <a:latin typeface="Georgia"/>
              </a:rPr>
              <a:t>›</a:t>
            </a:r>
          </a:p>
        </p:txBody>
      </p:sp>
      <p:sp>
        <p:nvSpPr>
          <p:cNvPr id="16" name="Rounded Rectangle 15"/>
          <p:cNvSpPr/>
          <p:nvPr/>
        </p:nvSpPr>
        <p:spPr>
          <a:xfrm>
            <a:off x="5035143" y="2103120"/>
            <a:ext cx="2121408" cy="2743200"/>
          </a:xfrm>
          <a:prstGeom prst="roundRect">
            <a:avLst>
              <a:gd name="adj" fmla="val 4000"/>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9463" y="246887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8063" y="2359152"/>
            <a:ext cx="1481328" cy="411480"/>
          </a:xfrm>
          <a:prstGeom prst="rect">
            <a:avLst/>
          </a:prstGeom>
          <a:noFill/>
        </p:spPr>
        <p:txBody>
          <a:bodyPr wrap="square" lIns="0" rIns="0" tIns="0" bIns="0" anchor="t">
            <a:spAutoFit/>
          </a:bodyPr>
          <a:lstStyle/>
          <a:p>
            <a:pPr algn="l"/>
            <a:r>
              <a:rPr sz="1700" b="1" i="0">
                <a:solidFill>
                  <a:srgbClr val="0B1F3A"/>
                </a:solidFill>
                <a:latin typeface="Georgia"/>
              </a:rPr>
              <a:t>Multipliers</a:t>
            </a:r>
          </a:p>
        </p:txBody>
      </p:sp>
      <p:sp>
        <p:nvSpPr>
          <p:cNvPr id="19" name="TextBox 18"/>
          <p:cNvSpPr txBox="1"/>
          <p:nvPr/>
        </p:nvSpPr>
        <p:spPr>
          <a:xfrm>
            <a:off x="5309463" y="2971800"/>
            <a:ext cx="1572767" cy="173736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Five stacked multipliers:</a:t>
            </a:r>
          </a:p>
          <a:p>
            <a:pPr algn="l">
              <a:lnSpc>
                <a:spcPct val="135000"/>
              </a:lnSpc>
            </a:pPr>
            <a:r>
              <a:rPr sz="1100" b="0" i="0">
                <a:solidFill>
                  <a:srgbClr val="424E60"/>
                </a:solidFill>
                <a:latin typeface="Calibri"/>
              </a:rPr>
              <a:t>scope · surface · condition</a:t>
            </a:r>
          </a:p>
          <a:p>
            <a:pPr algn="l">
              <a:lnSpc>
                <a:spcPct val="135000"/>
              </a:lnSpc>
            </a:pPr>
            <a:r>
              <a:rPr sz="1100" b="0" i="0">
                <a:solidFill>
                  <a:srgbClr val="424E60"/>
                </a:solidFill>
                <a:latin typeface="Calibri"/>
              </a:rPr>
              <a:t>· finish · tier.</a:t>
            </a:r>
          </a:p>
        </p:txBody>
      </p:sp>
      <p:sp>
        <p:nvSpPr>
          <p:cNvPr id="20" name="TextBox 19"/>
          <p:cNvSpPr txBox="1"/>
          <p:nvPr/>
        </p:nvSpPr>
        <p:spPr>
          <a:xfrm>
            <a:off x="7129119" y="3310127"/>
            <a:ext cx="182880" cy="329184"/>
          </a:xfrm>
          <a:prstGeom prst="rect">
            <a:avLst/>
          </a:prstGeom>
          <a:noFill/>
        </p:spPr>
        <p:txBody>
          <a:bodyPr wrap="square" lIns="0" rIns="0" tIns="0" bIns="0" anchor="ctr">
            <a:spAutoFit/>
          </a:bodyPr>
          <a:lstStyle/>
          <a:p>
            <a:pPr algn="ctr"/>
            <a:r>
              <a:rPr sz="2600" b="1" i="0">
                <a:solidFill>
                  <a:srgbClr val="F5B800"/>
                </a:solidFill>
                <a:latin typeface="Georgia"/>
              </a:rPr>
              <a:t>›</a:t>
            </a:r>
          </a:p>
        </p:txBody>
      </p:sp>
      <p:sp>
        <p:nvSpPr>
          <p:cNvPr id="21" name="Rounded Rectangle 20"/>
          <p:cNvSpPr/>
          <p:nvPr/>
        </p:nvSpPr>
        <p:spPr>
          <a:xfrm>
            <a:off x="7247991" y="2103120"/>
            <a:ext cx="2121408" cy="2743200"/>
          </a:xfrm>
          <a:prstGeom prst="roundRect">
            <a:avLst>
              <a:gd name="adj" fmla="val 4000"/>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22311" y="246887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0911" y="2359152"/>
            <a:ext cx="1481328" cy="411480"/>
          </a:xfrm>
          <a:prstGeom prst="rect">
            <a:avLst/>
          </a:prstGeom>
          <a:noFill/>
        </p:spPr>
        <p:txBody>
          <a:bodyPr wrap="square" lIns="0" rIns="0" tIns="0" bIns="0" anchor="t">
            <a:spAutoFit/>
          </a:bodyPr>
          <a:lstStyle/>
          <a:p>
            <a:pPr algn="l"/>
            <a:r>
              <a:rPr sz="1700" b="1" i="0">
                <a:solidFill>
                  <a:srgbClr val="0B1F3A"/>
                </a:solidFill>
                <a:latin typeface="Georgia"/>
              </a:rPr>
              <a:t>Add-ons</a:t>
            </a:r>
          </a:p>
        </p:txBody>
      </p:sp>
      <p:sp>
        <p:nvSpPr>
          <p:cNvPr id="24" name="TextBox 23"/>
          <p:cNvSpPr txBox="1"/>
          <p:nvPr/>
        </p:nvSpPr>
        <p:spPr>
          <a:xfrm>
            <a:off x="7522311" y="2971800"/>
            <a:ext cx="1572767" cy="173736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Optional extras as flat fees</a:t>
            </a:r>
          </a:p>
          <a:p>
            <a:pPr algn="l">
              <a:lnSpc>
                <a:spcPct val="135000"/>
              </a:lnSpc>
            </a:pPr>
            <a:r>
              <a:rPr sz="1100" b="0" i="0">
                <a:solidFill>
                  <a:srgbClr val="424E60"/>
                </a:solidFill>
                <a:latin typeface="Calibri"/>
              </a:rPr>
              <a:t>or percentage uplifts</a:t>
            </a:r>
          </a:p>
          <a:p>
            <a:pPr algn="l">
              <a:lnSpc>
                <a:spcPct val="135000"/>
              </a:lnSpc>
            </a:pPr>
            <a:r>
              <a:rPr sz="1100" b="0" i="0">
                <a:solidFill>
                  <a:srgbClr val="424E60"/>
                </a:solidFill>
                <a:latin typeface="Calibri"/>
              </a:rPr>
              <a:t>(Rush, Weekend, etc.).</a:t>
            </a:r>
          </a:p>
        </p:txBody>
      </p:sp>
      <p:sp>
        <p:nvSpPr>
          <p:cNvPr id="25" name="TextBox 24"/>
          <p:cNvSpPr txBox="1"/>
          <p:nvPr/>
        </p:nvSpPr>
        <p:spPr>
          <a:xfrm>
            <a:off x="9341967" y="3310127"/>
            <a:ext cx="182880" cy="329184"/>
          </a:xfrm>
          <a:prstGeom prst="rect">
            <a:avLst/>
          </a:prstGeom>
          <a:noFill/>
        </p:spPr>
        <p:txBody>
          <a:bodyPr wrap="square" lIns="0" rIns="0" tIns="0" bIns="0" anchor="ctr">
            <a:spAutoFit/>
          </a:bodyPr>
          <a:lstStyle/>
          <a:p>
            <a:pPr algn="ctr"/>
            <a:r>
              <a:rPr sz="2600" b="1" i="0">
                <a:solidFill>
                  <a:srgbClr val="F5B800"/>
                </a:solidFill>
                <a:latin typeface="Georgia"/>
              </a:rPr>
              <a:t>›</a:t>
            </a:r>
          </a:p>
        </p:txBody>
      </p:sp>
      <p:sp>
        <p:nvSpPr>
          <p:cNvPr id="26" name="Rounded Rectangle 25"/>
          <p:cNvSpPr/>
          <p:nvPr/>
        </p:nvSpPr>
        <p:spPr>
          <a:xfrm>
            <a:off x="9460839" y="2103120"/>
            <a:ext cx="2121408" cy="2743200"/>
          </a:xfrm>
          <a:prstGeom prst="roundRect">
            <a:avLst>
              <a:gd name="adj" fmla="val 4000"/>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35159" y="2468879"/>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3759" y="2359152"/>
            <a:ext cx="1481328" cy="411480"/>
          </a:xfrm>
          <a:prstGeom prst="rect">
            <a:avLst/>
          </a:prstGeom>
          <a:noFill/>
        </p:spPr>
        <p:txBody>
          <a:bodyPr wrap="square" lIns="0" rIns="0" tIns="0" bIns="0" anchor="t">
            <a:spAutoFit/>
          </a:bodyPr>
          <a:lstStyle/>
          <a:p>
            <a:pPr algn="l"/>
            <a:r>
              <a:rPr sz="1700" b="1" i="0">
                <a:solidFill>
                  <a:srgbClr val="0B1F3A"/>
                </a:solidFill>
                <a:latin typeface="Georgia"/>
              </a:rPr>
              <a:t>Travel + VAT</a:t>
            </a:r>
          </a:p>
        </p:txBody>
      </p:sp>
      <p:sp>
        <p:nvSpPr>
          <p:cNvPr id="29" name="TextBox 28"/>
          <p:cNvSpPr txBox="1"/>
          <p:nvPr/>
        </p:nvSpPr>
        <p:spPr>
          <a:xfrm>
            <a:off x="9735159" y="2971800"/>
            <a:ext cx="1572767" cy="1737360"/>
          </a:xfrm>
          <a:prstGeom prst="rect">
            <a:avLst/>
          </a:prstGeom>
          <a:noFill/>
        </p:spPr>
        <p:txBody>
          <a:bodyPr wrap="square" lIns="0" rIns="0" tIns="0" bIns="0" anchor="t">
            <a:spAutoFit/>
          </a:bodyPr>
          <a:lstStyle/>
          <a:p>
            <a:pPr algn="l">
              <a:lnSpc>
                <a:spcPct val="135000"/>
              </a:lnSpc>
            </a:pPr>
            <a:r>
              <a:rPr sz="1100" b="0" i="0">
                <a:solidFill>
                  <a:srgbClr val="424E60"/>
                </a:solidFill>
                <a:latin typeface="Calibri"/>
              </a:rPr>
              <a:t>Region multiplier ≥ 1.0,</a:t>
            </a:r>
          </a:p>
          <a:p>
            <a:pPr algn="l">
              <a:lnSpc>
                <a:spcPct val="135000"/>
              </a:lnSpc>
            </a:pPr>
            <a:r>
              <a:rPr sz="1100" b="0" i="0">
                <a:solidFill>
                  <a:srgbClr val="424E60"/>
                </a:solidFill>
                <a:latin typeface="Calibri"/>
              </a:rPr>
              <a:t>then 12.5% Ghana VAT</a:t>
            </a:r>
          </a:p>
          <a:p>
            <a:pPr algn="l">
              <a:lnSpc>
                <a:spcPct val="135000"/>
              </a:lnSpc>
            </a:pPr>
            <a:r>
              <a:rPr sz="1100" b="0" i="0">
                <a:solidFill>
                  <a:srgbClr val="424E60"/>
                </a:solidFill>
                <a:latin typeface="Calibri"/>
              </a:rPr>
              <a:t>at the end.</a:t>
            </a:r>
          </a:p>
        </p:txBody>
      </p:sp>
      <p:sp>
        <p:nvSpPr>
          <p:cNvPr id="30" name="TextBox 29"/>
          <p:cNvSpPr txBox="1"/>
          <p:nvPr/>
        </p:nvSpPr>
        <p:spPr>
          <a:xfrm>
            <a:off x="868680" y="5120640"/>
            <a:ext cx="10515600" cy="457200"/>
          </a:xfrm>
          <a:prstGeom prst="rect">
            <a:avLst/>
          </a:prstGeom>
          <a:noFill/>
        </p:spPr>
        <p:txBody>
          <a:bodyPr wrap="square" lIns="0" rIns="0" tIns="0" bIns="0" anchor="t">
            <a:spAutoFit/>
          </a:bodyPr>
          <a:lstStyle/>
          <a:p>
            <a:pPr algn="l"/>
            <a:r>
              <a:rPr sz="1500" b="1" i="0">
                <a:solidFill>
                  <a:srgbClr val="0B1F3A"/>
                </a:solidFill>
                <a:latin typeface="Georgia"/>
              </a:rPr>
              <a:t>The full formula:</a:t>
            </a:r>
          </a:p>
        </p:txBody>
      </p:sp>
      <p:sp>
        <p:nvSpPr>
          <p:cNvPr id="31" name="Rectangle 30"/>
          <p:cNvSpPr/>
          <p:nvPr/>
        </p:nvSpPr>
        <p:spPr>
          <a:xfrm>
            <a:off x="868680" y="5532120"/>
            <a:ext cx="10424160" cy="5943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532120"/>
            <a:ext cx="10424160" cy="594360"/>
          </a:xfrm>
          <a:prstGeom prst="rect">
            <a:avLst/>
          </a:prstGeom>
          <a:noFill/>
        </p:spPr>
        <p:txBody>
          <a:bodyPr wrap="square" lIns="0" rIns="0" tIns="0" bIns="0" anchor="ctr">
            <a:spAutoFit/>
          </a:bodyPr>
          <a:lstStyle/>
          <a:p>
            <a:pPr algn="ctr"/>
            <a:r>
              <a:rPr sz="1400" b="1" i="0">
                <a:solidFill>
                  <a:srgbClr val="F5B800"/>
                </a:solidFill>
                <a:latin typeface="Calibri"/>
              </a:rPr>
              <a:t>TOTAL  =  ( labour + materials + prep + add-ons )  ×  travel_multiplier  ×  1.125 (VAT)</a:t>
            </a:r>
          </a:p>
        </p:txBody>
      </p:sp>
      <p:sp>
        <p:nvSpPr>
          <p:cNvPr id="33" name="TextBox 32"/>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34" name="TextBox 33"/>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Quote parameters — what each one does</a:t>
            </a:r>
          </a:p>
        </p:txBody>
      </p:sp>
      <p:sp>
        <p:nvSpPr>
          <p:cNvPr id="5" name="TextBox 4"/>
          <p:cNvSpPr txBox="1"/>
          <p:nvPr/>
        </p:nvSpPr>
        <p:spPr>
          <a:xfrm>
            <a:off x="868680" y="1234440"/>
            <a:ext cx="5669280" cy="365760"/>
          </a:xfrm>
          <a:prstGeom prst="rect">
            <a:avLst/>
          </a:prstGeom>
          <a:noFill/>
        </p:spPr>
        <p:txBody>
          <a:bodyPr wrap="square" lIns="0" rIns="0" tIns="0" bIns="0" anchor="t">
            <a:spAutoFit/>
          </a:bodyPr>
          <a:lstStyle/>
          <a:p>
            <a:pPr algn="l"/>
            <a:r>
              <a:rPr sz="1500" b="1" i="0">
                <a:solidFill>
                  <a:srgbClr val="0B1F3A"/>
                </a:solidFill>
                <a:latin typeface="Georgia"/>
              </a:rPr>
              <a:t>Per-m² inputs</a:t>
            </a:r>
          </a:p>
        </p:txBody>
      </p:sp>
      <p:sp>
        <p:nvSpPr>
          <p:cNvPr id="6" name="Rectangle 5"/>
          <p:cNvSpPr/>
          <p:nvPr/>
        </p:nvSpPr>
        <p:spPr>
          <a:xfrm>
            <a:off x="868680" y="1627632"/>
            <a:ext cx="5669280" cy="713232"/>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00784"/>
            <a:ext cx="5486400" cy="274320"/>
          </a:xfrm>
          <a:prstGeom prst="rect">
            <a:avLst/>
          </a:prstGeom>
          <a:noFill/>
        </p:spPr>
        <p:txBody>
          <a:bodyPr wrap="square" lIns="36576" rIns="36576" tIns="36576" bIns="36576" anchor="t">
            <a:spAutoFit/>
          </a:bodyPr>
          <a:lstStyle/>
          <a:p>
            <a:pPr algn="l"/>
            <a:r>
              <a:rPr sz="1100" b="1" i="0">
                <a:solidFill>
                  <a:srgbClr val="1E7F4F"/>
                </a:solidFill>
                <a:latin typeface="Consolas"/>
              </a:rPr>
              <a:t>svc.labor</a:t>
            </a:r>
          </a:p>
        </p:txBody>
      </p:sp>
      <p:sp>
        <p:nvSpPr>
          <p:cNvPr id="8" name="TextBox 7"/>
          <p:cNvSpPr txBox="1"/>
          <p:nvPr/>
        </p:nvSpPr>
        <p:spPr>
          <a:xfrm>
            <a:off x="1005840" y="1938528"/>
            <a:ext cx="5486400" cy="219456"/>
          </a:xfrm>
          <a:prstGeom prst="rect">
            <a:avLst/>
          </a:prstGeom>
          <a:noFill/>
        </p:spPr>
        <p:txBody>
          <a:bodyPr wrap="square" lIns="36576" rIns="36576" tIns="36576" bIns="36576" anchor="t">
            <a:spAutoFit/>
          </a:bodyPr>
          <a:lstStyle/>
          <a:p>
            <a:pPr algn="l"/>
            <a:r>
              <a:rPr sz="1100" b="1" i="0">
                <a:solidFill>
                  <a:srgbClr val="0B1F3A"/>
                </a:solidFill>
                <a:latin typeface="Calibri"/>
              </a:rPr>
              <a:t>Per-m² labour rate set by service</a:t>
            </a:r>
          </a:p>
        </p:txBody>
      </p:sp>
      <p:sp>
        <p:nvSpPr>
          <p:cNvPr id="9" name="TextBox 8"/>
          <p:cNvSpPr txBox="1"/>
          <p:nvPr/>
        </p:nvSpPr>
        <p:spPr>
          <a:xfrm>
            <a:off x="1005840" y="2130552"/>
            <a:ext cx="5486400" cy="201168"/>
          </a:xfrm>
          <a:prstGeom prst="rect">
            <a:avLst/>
          </a:prstGeom>
          <a:noFill/>
        </p:spPr>
        <p:txBody>
          <a:bodyPr wrap="square" lIns="36576" rIns="36576" tIns="36576" bIns="36576" anchor="t">
            <a:spAutoFit/>
          </a:bodyPr>
          <a:lstStyle/>
          <a:p>
            <a:pPr algn="l"/>
            <a:r>
              <a:rPr sz="1000" b="0" i="1">
                <a:solidFill>
                  <a:srgbClr val="6E7A8C"/>
                </a:solidFill>
                <a:latin typeface="Calibri"/>
              </a:rPr>
              <a:t>Interior Wall: ₵25 · Façade: ₵30 · Faux: ₵120 · Epoxy: ₵120</a:t>
            </a:r>
          </a:p>
        </p:txBody>
      </p:sp>
      <p:sp>
        <p:nvSpPr>
          <p:cNvPr id="10" name="Rectangle 9"/>
          <p:cNvSpPr/>
          <p:nvPr/>
        </p:nvSpPr>
        <p:spPr>
          <a:xfrm>
            <a:off x="868680" y="2432304"/>
            <a:ext cx="5669280" cy="713232"/>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05456"/>
            <a:ext cx="5486400" cy="274320"/>
          </a:xfrm>
          <a:prstGeom prst="rect">
            <a:avLst/>
          </a:prstGeom>
          <a:noFill/>
        </p:spPr>
        <p:txBody>
          <a:bodyPr wrap="square" lIns="36576" rIns="36576" tIns="36576" bIns="36576" anchor="t">
            <a:spAutoFit/>
          </a:bodyPr>
          <a:lstStyle/>
          <a:p>
            <a:pPr algn="l"/>
            <a:r>
              <a:rPr sz="1100" b="1" i="0">
                <a:solidFill>
                  <a:srgbClr val="1E7F4F"/>
                </a:solidFill>
                <a:latin typeface="Consolas"/>
              </a:rPr>
              <a:t>svc.material</a:t>
            </a:r>
          </a:p>
        </p:txBody>
      </p:sp>
      <p:sp>
        <p:nvSpPr>
          <p:cNvPr id="12" name="TextBox 11"/>
          <p:cNvSpPr txBox="1"/>
          <p:nvPr/>
        </p:nvSpPr>
        <p:spPr>
          <a:xfrm>
            <a:off x="1005840" y="2743200"/>
            <a:ext cx="5486400" cy="219456"/>
          </a:xfrm>
          <a:prstGeom prst="rect">
            <a:avLst/>
          </a:prstGeom>
          <a:noFill/>
        </p:spPr>
        <p:txBody>
          <a:bodyPr wrap="square" lIns="36576" rIns="36576" tIns="36576" bIns="36576" anchor="t">
            <a:spAutoFit/>
          </a:bodyPr>
          <a:lstStyle/>
          <a:p>
            <a:pPr algn="l"/>
            <a:r>
              <a:rPr sz="1100" b="1" i="0">
                <a:solidFill>
                  <a:srgbClr val="0B1F3A"/>
                </a:solidFill>
                <a:latin typeface="Calibri"/>
              </a:rPr>
              <a:t>Per-m² material rate set by service</a:t>
            </a:r>
          </a:p>
        </p:txBody>
      </p:sp>
      <p:sp>
        <p:nvSpPr>
          <p:cNvPr id="13" name="TextBox 12"/>
          <p:cNvSpPr txBox="1"/>
          <p:nvPr/>
        </p:nvSpPr>
        <p:spPr>
          <a:xfrm>
            <a:off x="1005840" y="2935224"/>
            <a:ext cx="5486400" cy="201168"/>
          </a:xfrm>
          <a:prstGeom prst="rect">
            <a:avLst/>
          </a:prstGeom>
          <a:noFill/>
        </p:spPr>
        <p:txBody>
          <a:bodyPr wrap="square" lIns="36576" rIns="36576" tIns="36576" bIns="36576" anchor="t">
            <a:spAutoFit/>
          </a:bodyPr>
          <a:lstStyle/>
          <a:p>
            <a:pPr algn="l"/>
            <a:r>
              <a:rPr sz="1000" b="0" i="1">
                <a:solidFill>
                  <a:srgbClr val="6E7A8C"/>
                </a:solidFill>
                <a:latin typeface="Calibri"/>
              </a:rPr>
              <a:t>Interior Wall: ₵45 · Façade: ₵55 · Faux: ₵90 · Epoxy: ₵180</a:t>
            </a:r>
          </a:p>
        </p:txBody>
      </p:sp>
      <p:sp>
        <p:nvSpPr>
          <p:cNvPr id="14" name="Rectangle 13"/>
          <p:cNvSpPr/>
          <p:nvPr/>
        </p:nvSpPr>
        <p:spPr>
          <a:xfrm>
            <a:off x="868680" y="3236976"/>
            <a:ext cx="5669280" cy="713232"/>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310128"/>
            <a:ext cx="5486400" cy="274320"/>
          </a:xfrm>
          <a:prstGeom prst="rect">
            <a:avLst/>
          </a:prstGeom>
          <a:noFill/>
        </p:spPr>
        <p:txBody>
          <a:bodyPr wrap="square" lIns="36576" rIns="36576" tIns="36576" bIns="36576" anchor="t">
            <a:spAutoFit/>
          </a:bodyPr>
          <a:lstStyle/>
          <a:p>
            <a:pPr algn="l"/>
            <a:r>
              <a:rPr sz="1100" b="1" i="0">
                <a:solidFill>
                  <a:srgbClr val="1E7F4F"/>
                </a:solidFill>
                <a:latin typeface="Consolas"/>
              </a:rPr>
              <a:t>area</a:t>
            </a:r>
          </a:p>
        </p:txBody>
      </p:sp>
      <p:sp>
        <p:nvSpPr>
          <p:cNvPr id="16" name="TextBox 15"/>
          <p:cNvSpPr txBox="1"/>
          <p:nvPr/>
        </p:nvSpPr>
        <p:spPr>
          <a:xfrm>
            <a:off x="1005840" y="3547872"/>
            <a:ext cx="5486400" cy="219456"/>
          </a:xfrm>
          <a:prstGeom prst="rect">
            <a:avLst/>
          </a:prstGeom>
          <a:noFill/>
        </p:spPr>
        <p:txBody>
          <a:bodyPr wrap="square" lIns="36576" rIns="36576" tIns="36576" bIns="36576" anchor="t">
            <a:spAutoFit/>
          </a:bodyPr>
          <a:lstStyle/>
          <a:p>
            <a:pPr algn="l"/>
            <a:r>
              <a:rPr sz="1100" b="1" i="0">
                <a:solidFill>
                  <a:srgbClr val="0B1F3A"/>
                </a:solidFill>
                <a:latin typeface="Calibri"/>
              </a:rPr>
              <a:t>Total paintable m²</a:t>
            </a:r>
          </a:p>
        </p:txBody>
      </p:sp>
      <p:sp>
        <p:nvSpPr>
          <p:cNvPr id="17" name="TextBox 16"/>
          <p:cNvSpPr txBox="1"/>
          <p:nvPr/>
        </p:nvSpPr>
        <p:spPr>
          <a:xfrm>
            <a:off x="1005840" y="3739896"/>
            <a:ext cx="5486400" cy="201168"/>
          </a:xfrm>
          <a:prstGeom prst="rect">
            <a:avLst/>
          </a:prstGeom>
          <a:noFill/>
        </p:spPr>
        <p:txBody>
          <a:bodyPr wrap="square" lIns="36576" rIns="36576" tIns="36576" bIns="36576" anchor="t">
            <a:spAutoFit/>
          </a:bodyPr>
          <a:lstStyle/>
          <a:p>
            <a:pPr algn="l"/>
            <a:r>
              <a:rPr sz="1000" b="0" i="1">
                <a:solidFill>
                  <a:srgbClr val="6E7A8C"/>
                </a:solidFill>
                <a:latin typeface="Calibri"/>
              </a:rPr>
              <a:t>Computed from length × width × ceiling height × rooms</a:t>
            </a:r>
          </a:p>
        </p:txBody>
      </p:sp>
      <p:sp>
        <p:nvSpPr>
          <p:cNvPr id="18" name="TextBox 17"/>
          <p:cNvSpPr txBox="1"/>
          <p:nvPr/>
        </p:nvSpPr>
        <p:spPr>
          <a:xfrm>
            <a:off x="868680" y="4114800"/>
            <a:ext cx="5669280" cy="365760"/>
          </a:xfrm>
          <a:prstGeom prst="rect">
            <a:avLst/>
          </a:prstGeom>
          <a:noFill/>
        </p:spPr>
        <p:txBody>
          <a:bodyPr wrap="square" lIns="0" rIns="0" tIns="0" bIns="0" anchor="t">
            <a:spAutoFit/>
          </a:bodyPr>
          <a:lstStyle/>
          <a:p>
            <a:pPr algn="l"/>
            <a:r>
              <a:rPr sz="1500" b="1" i="0">
                <a:solidFill>
                  <a:srgbClr val="0B1F3A"/>
                </a:solidFill>
                <a:latin typeface="Georgia"/>
              </a:rPr>
              <a:t>Multipliers (stack, all default to 1.0)</a:t>
            </a:r>
          </a:p>
        </p:txBody>
      </p:sp>
      <p:sp>
        <p:nvSpPr>
          <p:cNvPr id="19" name="TextBox 18"/>
          <p:cNvSpPr txBox="1"/>
          <p:nvPr/>
        </p:nvSpPr>
        <p:spPr>
          <a:xfrm>
            <a:off x="1005840" y="4526280"/>
            <a:ext cx="1280160" cy="256032"/>
          </a:xfrm>
          <a:prstGeom prst="rect">
            <a:avLst/>
          </a:prstGeom>
          <a:noFill/>
        </p:spPr>
        <p:txBody>
          <a:bodyPr wrap="square" lIns="0" rIns="0" tIns="0" bIns="0" anchor="t">
            <a:spAutoFit/>
          </a:bodyPr>
          <a:lstStyle/>
          <a:p>
            <a:pPr algn="l"/>
            <a:r>
              <a:rPr sz="1100" b="1" i="0">
                <a:solidFill>
                  <a:srgbClr val="1E7F4F"/>
                </a:solidFill>
                <a:latin typeface="Consolas"/>
              </a:rPr>
              <a:t>scope</a:t>
            </a:r>
          </a:p>
        </p:txBody>
      </p:sp>
      <p:sp>
        <p:nvSpPr>
          <p:cNvPr id="20" name="TextBox 19"/>
          <p:cNvSpPr txBox="1"/>
          <p:nvPr/>
        </p:nvSpPr>
        <p:spPr>
          <a:xfrm>
            <a:off x="2194560" y="4526280"/>
            <a:ext cx="4297680" cy="256032"/>
          </a:xfrm>
          <a:prstGeom prst="rect">
            <a:avLst/>
          </a:prstGeom>
          <a:noFill/>
        </p:spPr>
        <p:txBody>
          <a:bodyPr wrap="square" lIns="0" rIns="0" tIns="0" bIns="0" anchor="t">
            <a:spAutoFit/>
          </a:bodyPr>
          <a:lstStyle/>
          <a:p>
            <a:pPr algn="l"/>
            <a:r>
              <a:rPr sz="1050" b="0" i="0">
                <a:solidFill>
                  <a:srgbClr val="424E60"/>
                </a:solidFill>
                <a:latin typeface="Calibri"/>
              </a:rPr>
              <a:t>walls 1.0 · walls+ceiling 1.3 · +trim 1.45 · exterior 1.0</a:t>
            </a:r>
          </a:p>
        </p:txBody>
      </p:sp>
      <p:sp>
        <p:nvSpPr>
          <p:cNvPr id="21" name="TextBox 20"/>
          <p:cNvSpPr txBox="1"/>
          <p:nvPr/>
        </p:nvSpPr>
        <p:spPr>
          <a:xfrm>
            <a:off x="1005840" y="4837176"/>
            <a:ext cx="1280160" cy="256032"/>
          </a:xfrm>
          <a:prstGeom prst="rect">
            <a:avLst/>
          </a:prstGeom>
          <a:noFill/>
        </p:spPr>
        <p:txBody>
          <a:bodyPr wrap="square" lIns="0" rIns="0" tIns="0" bIns="0" anchor="t">
            <a:spAutoFit/>
          </a:bodyPr>
          <a:lstStyle/>
          <a:p>
            <a:pPr algn="l"/>
            <a:r>
              <a:rPr sz="1100" b="1" i="0">
                <a:solidFill>
                  <a:srgbClr val="1E7F4F"/>
                </a:solidFill>
                <a:latin typeface="Consolas"/>
              </a:rPr>
              <a:t>surface</a:t>
            </a:r>
          </a:p>
        </p:txBody>
      </p:sp>
      <p:sp>
        <p:nvSpPr>
          <p:cNvPr id="22" name="TextBox 21"/>
          <p:cNvSpPr txBox="1"/>
          <p:nvPr/>
        </p:nvSpPr>
        <p:spPr>
          <a:xfrm>
            <a:off x="2194560" y="4837176"/>
            <a:ext cx="4297680" cy="256032"/>
          </a:xfrm>
          <a:prstGeom prst="rect">
            <a:avLst/>
          </a:prstGeom>
          <a:noFill/>
        </p:spPr>
        <p:txBody>
          <a:bodyPr wrap="square" lIns="0" rIns="0" tIns="0" bIns="0" anchor="t">
            <a:spAutoFit/>
          </a:bodyPr>
          <a:lstStyle/>
          <a:p>
            <a:pPr algn="l"/>
            <a:r>
              <a:rPr sz="1050" b="0" i="0">
                <a:solidFill>
                  <a:srgbClr val="424E60"/>
                </a:solidFill>
                <a:latin typeface="Calibri"/>
              </a:rPr>
              <a:t>drywall 1.0 · concrete 1.10 · wood 1.15 · metal 1.25</a:t>
            </a:r>
          </a:p>
        </p:txBody>
      </p:sp>
      <p:sp>
        <p:nvSpPr>
          <p:cNvPr id="23" name="TextBox 22"/>
          <p:cNvSpPr txBox="1"/>
          <p:nvPr/>
        </p:nvSpPr>
        <p:spPr>
          <a:xfrm>
            <a:off x="1005840" y="5148072"/>
            <a:ext cx="1280160" cy="256032"/>
          </a:xfrm>
          <a:prstGeom prst="rect">
            <a:avLst/>
          </a:prstGeom>
          <a:noFill/>
        </p:spPr>
        <p:txBody>
          <a:bodyPr wrap="square" lIns="0" rIns="0" tIns="0" bIns="0" anchor="t">
            <a:spAutoFit/>
          </a:bodyPr>
          <a:lstStyle/>
          <a:p>
            <a:pPr algn="l"/>
            <a:r>
              <a:rPr sz="1100" b="1" i="0">
                <a:solidFill>
                  <a:srgbClr val="1E7F4F"/>
                </a:solidFill>
                <a:latin typeface="Consolas"/>
              </a:rPr>
              <a:t>condition</a:t>
            </a:r>
          </a:p>
        </p:txBody>
      </p:sp>
      <p:sp>
        <p:nvSpPr>
          <p:cNvPr id="24" name="TextBox 23"/>
          <p:cNvSpPr txBox="1"/>
          <p:nvPr/>
        </p:nvSpPr>
        <p:spPr>
          <a:xfrm>
            <a:off x="2194560" y="5148072"/>
            <a:ext cx="4297680" cy="256032"/>
          </a:xfrm>
          <a:prstGeom prst="rect">
            <a:avLst/>
          </a:prstGeom>
          <a:noFill/>
        </p:spPr>
        <p:txBody>
          <a:bodyPr wrap="square" lIns="0" rIns="0" tIns="0" bIns="0" anchor="t">
            <a:spAutoFit/>
          </a:bodyPr>
          <a:lstStyle/>
          <a:p>
            <a:pPr algn="l"/>
            <a:r>
              <a:rPr sz="1050" b="0" i="0">
                <a:solidFill>
                  <a:srgbClr val="424E60"/>
                </a:solidFill>
                <a:latin typeface="Calibri"/>
              </a:rPr>
              <a:t>brand-new 0.9 · good 1.0 · prep 1.25 · heavy repair 1.55</a:t>
            </a:r>
          </a:p>
        </p:txBody>
      </p:sp>
      <p:sp>
        <p:nvSpPr>
          <p:cNvPr id="25" name="TextBox 24"/>
          <p:cNvSpPr txBox="1"/>
          <p:nvPr/>
        </p:nvSpPr>
        <p:spPr>
          <a:xfrm>
            <a:off x="1005840" y="5458968"/>
            <a:ext cx="1280160" cy="256032"/>
          </a:xfrm>
          <a:prstGeom prst="rect">
            <a:avLst/>
          </a:prstGeom>
          <a:noFill/>
        </p:spPr>
        <p:txBody>
          <a:bodyPr wrap="square" lIns="0" rIns="0" tIns="0" bIns="0" anchor="t">
            <a:spAutoFit/>
          </a:bodyPr>
          <a:lstStyle/>
          <a:p>
            <a:pPr algn="l"/>
            <a:r>
              <a:rPr sz="1100" b="1" i="0">
                <a:solidFill>
                  <a:srgbClr val="1E7F4F"/>
                </a:solidFill>
                <a:latin typeface="Consolas"/>
              </a:rPr>
              <a:t>finish</a:t>
            </a:r>
          </a:p>
        </p:txBody>
      </p:sp>
      <p:sp>
        <p:nvSpPr>
          <p:cNvPr id="26" name="TextBox 25"/>
          <p:cNvSpPr txBox="1"/>
          <p:nvPr/>
        </p:nvSpPr>
        <p:spPr>
          <a:xfrm>
            <a:off x="2194560" y="5458968"/>
            <a:ext cx="4297680" cy="256032"/>
          </a:xfrm>
          <a:prstGeom prst="rect">
            <a:avLst/>
          </a:prstGeom>
          <a:noFill/>
        </p:spPr>
        <p:txBody>
          <a:bodyPr wrap="square" lIns="0" rIns="0" tIns="0" bIns="0" anchor="t">
            <a:spAutoFit/>
          </a:bodyPr>
          <a:lstStyle/>
          <a:p>
            <a:pPr algn="l"/>
            <a:r>
              <a:rPr sz="1050" b="0" i="0">
                <a:solidFill>
                  <a:srgbClr val="424E60"/>
                </a:solidFill>
                <a:latin typeface="Calibri"/>
              </a:rPr>
              <a:t>matte 1.0 · satin 1.05 · semi-gloss 1.12 · gloss 1.18</a:t>
            </a:r>
          </a:p>
        </p:txBody>
      </p:sp>
      <p:sp>
        <p:nvSpPr>
          <p:cNvPr id="27" name="TextBox 26"/>
          <p:cNvSpPr txBox="1"/>
          <p:nvPr/>
        </p:nvSpPr>
        <p:spPr>
          <a:xfrm>
            <a:off x="1005840" y="5769864"/>
            <a:ext cx="1280160" cy="256032"/>
          </a:xfrm>
          <a:prstGeom prst="rect">
            <a:avLst/>
          </a:prstGeom>
          <a:noFill/>
        </p:spPr>
        <p:txBody>
          <a:bodyPr wrap="square" lIns="0" rIns="0" tIns="0" bIns="0" anchor="t">
            <a:spAutoFit/>
          </a:bodyPr>
          <a:lstStyle/>
          <a:p>
            <a:pPr algn="l"/>
            <a:r>
              <a:rPr sz="1100" b="1" i="0">
                <a:solidFill>
                  <a:srgbClr val="1E7F4F"/>
                </a:solidFill>
                <a:latin typeface="Consolas"/>
              </a:rPr>
              <a:t>tier</a:t>
            </a:r>
          </a:p>
        </p:txBody>
      </p:sp>
      <p:sp>
        <p:nvSpPr>
          <p:cNvPr id="28" name="TextBox 27"/>
          <p:cNvSpPr txBox="1"/>
          <p:nvPr/>
        </p:nvSpPr>
        <p:spPr>
          <a:xfrm>
            <a:off x="2194560" y="5769864"/>
            <a:ext cx="4297680" cy="256032"/>
          </a:xfrm>
          <a:prstGeom prst="rect">
            <a:avLst/>
          </a:prstGeom>
          <a:noFill/>
        </p:spPr>
        <p:txBody>
          <a:bodyPr wrap="square" lIns="0" rIns="0" tIns="0" bIns="0" anchor="t">
            <a:spAutoFit/>
          </a:bodyPr>
          <a:lstStyle/>
          <a:p>
            <a:pPr algn="l"/>
            <a:r>
              <a:rPr sz="1050" b="0" i="0">
                <a:solidFill>
                  <a:srgbClr val="424E60"/>
                </a:solidFill>
                <a:latin typeface="Calibri"/>
              </a:rPr>
              <a:t>standard 0.85 · premium 1.0 · luxury / imported 1.40</a:t>
            </a:r>
          </a:p>
        </p:txBody>
      </p:sp>
      <p:sp>
        <p:nvSpPr>
          <p:cNvPr id="29" name="TextBox 28"/>
          <p:cNvSpPr txBox="1"/>
          <p:nvPr/>
        </p:nvSpPr>
        <p:spPr>
          <a:xfrm>
            <a:off x="6858000" y="1234440"/>
            <a:ext cx="4937760" cy="365760"/>
          </a:xfrm>
          <a:prstGeom prst="rect">
            <a:avLst/>
          </a:prstGeom>
          <a:noFill/>
        </p:spPr>
        <p:txBody>
          <a:bodyPr wrap="square" lIns="0" rIns="0" tIns="0" bIns="0" anchor="t">
            <a:spAutoFit/>
          </a:bodyPr>
          <a:lstStyle/>
          <a:p>
            <a:pPr algn="l"/>
            <a:r>
              <a:rPr sz="1500" b="1" i="0">
                <a:solidFill>
                  <a:srgbClr val="0B1F3A"/>
                </a:solidFill>
                <a:latin typeface="Georgia"/>
              </a:rPr>
              <a:t>How the numbers compose</a:t>
            </a:r>
          </a:p>
        </p:txBody>
      </p:sp>
      <p:sp>
        <p:nvSpPr>
          <p:cNvPr id="30" name="Rectangle 29"/>
          <p:cNvSpPr/>
          <p:nvPr/>
        </p:nvSpPr>
        <p:spPr>
          <a:xfrm>
            <a:off x="6858000" y="1627632"/>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0" y="1664208"/>
            <a:ext cx="1371600" cy="274320"/>
          </a:xfrm>
          <a:prstGeom prst="rect">
            <a:avLst/>
          </a:prstGeom>
          <a:noFill/>
        </p:spPr>
        <p:txBody>
          <a:bodyPr wrap="square" lIns="0" rIns="0" tIns="0" bIns="0" anchor="t">
            <a:spAutoFit/>
          </a:bodyPr>
          <a:lstStyle/>
          <a:p>
            <a:pPr algn="l"/>
            <a:r>
              <a:rPr sz="1100" b="1" i="0">
                <a:solidFill>
                  <a:srgbClr val="1E7F4F"/>
                </a:solidFill>
                <a:latin typeface="Consolas"/>
              </a:rPr>
              <a:t>labour</a:t>
            </a:r>
          </a:p>
        </p:txBody>
      </p:sp>
      <p:sp>
        <p:nvSpPr>
          <p:cNvPr id="32" name="TextBox 31"/>
          <p:cNvSpPr txBox="1"/>
          <p:nvPr/>
        </p:nvSpPr>
        <p:spPr>
          <a:xfrm>
            <a:off x="8229600" y="1664208"/>
            <a:ext cx="3520440" cy="274320"/>
          </a:xfrm>
          <a:prstGeom prst="rect">
            <a:avLst/>
          </a:prstGeom>
          <a:noFill/>
        </p:spPr>
        <p:txBody>
          <a:bodyPr wrap="square" lIns="0" rIns="0" tIns="0" bIns="0" anchor="t">
            <a:spAutoFit/>
          </a:bodyPr>
          <a:lstStyle/>
          <a:p>
            <a:pPr algn="l"/>
            <a:r>
              <a:rPr sz="1050" b="0" i="0">
                <a:solidFill>
                  <a:srgbClr val="424E60"/>
                </a:solidFill>
                <a:latin typeface="Consolas"/>
              </a:rPr>
              <a:t>svc.labor × surface × finish × scope × area</a:t>
            </a:r>
          </a:p>
        </p:txBody>
      </p:sp>
      <p:sp>
        <p:nvSpPr>
          <p:cNvPr id="33" name="Rectangle 32"/>
          <p:cNvSpPr/>
          <p:nvPr/>
        </p:nvSpPr>
        <p:spPr>
          <a:xfrm>
            <a:off x="6858000" y="2011680"/>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2048256"/>
            <a:ext cx="1371600" cy="274320"/>
          </a:xfrm>
          <a:prstGeom prst="rect">
            <a:avLst/>
          </a:prstGeom>
          <a:noFill/>
        </p:spPr>
        <p:txBody>
          <a:bodyPr wrap="square" lIns="0" rIns="0" tIns="0" bIns="0" anchor="t">
            <a:spAutoFit/>
          </a:bodyPr>
          <a:lstStyle/>
          <a:p>
            <a:pPr algn="l"/>
            <a:r>
              <a:rPr sz="1100" b="1" i="0">
                <a:solidFill>
                  <a:srgbClr val="1E7F4F"/>
                </a:solidFill>
                <a:latin typeface="Consolas"/>
              </a:rPr>
              <a:t>materials</a:t>
            </a:r>
          </a:p>
        </p:txBody>
      </p:sp>
      <p:sp>
        <p:nvSpPr>
          <p:cNvPr id="35" name="TextBox 34"/>
          <p:cNvSpPr txBox="1"/>
          <p:nvPr/>
        </p:nvSpPr>
        <p:spPr>
          <a:xfrm>
            <a:off x="8229600" y="2048256"/>
            <a:ext cx="3520440" cy="274320"/>
          </a:xfrm>
          <a:prstGeom prst="rect">
            <a:avLst/>
          </a:prstGeom>
          <a:noFill/>
        </p:spPr>
        <p:txBody>
          <a:bodyPr wrap="square" lIns="0" rIns="0" tIns="0" bIns="0" anchor="t">
            <a:spAutoFit/>
          </a:bodyPr>
          <a:lstStyle/>
          <a:p>
            <a:pPr algn="l"/>
            <a:r>
              <a:rPr sz="1050" b="0" i="0">
                <a:solidFill>
                  <a:srgbClr val="424E60"/>
                </a:solidFill>
                <a:latin typeface="Consolas"/>
              </a:rPr>
              <a:t>svc.material × tier × surface × finish × area</a:t>
            </a:r>
          </a:p>
        </p:txBody>
      </p:sp>
      <p:sp>
        <p:nvSpPr>
          <p:cNvPr id="36" name="Rectangle 35"/>
          <p:cNvSpPr/>
          <p:nvPr/>
        </p:nvSpPr>
        <p:spPr>
          <a:xfrm>
            <a:off x="6858000" y="2395728"/>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2432304"/>
            <a:ext cx="1371600" cy="274320"/>
          </a:xfrm>
          <a:prstGeom prst="rect">
            <a:avLst/>
          </a:prstGeom>
          <a:noFill/>
        </p:spPr>
        <p:txBody>
          <a:bodyPr wrap="square" lIns="0" rIns="0" tIns="0" bIns="0" anchor="t">
            <a:spAutoFit/>
          </a:bodyPr>
          <a:lstStyle/>
          <a:p>
            <a:pPr algn="l"/>
            <a:r>
              <a:rPr sz="1100" b="1" i="0">
                <a:solidFill>
                  <a:srgbClr val="1E7F4F"/>
                </a:solidFill>
                <a:latin typeface="Consolas"/>
              </a:rPr>
              <a:t>subtotal_0</a:t>
            </a:r>
          </a:p>
        </p:txBody>
      </p:sp>
      <p:sp>
        <p:nvSpPr>
          <p:cNvPr id="38" name="TextBox 37"/>
          <p:cNvSpPr txBox="1"/>
          <p:nvPr/>
        </p:nvSpPr>
        <p:spPr>
          <a:xfrm>
            <a:off x="8229600" y="2432304"/>
            <a:ext cx="3520440" cy="274320"/>
          </a:xfrm>
          <a:prstGeom prst="rect">
            <a:avLst/>
          </a:prstGeom>
          <a:noFill/>
        </p:spPr>
        <p:txBody>
          <a:bodyPr wrap="square" lIns="0" rIns="0" tIns="0" bIns="0" anchor="t">
            <a:spAutoFit/>
          </a:bodyPr>
          <a:lstStyle/>
          <a:p>
            <a:pPr algn="l"/>
            <a:r>
              <a:rPr sz="1050" b="0" i="0">
                <a:solidFill>
                  <a:srgbClr val="424E60"/>
                </a:solidFill>
                <a:latin typeface="Consolas"/>
              </a:rPr>
              <a:t>labour + materials</a:t>
            </a:r>
          </a:p>
        </p:txBody>
      </p:sp>
      <p:sp>
        <p:nvSpPr>
          <p:cNvPr id="39" name="Rectangle 38"/>
          <p:cNvSpPr/>
          <p:nvPr/>
        </p:nvSpPr>
        <p:spPr>
          <a:xfrm>
            <a:off x="6858000" y="2779776"/>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9440" y="2816352"/>
            <a:ext cx="1371600" cy="274320"/>
          </a:xfrm>
          <a:prstGeom prst="rect">
            <a:avLst/>
          </a:prstGeom>
          <a:noFill/>
        </p:spPr>
        <p:txBody>
          <a:bodyPr wrap="square" lIns="0" rIns="0" tIns="0" bIns="0" anchor="t">
            <a:spAutoFit/>
          </a:bodyPr>
          <a:lstStyle/>
          <a:p>
            <a:pPr algn="l"/>
            <a:r>
              <a:rPr sz="1100" b="1" i="0">
                <a:solidFill>
                  <a:srgbClr val="1E7F4F"/>
                </a:solidFill>
                <a:latin typeface="Consolas"/>
              </a:rPr>
              <a:t>prep</a:t>
            </a:r>
          </a:p>
        </p:txBody>
      </p:sp>
      <p:sp>
        <p:nvSpPr>
          <p:cNvPr id="41" name="TextBox 40"/>
          <p:cNvSpPr txBox="1"/>
          <p:nvPr/>
        </p:nvSpPr>
        <p:spPr>
          <a:xfrm>
            <a:off x="8229600" y="2816352"/>
            <a:ext cx="3520440" cy="274320"/>
          </a:xfrm>
          <a:prstGeom prst="rect">
            <a:avLst/>
          </a:prstGeom>
          <a:noFill/>
        </p:spPr>
        <p:txBody>
          <a:bodyPr wrap="square" lIns="0" rIns="0" tIns="0" bIns="0" anchor="t">
            <a:spAutoFit/>
          </a:bodyPr>
          <a:lstStyle/>
          <a:p>
            <a:pPr algn="l"/>
            <a:r>
              <a:rPr sz="1050" b="0" i="0">
                <a:solidFill>
                  <a:srgbClr val="424E60"/>
                </a:solidFill>
                <a:latin typeface="Consolas"/>
              </a:rPr>
              <a:t>(condition − 1) × subtotal_0</a:t>
            </a:r>
          </a:p>
        </p:txBody>
      </p:sp>
      <p:sp>
        <p:nvSpPr>
          <p:cNvPr id="42" name="Rectangle 41"/>
          <p:cNvSpPr/>
          <p:nvPr/>
        </p:nvSpPr>
        <p:spPr>
          <a:xfrm>
            <a:off x="6858000" y="3163824"/>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0" y="3200400"/>
            <a:ext cx="1371600" cy="274320"/>
          </a:xfrm>
          <a:prstGeom prst="rect">
            <a:avLst/>
          </a:prstGeom>
          <a:noFill/>
        </p:spPr>
        <p:txBody>
          <a:bodyPr wrap="square" lIns="0" rIns="0" tIns="0" bIns="0" anchor="t">
            <a:spAutoFit/>
          </a:bodyPr>
          <a:lstStyle/>
          <a:p>
            <a:pPr algn="l"/>
            <a:r>
              <a:rPr sz="1100" b="1" i="0">
                <a:solidFill>
                  <a:srgbClr val="1E7F4F"/>
                </a:solidFill>
                <a:latin typeface="Consolas"/>
              </a:rPr>
              <a:t>addons</a:t>
            </a:r>
          </a:p>
        </p:txBody>
      </p:sp>
      <p:sp>
        <p:nvSpPr>
          <p:cNvPr id="44" name="TextBox 43"/>
          <p:cNvSpPr txBox="1"/>
          <p:nvPr/>
        </p:nvSpPr>
        <p:spPr>
          <a:xfrm>
            <a:off x="8229600" y="3200400"/>
            <a:ext cx="3520440" cy="274320"/>
          </a:xfrm>
          <a:prstGeom prst="rect">
            <a:avLst/>
          </a:prstGeom>
          <a:noFill/>
        </p:spPr>
        <p:txBody>
          <a:bodyPr wrap="square" lIns="0" rIns="0" tIns="0" bIns="0" anchor="t">
            <a:spAutoFit/>
          </a:bodyPr>
          <a:lstStyle/>
          <a:p>
            <a:pPr algn="l"/>
            <a:r>
              <a:rPr sz="1050" b="0" i="0">
                <a:solidFill>
                  <a:srgbClr val="424E60"/>
                </a:solidFill>
                <a:latin typeface="Consolas"/>
              </a:rPr>
              <a:t>flat fees + (subtotal_0 × percent uplifts)</a:t>
            </a:r>
          </a:p>
        </p:txBody>
      </p:sp>
      <p:sp>
        <p:nvSpPr>
          <p:cNvPr id="45" name="Rectangle 44"/>
          <p:cNvSpPr/>
          <p:nvPr/>
        </p:nvSpPr>
        <p:spPr>
          <a:xfrm>
            <a:off x="6858000" y="3547872"/>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3584448"/>
            <a:ext cx="1371600" cy="274320"/>
          </a:xfrm>
          <a:prstGeom prst="rect">
            <a:avLst/>
          </a:prstGeom>
          <a:noFill/>
        </p:spPr>
        <p:txBody>
          <a:bodyPr wrap="square" lIns="0" rIns="0" tIns="0" bIns="0" anchor="t">
            <a:spAutoFit/>
          </a:bodyPr>
          <a:lstStyle/>
          <a:p>
            <a:pPr algn="l"/>
            <a:r>
              <a:rPr sz="1100" b="1" i="0">
                <a:solidFill>
                  <a:srgbClr val="1E7F4F"/>
                </a:solidFill>
                <a:latin typeface="Consolas"/>
              </a:rPr>
              <a:t>travel</a:t>
            </a:r>
          </a:p>
        </p:txBody>
      </p:sp>
      <p:sp>
        <p:nvSpPr>
          <p:cNvPr id="47" name="TextBox 46"/>
          <p:cNvSpPr txBox="1"/>
          <p:nvPr/>
        </p:nvSpPr>
        <p:spPr>
          <a:xfrm>
            <a:off x="8229600" y="3584448"/>
            <a:ext cx="3520440" cy="274320"/>
          </a:xfrm>
          <a:prstGeom prst="rect">
            <a:avLst/>
          </a:prstGeom>
          <a:noFill/>
        </p:spPr>
        <p:txBody>
          <a:bodyPr wrap="square" lIns="0" rIns="0" tIns="0" bIns="0" anchor="t">
            <a:spAutoFit/>
          </a:bodyPr>
          <a:lstStyle/>
          <a:p>
            <a:pPr algn="l"/>
            <a:r>
              <a:rPr sz="1050" b="0" i="0">
                <a:solidFill>
                  <a:srgbClr val="424E60"/>
                </a:solidFill>
                <a:latin typeface="Consolas"/>
              </a:rPr>
              <a:t>(subtotal_0 + addons) × (region − 1)</a:t>
            </a:r>
          </a:p>
        </p:txBody>
      </p:sp>
      <p:sp>
        <p:nvSpPr>
          <p:cNvPr id="48" name="Rectangle 47"/>
          <p:cNvSpPr/>
          <p:nvPr/>
        </p:nvSpPr>
        <p:spPr>
          <a:xfrm>
            <a:off x="6858000" y="3931920"/>
            <a:ext cx="4937760" cy="329184"/>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49440" y="3968496"/>
            <a:ext cx="1371600" cy="274320"/>
          </a:xfrm>
          <a:prstGeom prst="rect">
            <a:avLst/>
          </a:prstGeom>
          <a:noFill/>
        </p:spPr>
        <p:txBody>
          <a:bodyPr wrap="square" lIns="0" rIns="0" tIns="0" bIns="0" anchor="t">
            <a:spAutoFit/>
          </a:bodyPr>
          <a:lstStyle/>
          <a:p>
            <a:pPr algn="l"/>
            <a:r>
              <a:rPr sz="1100" b="1" i="0">
                <a:solidFill>
                  <a:srgbClr val="1E7F4F"/>
                </a:solidFill>
                <a:latin typeface="Consolas"/>
              </a:rPr>
              <a:t>VAT</a:t>
            </a:r>
          </a:p>
        </p:txBody>
      </p:sp>
      <p:sp>
        <p:nvSpPr>
          <p:cNvPr id="50" name="TextBox 49"/>
          <p:cNvSpPr txBox="1"/>
          <p:nvPr/>
        </p:nvSpPr>
        <p:spPr>
          <a:xfrm>
            <a:off x="8229600" y="3968496"/>
            <a:ext cx="3520440" cy="274320"/>
          </a:xfrm>
          <a:prstGeom prst="rect">
            <a:avLst/>
          </a:prstGeom>
          <a:noFill/>
        </p:spPr>
        <p:txBody>
          <a:bodyPr wrap="square" lIns="0" rIns="0" tIns="0" bIns="0" anchor="t">
            <a:spAutoFit/>
          </a:bodyPr>
          <a:lstStyle/>
          <a:p>
            <a:pPr algn="l"/>
            <a:r>
              <a:rPr sz="1050" b="0" i="0">
                <a:solidFill>
                  <a:srgbClr val="424E60"/>
                </a:solidFill>
                <a:latin typeface="Consolas"/>
              </a:rPr>
              <a:t>totalExVAT × 0.125  ← Ghana VAT</a:t>
            </a:r>
          </a:p>
        </p:txBody>
      </p:sp>
      <p:sp>
        <p:nvSpPr>
          <p:cNvPr id="51" name="Rectangle 50"/>
          <p:cNvSpPr/>
          <p:nvPr/>
        </p:nvSpPr>
        <p:spPr>
          <a:xfrm>
            <a:off x="6858000" y="4315968"/>
            <a:ext cx="4937760" cy="329184"/>
          </a:xfrm>
          <a:prstGeom prst="rect">
            <a:avLst/>
          </a:prstGeom>
          <a:solidFill>
            <a:srgbClr val="FEF1C9"/>
          </a:solidFill>
          <a:ln w="5080">
            <a:solidFill>
              <a:srgbClr val="F5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9440" y="4352544"/>
            <a:ext cx="1371600" cy="274320"/>
          </a:xfrm>
          <a:prstGeom prst="rect">
            <a:avLst/>
          </a:prstGeom>
          <a:noFill/>
        </p:spPr>
        <p:txBody>
          <a:bodyPr wrap="square" lIns="0" rIns="0" tIns="0" bIns="0" anchor="t">
            <a:spAutoFit/>
          </a:bodyPr>
          <a:lstStyle/>
          <a:p>
            <a:pPr algn="l"/>
            <a:r>
              <a:rPr sz="1100" b="1" i="0">
                <a:solidFill>
                  <a:srgbClr val="0B1F3A"/>
                </a:solidFill>
                <a:latin typeface="Consolas"/>
              </a:rPr>
              <a:t>TOTAL</a:t>
            </a:r>
          </a:p>
        </p:txBody>
      </p:sp>
      <p:sp>
        <p:nvSpPr>
          <p:cNvPr id="53" name="TextBox 52"/>
          <p:cNvSpPr txBox="1"/>
          <p:nvPr/>
        </p:nvSpPr>
        <p:spPr>
          <a:xfrm>
            <a:off x="8229600" y="4352544"/>
            <a:ext cx="3520440" cy="274320"/>
          </a:xfrm>
          <a:prstGeom prst="rect">
            <a:avLst/>
          </a:prstGeom>
          <a:noFill/>
        </p:spPr>
        <p:txBody>
          <a:bodyPr wrap="square" lIns="0" rIns="0" tIns="0" bIns="0" anchor="t">
            <a:spAutoFit/>
          </a:bodyPr>
          <a:lstStyle/>
          <a:p>
            <a:pPr algn="l"/>
            <a:r>
              <a:rPr sz="1050" b="1" i="0">
                <a:solidFill>
                  <a:srgbClr val="0B1F3A"/>
                </a:solidFill>
                <a:latin typeface="Consolas"/>
              </a:rPr>
              <a:t>totalExVAT + VAT</a:t>
            </a:r>
          </a:p>
        </p:txBody>
      </p:sp>
      <p:sp>
        <p:nvSpPr>
          <p:cNvPr id="54" name="TextBox 53"/>
          <p:cNvSpPr txBox="1"/>
          <p:nvPr/>
        </p:nvSpPr>
        <p:spPr>
          <a:xfrm>
            <a:off x="6858000" y="4800600"/>
            <a:ext cx="4937760" cy="274320"/>
          </a:xfrm>
          <a:prstGeom prst="rect">
            <a:avLst/>
          </a:prstGeom>
          <a:noFill/>
        </p:spPr>
        <p:txBody>
          <a:bodyPr wrap="square" lIns="0" rIns="0" tIns="0" bIns="0" anchor="t">
            <a:spAutoFit/>
          </a:bodyPr>
          <a:lstStyle/>
          <a:p>
            <a:pPr algn="l"/>
            <a:r>
              <a:rPr sz="1300" b="1" i="0">
                <a:solidFill>
                  <a:srgbClr val="0B1F3A"/>
                </a:solidFill>
                <a:latin typeface="Georgia"/>
              </a:rPr>
              <a:t>Add-ons in the catalog</a:t>
            </a:r>
          </a:p>
        </p:txBody>
      </p:sp>
      <p:sp>
        <p:nvSpPr>
          <p:cNvPr id="55" name="TextBox 54"/>
          <p:cNvSpPr txBox="1"/>
          <p:nvPr/>
        </p:nvSpPr>
        <p:spPr>
          <a:xfrm>
            <a:off x="6995160" y="5166360"/>
            <a:ext cx="2926080" cy="201168"/>
          </a:xfrm>
          <a:prstGeom prst="rect">
            <a:avLst/>
          </a:prstGeom>
          <a:noFill/>
        </p:spPr>
        <p:txBody>
          <a:bodyPr wrap="square" lIns="0" rIns="0" tIns="0" bIns="0" anchor="t">
            <a:spAutoFit/>
          </a:bodyPr>
          <a:lstStyle/>
          <a:p>
            <a:pPr algn="l"/>
            <a:r>
              <a:rPr sz="1000" b="0" i="0">
                <a:solidFill>
                  <a:srgbClr val="424E60"/>
                </a:solidFill>
                <a:latin typeface="Calibri"/>
              </a:rPr>
              <a:t>Furniture protection</a:t>
            </a:r>
          </a:p>
        </p:txBody>
      </p:sp>
      <p:sp>
        <p:nvSpPr>
          <p:cNvPr id="56" name="TextBox 55"/>
          <p:cNvSpPr txBox="1"/>
          <p:nvPr/>
        </p:nvSpPr>
        <p:spPr>
          <a:xfrm>
            <a:off x="9921240" y="5166360"/>
            <a:ext cx="1828800" cy="201168"/>
          </a:xfrm>
          <a:prstGeom prst="rect">
            <a:avLst/>
          </a:prstGeom>
          <a:noFill/>
        </p:spPr>
        <p:txBody>
          <a:bodyPr wrap="square" lIns="0" rIns="0" tIns="0" bIns="0" anchor="t">
            <a:spAutoFit/>
          </a:bodyPr>
          <a:lstStyle/>
          <a:p>
            <a:pPr algn="r"/>
            <a:r>
              <a:rPr sz="1000" b="1" i="0">
                <a:solidFill>
                  <a:srgbClr val="0B1F3A"/>
                </a:solidFill>
                <a:latin typeface="Calibri"/>
              </a:rPr>
              <a:t>+ ₵350 flat</a:t>
            </a:r>
          </a:p>
        </p:txBody>
      </p:sp>
      <p:sp>
        <p:nvSpPr>
          <p:cNvPr id="57" name="TextBox 56"/>
          <p:cNvSpPr txBox="1"/>
          <p:nvPr/>
        </p:nvSpPr>
        <p:spPr>
          <a:xfrm>
            <a:off x="6995160" y="5381244"/>
            <a:ext cx="2926080" cy="201168"/>
          </a:xfrm>
          <a:prstGeom prst="rect">
            <a:avLst/>
          </a:prstGeom>
          <a:noFill/>
        </p:spPr>
        <p:txBody>
          <a:bodyPr wrap="square" lIns="0" rIns="0" tIns="0" bIns="0" anchor="t">
            <a:spAutoFit/>
          </a:bodyPr>
          <a:lstStyle/>
          <a:p>
            <a:pPr algn="l"/>
            <a:r>
              <a:rPr sz="1000" b="0" i="0">
                <a:solidFill>
                  <a:srgbClr val="424E60"/>
                </a:solidFill>
                <a:latin typeface="Calibri"/>
              </a:rPr>
              <a:t>Furniture moving</a:t>
            </a:r>
          </a:p>
        </p:txBody>
      </p:sp>
      <p:sp>
        <p:nvSpPr>
          <p:cNvPr id="58" name="TextBox 57"/>
          <p:cNvSpPr txBox="1"/>
          <p:nvPr/>
        </p:nvSpPr>
        <p:spPr>
          <a:xfrm>
            <a:off x="9921240" y="5381244"/>
            <a:ext cx="1828800" cy="201168"/>
          </a:xfrm>
          <a:prstGeom prst="rect">
            <a:avLst/>
          </a:prstGeom>
          <a:noFill/>
        </p:spPr>
        <p:txBody>
          <a:bodyPr wrap="square" lIns="0" rIns="0" tIns="0" bIns="0" anchor="t">
            <a:spAutoFit/>
          </a:bodyPr>
          <a:lstStyle/>
          <a:p>
            <a:pPr algn="r"/>
            <a:r>
              <a:rPr sz="1000" b="1" i="0">
                <a:solidFill>
                  <a:srgbClr val="0B1F3A"/>
                </a:solidFill>
                <a:latin typeface="Calibri"/>
              </a:rPr>
              <a:t>+ ₵500 flat</a:t>
            </a:r>
          </a:p>
        </p:txBody>
      </p:sp>
      <p:sp>
        <p:nvSpPr>
          <p:cNvPr id="59" name="TextBox 58"/>
          <p:cNvSpPr txBox="1"/>
          <p:nvPr/>
        </p:nvSpPr>
        <p:spPr>
          <a:xfrm>
            <a:off x="6995160" y="5596128"/>
            <a:ext cx="2926080" cy="201168"/>
          </a:xfrm>
          <a:prstGeom prst="rect">
            <a:avLst/>
          </a:prstGeom>
          <a:noFill/>
        </p:spPr>
        <p:txBody>
          <a:bodyPr wrap="square" lIns="0" rIns="0" tIns="0" bIns="0" anchor="t">
            <a:spAutoFit/>
          </a:bodyPr>
          <a:lstStyle/>
          <a:p>
            <a:pPr algn="l"/>
            <a:r>
              <a:rPr sz="1000" b="0" i="0">
                <a:solidFill>
                  <a:srgbClr val="424E60"/>
                </a:solidFill>
                <a:latin typeface="Calibri"/>
              </a:rPr>
              <a:t>Custom colour match</a:t>
            </a:r>
          </a:p>
        </p:txBody>
      </p:sp>
      <p:sp>
        <p:nvSpPr>
          <p:cNvPr id="60" name="TextBox 59"/>
          <p:cNvSpPr txBox="1"/>
          <p:nvPr/>
        </p:nvSpPr>
        <p:spPr>
          <a:xfrm>
            <a:off x="9921240" y="5596128"/>
            <a:ext cx="1828800" cy="201168"/>
          </a:xfrm>
          <a:prstGeom prst="rect">
            <a:avLst/>
          </a:prstGeom>
          <a:noFill/>
        </p:spPr>
        <p:txBody>
          <a:bodyPr wrap="square" lIns="0" rIns="0" tIns="0" bIns="0" anchor="t">
            <a:spAutoFit/>
          </a:bodyPr>
          <a:lstStyle/>
          <a:p>
            <a:pPr algn="r"/>
            <a:r>
              <a:rPr sz="1000" b="1" i="0">
                <a:solidFill>
                  <a:srgbClr val="0B1F3A"/>
                </a:solidFill>
                <a:latin typeface="Calibri"/>
              </a:rPr>
              <a:t>+ ₵250 flat</a:t>
            </a:r>
          </a:p>
        </p:txBody>
      </p:sp>
      <p:sp>
        <p:nvSpPr>
          <p:cNvPr id="61" name="TextBox 60"/>
          <p:cNvSpPr txBox="1"/>
          <p:nvPr/>
        </p:nvSpPr>
        <p:spPr>
          <a:xfrm>
            <a:off x="6995160" y="5811012"/>
            <a:ext cx="2926080" cy="201168"/>
          </a:xfrm>
          <a:prstGeom prst="rect">
            <a:avLst/>
          </a:prstGeom>
          <a:noFill/>
        </p:spPr>
        <p:txBody>
          <a:bodyPr wrap="square" lIns="0" rIns="0" tIns="0" bIns="0" anchor="t">
            <a:spAutoFit/>
          </a:bodyPr>
          <a:lstStyle/>
          <a:p>
            <a:pPr algn="l"/>
            <a:r>
              <a:rPr sz="1000" b="0" i="0">
                <a:solidFill>
                  <a:srgbClr val="424E60"/>
                </a:solidFill>
                <a:latin typeface="Calibri"/>
              </a:rPr>
              <a:t>Weekend / after-hours</a:t>
            </a:r>
          </a:p>
        </p:txBody>
      </p:sp>
      <p:sp>
        <p:nvSpPr>
          <p:cNvPr id="62" name="TextBox 61"/>
          <p:cNvSpPr txBox="1"/>
          <p:nvPr/>
        </p:nvSpPr>
        <p:spPr>
          <a:xfrm>
            <a:off x="9921240" y="5811012"/>
            <a:ext cx="1828800" cy="201168"/>
          </a:xfrm>
          <a:prstGeom prst="rect">
            <a:avLst/>
          </a:prstGeom>
          <a:noFill/>
        </p:spPr>
        <p:txBody>
          <a:bodyPr wrap="square" lIns="0" rIns="0" tIns="0" bIns="0" anchor="t">
            <a:spAutoFit/>
          </a:bodyPr>
          <a:lstStyle/>
          <a:p>
            <a:pPr algn="r"/>
            <a:r>
              <a:rPr sz="1000" b="1" i="0">
                <a:solidFill>
                  <a:srgbClr val="0B1F3A"/>
                </a:solidFill>
                <a:latin typeface="Calibri"/>
              </a:rPr>
              <a:t>+ 15% subtotal</a:t>
            </a:r>
          </a:p>
        </p:txBody>
      </p:sp>
      <p:sp>
        <p:nvSpPr>
          <p:cNvPr id="63" name="TextBox 62"/>
          <p:cNvSpPr txBox="1"/>
          <p:nvPr/>
        </p:nvSpPr>
        <p:spPr>
          <a:xfrm>
            <a:off x="6995160" y="6025896"/>
            <a:ext cx="2926080" cy="201168"/>
          </a:xfrm>
          <a:prstGeom prst="rect">
            <a:avLst/>
          </a:prstGeom>
          <a:noFill/>
        </p:spPr>
        <p:txBody>
          <a:bodyPr wrap="square" lIns="0" rIns="0" tIns="0" bIns="0" anchor="t">
            <a:spAutoFit/>
          </a:bodyPr>
          <a:lstStyle/>
          <a:p>
            <a:pPr algn="l"/>
            <a:r>
              <a:rPr sz="1000" b="0" i="0">
                <a:solidFill>
                  <a:srgbClr val="424E60"/>
                </a:solidFill>
                <a:latin typeface="Calibri"/>
              </a:rPr>
              <a:t>Rush (start within 48h)</a:t>
            </a:r>
          </a:p>
        </p:txBody>
      </p:sp>
      <p:sp>
        <p:nvSpPr>
          <p:cNvPr id="64" name="TextBox 63"/>
          <p:cNvSpPr txBox="1"/>
          <p:nvPr/>
        </p:nvSpPr>
        <p:spPr>
          <a:xfrm>
            <a:off x="9921240" y="6025896"/>
            <a:ext cx="1828800" cy="201168"/>
          </a:xfrm>
          <a:prstGeom prst="rect">
            <a:avLst/>
          </a:prstGeom>
          <a:noFill/>
        </p:spPr>
        <p:txBody>
          <a:bodyPr wrap="square" lIns="0" rIns="0" tIns="0" bIns="0" anchor="t">
            <a:spAutoFit/>
          </a:bodyPr>
          <a:lstStyle/>
          <a:p>
            <a:pPr algn="r"/>
            <a:r>
              <a:rPr sz="1000" b="1" i="0">
                <a:solidFill>
                  <a:srgbClr val="0B1F3A"/>
                </a:solidFill>
                <a:latin typeface="Calibri"/>
              </a:rPr>
              <a:t>+ 20% subtotal</a:t>
            </a:r>
          </a:p>
        </p:txBody>
      </p:sp>
      <p:sp>
        <p:nvSpPr>
          <p:cNvPr id="65" name="TextBox 64"/>
          <p:cNvSpPr txBox="1"/>
          <p:nvPr/>
        </p:nvSpPr>
        <p:spPr>
          <a:xfrm>
            <a:off x="6995160" y="6240780"/>
            <a:ext cx="2926080" cy="201168"/>
          </a:xfrm>
          <a:prstGeom prst="rect">
            <a:avLst/>
          </a:prstGeom>
          <a:noFill/>
        </p:spPr>
        <p:txBody>
          <a:bodyPr wrap="square" lIns="0" rIns="0" tIns="0" bIns="0" anchor="t">
            <a:spAutoFit/>
          </a:bodyPr>
          <a:lstStyle/>
          <a:p>
            <a:pPr algn="l"/>
            <a:r>
              <a:rPr sz="1000" b="0" i="0">
                <a:solidFill>
                  <a:srgbClr val="424E60"/>
                </a:solidFill>
                <a:latin typeface="Calibri"/>
              </a:rPr>
              <a:t>Old paint disposal</a:t>
            </a:r>
          </a:p>
        </p:txBody>
      </p:sp>
      <p:sp>
        <p:nvSpPr>
          <p:cNvPr id="66" name="TextBox 65"/>
          <p:cNvSpPr txBox="1"/>
          <p:nvPr/>
        </p:nvSpPr>
        <p:spPr>
          <a:xfrm>
            <a:off x="9921240" y="6240780"/>
            <a:ext cx="1828800" cy="201168"/>
          </a:xfrm>
          <a:prstGeom prst="rect">
            <a:avLst/>
          </a:prstGeom>
          <a:noFill/>
        </p:spPr>
        <p:txBody>
          <a:bodyPr wrap="square" lIns="0" rIns="0" tIns="0" bIns="0" anchor="t">
            <a:spAutoFit/>
          </a:bodyPr>
          <a:lstStyle/>
          <a:p>
            <a:pPr algn="r"/>
            <a:r>
              <a:rPr sz="1000" b="1" i="0">
                <a:solidFill>
                  <a:srgbClr val="0B1F3A"/>
                </a:solidFill>
                <a:latin typeface="Calibri"/>
              </a:rPr>
              <a:t>+ ₵200 flat</a:t>
            </a:r>
          </a:p>
        </p:txBody>
      </p:sp>
      <p:sp>
        <p:nvSpPr>
          <p:cNvPr id="67" name="TextBox 66"/>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68" name="TextBox 67"/>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Worked example: 4 × 5 m bedroom repaint</a:t>
            </a:r>
          </a:p>
        </p:txBody>
      </p:sp>
      <p:sp>
        <p:nvSpPr>
          <p:cNvPr id="5" name="TextBox 4"/>
          <p:cNvSpPr txBox="1"/>
          <p:nvPr/>
        </p:nvSpPr>
        <p:spPr>
          <a:xfrm>
            <a:off x="868680" y="1280160"/>
            <a:ext cx="5029200" cy="365760"/>
          </a:xfrm>
          <a:prstGeom prst="rect">
            <a:avLst/>
          </a:prstGeom>
          <a:noFill/>
        </p:spPr>
        <p:txBody>
          <a:bodyPr wrap="square" lIns="0" rIns="0" tIns="0" bIns="0" anchor="t">
            <a:spAutoFit/>
          </a:bodyPr>
          <a:lstStyle/>
          <a:p>
            <a:pPr algn="l"/>
            <a:r>
              <a:rPr sz="1500" b="1" i="0">
                <a:solidFill>
                  <a:srgbClr val="0B1F3A"/>
                </a:solidFill>
                <a:latin typeface="Georgia"/>
              </a:rPr>
              <a:t>Customer inputs</a:t>
            </a:r>
          </a:p>
        </p:txBody>
      </p:sp>
      <p:sp>
        <p:nvSpPr>
          <p:cNvPr id="6" name="TextBox 5"/>
          <p:cNvSpPr txBox="1"/>
          <p:nvPr/>
        </p:nvSpPr>
        <p:spPr>
          <a:xfrm>
            <a:off x="914400" y="1691640"/>
            <a:ext cx="1463040" cy="274320"/>
          </a:xfrm>
          <a:prstGeom prst="rect">
            <a:avLst/>
          </a:prstGeom>
          <a:noFill/>
        </p:spPr>
        <p:txBody>
          <a:bodyPr wrap="square" lIns="0" rIns="0" tIns="0" bIns="0" anchor="t">
            <a:spAutoFit/>
          </a:bodyPr>
          <a:lstStyle/>
          <a:p>
            <a:pPr algn="l"/>
            <a:r>
              <a:rPr sz="1100" b="1" i="0">
                <a:solidFill>
                  <a:srgbClr val="424E60"/>
                </a:solidFill>
                <a:latin typeface="Calibri"/>
              </a:rPr>
              <a:t>Service</a:t>
            </a:r>
          </a:p>
        </p:txBody>
      </p:sp>
      <p:sp>
        <p:nvSpPr>
          <p:cNvPr id="7" name="TextBox 6"/>
          <p:cNvSpPr txBox="1"/>
          <p:nvPr/>
        </p:nvSpPr>
        <p:spPr>
          <a:xfrm>
            <a:off x="2377440" y="1691640"/>
            <a:ext cx="3657600" cy="274320"/>
          </a:xfrm>
          <a:prstGeom prst="rect">
            <a:avLst/>
          </a:prstGeom>
          <a:noFill/>
        </p:spPr>
        <p:txBody>
          <a:bodyPr wrap="square" lIns="0" rIns="0" tIns="0" bIns="0" anchor="t">
            <a:spAutoFit/>
          </a:bodyPr>
          <a:lstStyle/>
          <a:p>
            <a:pPr algn="l"/>
            <a:r>
              <a:rPr sz="1100" b="0" i="0">
                <a:solidFill>
                  <a:srgbClr val="424E60"/>
                </a:solidFill>
                <a:latin typeface="Calibri"/>
              </a:rPr>
              <a:t>Interior Wall Repaint (residential)</a:t>
            </a:r>
          </a:p>
        </p:txBody>
      </p:sp>
      <p:sp>
        <p:nvSpPr>
          <p:cNvPr id="8" name="TextBox 7"/>
          <p:cNvSpPr txBox="1"/>
          <p:nvPr/>
        </p:nvSpPr>
        <p:spPr>
          <a:xfrm>
            <a:off x="914400" y="2011680"/>
            <a:ext cx="1463040" cy="274320"/>
          </a:xfrm>
          <a:prstGeom prst="rect">
            <a:avLst/>
          </a:prstGeom>
          <a:noFill/>
        </p:spPr>
        <p:txBody>
          <a:bodyPr wrap="square" lIns="0" rIns="0" tIns="0" bIns="0" anchor="t">
            <a:spAutoFit/>
          </a:bodyPr>
          <a:lstStyle/>
          <a:p>
            <a:pPr algn="l"/>
            <a:r>
              <a:rPr sz="1100" b="1" i="0">
                <a:solidFill>
                  <a:srgbClr val="424E60"/>
                </a:solidFill>
                <a:latin typeface="Calibri"/>
              </a:rPr>
              <a:t>Room size</a:t>
            </a:r>
          </a:p>
        </p:txBody>
      </p:sp>
      <p:sp>
        <p:nvSpPr>
          <p:cNvPr id="9" name="TextBox 8"/>
          <p:cNvSpPr txBox="1"/>
          <p:nvPr/>
        </p:nvSpPr>
        <p:spPr>
          <a:xfrm>
            <a:off x="2377440" y="2011680"/>
            <a:ext cx="3657600" cy="274320"/>
          </a:xfrm>
          <a:prstGeom prst="rect">
            <a:avLst/>
          </a:prstGeom>
          <a:noFill/>
        </p:spPr>
        <p:txBody>
          <a:bodyPr wrap="square" lIns="0" rIns="0" tIns="0" bIns="0" anchor="t">
            <a:spAutoFit/>
          </a:bodyPr>
          <a:lstStyle/>
          <a:p>
            <a:pPr algn="l"/>
            <a:r>
              <a:rPr sz="1100" b="0" i="0">
                <a:solidFill>
                  <a:srgbClr val="424E60"/>
                </a:solidFill>
                <a:latin typeface="Calibri"/>
              </a:rPr>
              <a:t>5 m × 4 m × 3 m ceiling, 1 room</a:t>
            </a:r>
          </a:p>
        </p:txBody>
      </p:sp>
      <p:sp>
        <p:nvSpPr>
          <p:cNvPr id="10" name="TextBox 9"/>
          <p:cNvSpPr txBox="1"/>
          <p:nvPr/>
        </p:nvSpPr>
        <p:spPr>
          <a:xfrm>
            <a:off x="914400" y="2331720"/>
            <a:ext cx="1463040" cy="274320"/>
          </a:xfrm>
          <a:prstGeom prst="rect">
            <a:avLst/>
          </a:prstGeom>
          <a:noFill/>
        </p:spPr>
        <p:txBody>
          <a:bodyPr wrap="square" lIns="0" rIns="0" tIns="0" bIns="0" anchor="t">
            <a:spAutoFit/>
          </a:bodyPr>
          <a:lstStyle/>
          <a:p>
            <a:pPr algn="l"/>
            <a:r>
              <a:rPr sz="1100" b="1" i="0">
                <a:solidFill>
                  <a:srgbClr val="424E60"/>
                </a:solidFill>
                <a:latin typeface="Calibri"/>
              </a:rPr>
              <a:t>Scope</a:t>
            </a:r>
          </a:p>
        </p:txBody>
      </p:sp>
      <p:sp>
        <p:nvSpPr>
          <p:cNvPr id="11" name="TextBox 10"/>
          <p:cNvSpPr txBox="1"/>
          <p:nvPr/>
        </p:nvSpPr>
        <p:spPr>
          <a:xfrm>
            <a:off x="2377440" y="2331720"/>
            <a:ext cx="3657600" cy="274320"/>
          </a:xfrm>
          <a:prstGeom prst="rect">
            <a:avLst/>
          </a:prstGeom>
          <a:noFill/>
        </p:spPr>
        <p:txBody>
          <a:bodyPr wrap="square" lIns="0" rIns="0" tIns="0" bIns="0" anchor="t">
            <a:spAutoFit/>
          </a:bodyPr>
          <a:lstStyle/>
          <a:p>
            <a:pPr algn="l"/>
            <a:r>
              <a:rPr sz="1100" b="0" i="0">
                <a:solidFill>
                  <a:srgbClr val="424E60"/>
                </a:solidFill>
                <a:latin typeface="Calibri"/>
              </a:rPr>
              <a:t>Walls + Ceiling</a:t>
            </a:r>
          </a:p>
        </p:txBody>
      </p:sp>
      <p:sp>
        <p:nvSpPr>
          <p:cNvPr id="12" name="TextBox 11"/>
          <p:cNvSpPr txBox="1"/>
          <p:nvPr/>
        </p:nvSpPr>
        <p:spPr>
          <a:xfrm>
            <a:off x="914400" y="2651760"/>
            <a:ext cx="1463040" cy="274320"/>
          </a:xfrm>
          <a:prstGeom prst="rect">
            <a:avLst/>
          </a:prstGeom>
          <a:noFill/>
        </p:spPr>
        <p:txBody>
          <a:bodyPr wrap="square" lIns="0" rIns="0" tIns="0" bIns="0" anchor="t">
            <a:spAutoFit/>
          </a:bodyPr>
          <a:lstStyle/>
          <a:p>
            <a:pPr algn="l"/>
            <a:r>
              <a:rPr sz="1100" b="1" i="0">
                <a:solidFill>
                  <a:srgbClr val="424E60"/>
                </a:solidFill>
                <a:latin typeface="Calibri"/>
              </a:rPr>
              <a:t>Surface</a:t>
            </a:r>
          </a:p>
        </p:txBody>
      </p:sp>
      <p:sp>
        <p:nvSpPr>
          <p:cNvPr id="13" name="TextBox 12"/>
          <p:cNvSpPr txBox="1"/>
          <p:nvPr/>
        </p:nvSpPr>
        <p:spPr>
          <a:xfrm>
            <a:off x="2377440" y="2651760"/>
            <a:ext cx="3657600" cy="274320"/>
          </a:xfrm>
          <a:prstGeom prst="rect">
            <a:avLst/>
          </a:prstGeom>
          <a:noFill/>
        </p:spPr>
        <p:txBody>
          <a:bodyPr wrap="square" lIns="0" rIns="0" tIns="0" bIns="0" anchor="t">
            <a:spAutoFit/>
          </a:bodyPr>
          <a:lstStyle/>
          <a:p>
            <a:pPr algn="l"/>
            <a:r>
              <a:rPr sz="1100" b="0" i="0">
                <a:solidFill>
                  <a:srgbClr val="424E60"/>
                </a:solidFill>
                <a:latin typeface="Calibri"/>
              </a:rPr>
              <a:t>Drywall</a:t>
            </a:r>
          </a:p>
        </p:txBody>
      </p:sp>
      <p:sp>
        <p:nvSpPr>
          <p:cNvPr id="14" name="TextBox 13"/>
          <p:cNvSpPr txBox="1"/>
          <p:nvPr/>
        </p:nvSpPr>
        <p:spPr>
          <a:xfrm>
            <a:off x="914400" y="2971800"/>
            <a:ext cx="1463040" cy="274320"/>
          </a:xfrm>
          <a:prstGeom prst="rect">
            <a:avLst/>
          </a:prstGeom>
          <a:noFill/>
        </p:spPr>
        <p:txBody>
          <a:bodyPr wrap="square" lIns="0" rIns="0" tIns="0" bIns="0" anchor="t">
            <a:spAutoFit/>
          </a:bodyPr>
          <a:lstStyle/>
          <a:p>
            <a:pPr algn="l"/>
            <a:r>
              <a:rPr sz="1100" b="1" i="0">
                <a:solidFill>
                  <a:srgbClr val="424E60"/>
                </a:solidFill>
                <a:latin typeface="Calibri"/>
              </a:rPr>
              <a:t>Condition</a:t>
            </a:r>
          </a:p>
        </p:txBody>
      </p:sp>
      <p:sp>
        <p:nvSpPr>
          <p:cNvPr id="15" name="TextBox 14"/>
          <p:cNvSpPr txBox="1"/>
          <p:nvPr/>
        </p:nvSpPr>
        <p:spPr>
          <a:xfrm>
            <a:off x="2377440" y="2971800"/>
            <a:ext cx="3657600" cy="274320"/>
          </a:xfrm>
          <a:prstGeom prst="rect">
            <a:avLst/>
          </a:prstGeom>
          <a:noFill/>
        </p:spPr>
        <p:txBody>
          <a:bodyPr wrap="square" lIns="0" rIns="0" tIns="0" bIns="0" anchor="t">
            <a:spAutoFit/>
          </a:bodyPr>
          <a:lstStyle/>
          <a:p>
            <a:pPr algn="l"/>
            <a:r>
              <a:rPr sz="1100" b="0" i="0">
                <a:solidFill>
                  <a:srgbClr val="424E60"/>
                </a:solidFill>
                <a:latin typeface="Calibri"/>
              </a:rPr>
              <a:t>Good — minor touch-ups</a:t>
            </a:r>
          </a:p>
        </p:txBody>
      </p:sp>
      <p:sp>
        <p:nvSpPr>
          <p:cNvPr id="16" name="TextBox 15"/>
          <p:cNvSpPr txBox="1"/>
          <p:nvPr/>
        </p:nvSpPr>
        <p:spPr>
          <a:xfrm>
            <a:off x="914400" y="3291840"/>
            <a:ext cx="1463040" cy="274320"/>
          </a:xfrm>
          <a:prstGeom prst="rect">
            <a:avLst/>
          </a:prstGeom>
          <a:noFill/>
        </p:spPr>
        <p:txBody>
          <a:bodyPr wrap="square" lIns="0" rIns="0" tIns="0" bIns="0" anchor="t">
            <a:spAutoFit/>
          </a:bodyPr>
          <a:lstStyle/>
          <a:p>
            <a:pPr algn="l"/>
            <a:r>
              <a:rPr sz="1100" b="1" i="0">
                <a:solidFill>
                  <a:srgbClr val="424E60"/>
                </a:solidFill>
                <a:latin typeface="Calibri"/>
              </a:rPr>
              <a:t>Finish</a:t>
            </a:r>
          </a:p>
        </p:txBody>
      </p:sp>
      <p:sp>
        <p:nvSpPr>
          <p:cNvPr id="17" name="TextBox 16"/>
          <p:cNvSpPr txBox="1"/>
          <p:nvPr/>
        </p:nvSpPr>
        <p:spPr>
          <a:xfrm>
            <a:off x="2377440" y="3291840"/>
            <a:ext cx="3657600" cy="274320"/>
          </a:xfrm>
          <a:prstGeom prst="rect">
            <a:avLst/>
          </a:prstGeom>
          <a:noFill/>
        </p:spPr>
        <p:txBody>
          <a:bodyPr wrap="square" lIns="0" rIns="0" tIns="0" bIns="0" anchor="t">
            <a:spAutoFit/>
          </a:bodyPr>
          <a:lstStyle/>
          <a:p>
            <a:pPr algn="l"/>
            <a:r>
              <a:rPr sz="1100" b="0" i="0">
                <a:solidFill>
                  <a:srgbClr val="424E60"/>
                </a:solidFill>
                <a:latin typeface="Calibri"/>
              </a:rPr>
              <a:t>Satin</a:t>
            </a:r>
          </a:p>
        </p:txBody>
      </p:sp>
      <p:sp>
        <p:nvSpPr>
          <p:cNvPr id="18" name="TextBox 17"/>
          <p:cNvSpPr txBox="1"/>
          <p:nvPr/>
        </p:nvSpPr>
        <p:spPr>
          <a:xfrm>
            <a:off x="914400" y="3611880"/>
            <a:ext cx="1463040" cy="274320"/>
          </a:xfrm>
          <a:prstGeom prst="rect">
            <a:avLst/>
          </a:prstGeom>
          <a:noFill/>
        </p:spPr>
        <p:txBody>
          <a:bodyPr wrap="square" lIns="0" rIns="0" tIns="0" bIns="0" anchor="t">
            <a:spAutoFit/>
          </a:bodyPr>
          <a:lstStyle/>
          <a:p>
            <a:pPr algn="l"/>
            <a:r>
              <a:rPr sz="1100" b="1" i="0">
                <a:solidFill>
                  <a:srgbClr val="424E60"/>
                </a:solidFill>
                <a:latin typeface="Calibri"/>
              </a:rPr>
              <a:t>Tier</a:t>
            </a:r>
          </a:p>
        </p:txBody>
      </p:sp>
      <p:sp>
        <p:nvSpPr>
          <p:cNvPr id="19" name="TextBox 18"/>
          <p:cNvSpPr txBox="1"/>
          <p:nvPr/>
        </p:nvSpPr>
        <p:spPr>
          <a:xfrm>
            <a:off x="2377440" y="3611880"/>
            <a:ext cx="3657600" cy="274320"/>
          </a:xfrm>
          <a:prstGeom prst="rect">
            <a:avLst/>
          </a:prstGeom>
          <a:noFill/>
        </p:spPr>
        <p:txBody>
          <a:bodyPr wrap="square" lIns="0" rIns="0" tIns="0" bIns="0" anchor="t">
            <a:spAutoFit/>
          </a:bodyPr>
          <a:lstStyle/>
          <a:p>
            <a:pPr algn="l"/>
            <a:r>
              <a:rPr sz="1100" b="0" i="0">
                <a:solidFill>
                  <a:srgbClr val="424E60"/>
                </a:solidFill>
                <a:latin typeface="Calibri"/>
              </a:rPr>
              <a:t>Premium (Dulux / Leyland)</a:t>
            </a:r>
          </a:p>
        </p:txBody>
      </p:sp>
      <p:sp>
        <p:nvSpPr>
          <p:cNvPr id="20" name="TextBox 19"/>
          <p:cNvSpPr txBox="1"/>
          <p:nvPr/>
        </p:nvSpPr>
        <p:spPr>
          <a:xfrm>
            <a:off x="914400" y="3931920"/>
            <a:ext cx="1463040" cy="274320"/>
          </a:xfrm>
          <a:prstGeom prst="rect">
            <a:avLst/>
          </a:prstGeom>
          <a:noFill/>
        </p:spPr>
        <p:txBody>
          <a:bodyPr wrap="square" lIns="0" rIns="0" tIns="0" bIns="0" anchor="t">
            <a:spAutoFit/>
          </a:bodyPr>
          <a:lstStyle/>
          <a:p>
            <a:pPr algn="l"/>
            <a:r>
              <a:rPr sz="1100" b="1" i="0">
                <a:solidFill>
                  <a:srgbClr val="424E60"/>
                </a:solidFill>
                <a:latin typeface="Calibri"/>
              </a:rPr>
              <a:t>Add-ons</a:t>
            </a:r>
          </a:p>
        </p:txBody>
      </p:sp>
      <p:sp>
        <p:nvSpPr>
          <p:cNvPr id="21" name="TextBox 20"/>
          <p:cNvSpPr txBox="1"/>
          <p:nvPr/>
        </p:nvSpPr>
        <p:spPr>
          <a:xfrm>
            <a:off x="2377440" y="3931920"/>
            <a:ext cx="3657600" cy="274320"/>
          </a:xfrm>
          <a:prstGeom prst="rect">
            <a:avLst/>
          </a:prstGeom>
          <a:noFill/>
        </p:spPr>
        <p:txBody>
          <a:bodyPr wrap="square" lIns="0" rIns="0" tIns="0" bIns="0" anchor="t">
            <a:spAutoFit/>
          </a:bodyPr>
          <a:lstStyle/>
          <a:p>
            <a:pPr algn="l"/>
            <a:r>
              <a:rPr sz="1100" b="0" i="0">
                <a:solidFill>
                  <a:srgbClr val="424E60"/>
                </a:solidFill>
                <a:latin typeface="Calibri"/>
              </a:rPr>
              <a:t>Furniture protection (+₵350)</a:t>
            </a:r>
          </a:p>
        </p:txBody>
      </p:sp>
      <p:sp>
        <p:nvSpPr>
          <p:cNvPr id="22" name="TextBox 21"/>
          <p:cNvSpPr txBox="1"/>
          <p:nvPr/>
        </p:nvSpPr>
        <p:spPr>
          <a:xfrm>
            <a:off x="914400" y="4251960"/>
            <a:ext cx="1463040" cy="274320"/>
          </a:xfrm>
          <a:prstGeom prst="rect">
            <a:avLst/>
          </a:prstGeom>
          <a:noFill/>
        </p:spPr>
        <p:txBody>
          <a:bodyPr wrap="square" lIns="0" rIns="0" tIns="0" bIns="0" anchor="t">
            <a:spAutoFit/>
          </a:bodyPr>
          <a:lstStyle/>
          <a:p>
            <a:pPr algn="l"/>
            <a:r>
              <a:rPr sz="1100" b="1" i="0">
                <a:solidFill>
                  <a:srgbClr val="424E60"/>
                </a:solidFill>
                <a:latin typeface="Calibri"/>
              </a:rPr>
              <a:t>Region</a:t>
            </a:r>
          </a:p>
        </p:txBody>
      </p:sp>
      <p:sp>
        <p:nvSpPr>
          <p:cNvPr id="23" name="TextBox 22"/>
          <p:cNvSpPr txBox="1"/>
          <p:nvPr/>
        </p:nvSpPr>
        <p:spPr>
          <a:xfrm>
            <a:off x="2377440" y="4251960"/>
            <a:ext cx="3657600" cy="274320"/>
          </a:xfrm>
          <a:prstGeom prst="rect">
            <a:avLst/>
          </a:prstGeom>
          <a:noFill/>
        </p:spPr>
        <p:txBody>
          <a:bodyPr wrap="square" lIns="0" rIns="0" tIns="0" bIns="0" anchor="t">
            <a:spAutoFit/>
          </a:bodyPr>
          <a:lstStyle/>
          <a:p>
            <a:pPr algn="l"/>
            <a:r>
              <a:rPr sz="1100" b="0" i="0">
                <a:solidFill>
                  <a:srgbClr val="424E60"/>
                </a:solidFill>
                <a:latin typeface="Calibri"/>
              </a:rPr>
              <a:t>Accra Metro (1.00)</a:t>
            </a:r>
          </a:p>
        </p:txBody>
      </p:sp>
      <p:sp>
        <p:nvSpPr>
          <p:cNvPr id="24" name="TextBox 23"/>
          <p:cNvSpPr txBox="1"/>
          <p:nvPr/>
        </p:nvSpPr>
        <p:spPr>
          <a:xfrm>
            <a:off x="6400800" y="1280160"/>
            <a:ext cx="5029200" cy="365760"/>
          </a:xfrm>
          <a:prstGeom prst="rect">
            <a:avLst/>
          </a:prstGeom>
          <a:noFill/>
        </p:spPr>
        <p:txBody>
          <a:bodyPr wrap="square" lIns="0" rIns="0" tIns="0" bIns="0" anchor="t">
            <a:spAutoFit/>
          </a:bodyPr>
          <a:lstStyle/>
          <a:p>
            <a:pPr algn="l"/>
            <a:r>
              <a:rPr sz="1500" b="1" i="0">
                <a:solidFill>
                  <a:srgbClr val="0B1F3A"/>
                </a:solidFill>
                <a:latin typeface="Georgia"/>
              </a:rPr>
              <a:t>Calculation step by step</a:t>
            </a:r>
          </a:p>
        </p:txBody>
      </p:sp>
      <p:sp>
        <p:nvSpPr>
          <p:cNvPr id="25" name="TextBox 24"/>
          <p:cNvSpPr txBox="1"/>
          <p:nvPr/>
        </p:nvSpPr>
        <p:spPr>
          <a:xfrm>
            <a:off x="6446520" y="1691640"/>
            <a:ext cx="1371600" cy="237744"/>
          </a:xfrm>
          <a:prstGeom prst="rect">
            <a:avLst/>
          </a:prstGeom>
          <a:noFill/>
        </p:spPr>
        <p:txBody>
          <a:bodyPr wrap="square" lIns="0" rIns="0" tIns="0" bIns="0" anchor="t">
            <a:spAutoFit/>
          </a:bodyPr>
          <a:lstStyle/>
          <a:p>
            <a:pPr algn="l"/>
            <a:r>
              <a:rPr sz="1050" b="1" i="0">
                <a:solidFill>
                  <a:srgbClr val="1E7F4F"/>
                </a:solidFill>
                <a:latin typeface="Consolas"/>
              </a:rPr>
              <a:t>Walls</a:t>
            </a:r>
          </a:p>
        </p:txBody>
      </p:sp>
      <p:sp>
        <p:nvSpPr>
          <p:cNvPr id="26" name="TextBox 25"/>
          <p:cNvSpPr txBox="1"/>
          <p:nvPr/>
        </p:nvSpPr>
        <p:spPr>
          <a:xfrm>
            <a:off x="7772400" y="1691640"/>
            <a:ext cx="4023360" cy="237744"/>
          </a:xfrm>
          <a:prstGeom prst="rect">
            <a:avLst/>
          </a:prstGeom>
          <a:noFill/>
        </p:spPr>
        <p:txBody>
          <a:bodyPr wrap="square" lIns="0" rIns="0" tIns="0" bIns="0" anchor="t">
            <a:spAutoFit/>
          </a:bodyPr>
          <a:lstStyle/>
          <a:p>
            <a:pPr algn="l"/>
            <a:r>
              <a:rPr sz="1050" b="0" i="0">
                <a:solidFill>
                  <a:srgbClr val="424E60"/>
                </a:solidFill>
                <a:latin typeface="Consolas"/>
              </a:rPr>
              <a:t>2×(5+4)×3  =  54 m²</a:t>
            </a:r>
          </a:p>
        </p:txBody>
      </p:sp>
      <p:sp>
        <p:nvSpPr>
          <p:cNvPr id="27" name="TextBox 26"/>
          <p:cNvSpPr txBox="1"/>
          <p:nvPr/>
        </p:nvSpPr>
        <p:spPr>
          <a:xfrm>
            <a:off x="6446520" y="1965960"/>
            <a:ext cx="1371600" cy="237744"/>
          </a:xfrm>
          <a:prstGeom prst="rect">
            <a:avLst/>
          </a:prstGeom>
          <a:noFill/>
        </p:spPr>
        <p:txBody>
          <a:bodyPr wrap="square" lIns="0" rIns="0" tIns="0" bIns="0" anchor="t">
            <a:spAutoFit/>
          </a:bodyPr>
          <a:lstStyle/>
          <a:p>
            <a:pPr algn="l"/>
            <a:r>
              <a:rPr sz="1050" b="1" i="0">
                <a:solidFill>
                  <a:srgbClr val="1E7F4F"/>
                </a:solidFill>
                <a:latin typeface="Consolas"/>
              </a:rPr>
              <a:t>Ceiling</a:t>
            </a:r>
          </a:p>
        </p:txBody>
      </p:sp>
      <p:sp>
        <p:nvSpPr>
          <p:cNvPr id="28" name="TextBox 27"/>
          <p:cNvSpPr txBox="1"/>
          <p:nvPr/>
        </p:nvSpPr>
        <p:spPr>
          <a:xfrm>
            <a:off x="7772400" y="1965960"/>
            <a:ext cx="4023360" cy="237744"/>
          </a:xfrm>
          <a:prstGeom prst="rect">
            <a:avLst/>
          </a:prstGeom>
          <a:noFill/>
        </p:spPr>
        <p:txBody>
          <a:bodyPr wrap="square" lIns="0" rIns="0" tIns="0" bIns="0" anchor="t">
            <a:spAutoFit/>
          </a:bodyPr>
          <a:lstStyle/>
          <a:p>
            <a:pPr algn="l"/>
            <a:r>
              <a:rPr sz="1050" b="0" i="0">
                <a:solidFill>
                  <a:srgbClr val="424E60"/>
                </a:solidFill>
                <a:latin typeface="Consolas"/>
              </a:rPr>
              <a:t>5×4  =  20 m²</a:t>
            </a:r>
          </a:p>
        </p:txBody>
      </p:sp>
      <p:sp>
        <p:nvSpPr>
          <p:cNvPr id="29" name="TextBox 28"/>
          <p:cNvSpPr txBox="1"/>
          <p:nvPr/>
        </p:nvSpPr>
        <p:spPr>
          <a:xfrm>
            <a:off x="6446520" y="2240279"/>
            <a:ext cx="1371600" cy="237744"/>
          </a:xfrm>
          <a:prstGeom prst="rect">
            <a:avLst/>
          </a:prstGeom>
          <a:noFill/>
        </p:spPr>
        <p:txBody>
          <a:bodyPr wrap="square" lIns="0" rIns="0" tIns="0" bIns="0" anchor="t">
            <a:spAutoFit/>
          </a:bodyPr>
          <a:lstStyle/>
          <a:p>
            <a:pPr algn="l"/>
            <a:r>
              <a:rPr sz="1050" b="1" i="0">
                <a:solidFill>
                  <a:srgbClr val="1E7F4F"/>
                </a:solidFill>
                <a:latin typeface="Consolas"/>
              </a:rPr>
              <a:t>area</a:t>
            </a:r>
          </a:p>
        </p:txBody>
      </p:sp>
      <p:sp>
        <p:nvSpPr>
          <p:cNvPr id="30" name="TextBox 29"/>
          <p:cNvSpPr txBox="1"/>
          <p:nvPr/>
        </p:nvSpPr>
        <p:spPr>
          <a:xfrm>
            <a:off x="7772400" y="2240279"/>
            <a:ext cx="4023360" cy="237744"/>
          </a:xfrm>
          <a:prstGeom prst="rect">
            <a:avLst/>
          </a:prstGeom>
          <a:noFill/>
        </p:spPr>
        <p:txBody>
          <a:bodyPr wrap="square" lIns="0" rIns="0" tIns="0" bIns="0" anchor="t">
            <a:spAutoFit/>
          </a:bodyPr>
          <a:lstStyle/>
          <a:p>
            <a:pPr algn="l"/>
            <a:r>
              <a:rPr sz="1050" b="0" i="0">
                <a:solidFill>
                  <a:srgbClr val="424E60"/>
                </a:solidFill>
                <a:latin typeface="Consolas"/>
              </a:rPr>
              <a:t>54 + 20  =  74 m²</a:t>
            </a:r>
          </a:p>
        </p:txBody>
      </p:sp>
      <p:sp>
        <p:nvSpPr>
          <p:cNvPr id="31" name="TextBox 30"/>
          <p:cNvSpPr txBox="1"/>
          <p:nvPr/>
        </p:nvSpPr>
        <p:spPr>
          <a:xfrm>
            <a:off x="6446520" y="2514599"/>
            <a:ext cx="1371600" cy="237744"/>
          </a:xfrm>
          <a:prstGeom prst="rect">
            <a:avLst/>
          </a:prstGeom>
          <a:noFill/>
        </p:spPr>
        <p:txBody>
          <a:bodyPr wrap="square" lIns="0" rIns="0" tIns="0" bIns="0" anchor="t">
            <a:spAutoFit/>
          </a:bodyPr>
          <a:lstStyle/>
          <a:p>
            <a:pPr algn="l"/>
            <a:r>
              <a:rPr sz="1050" b="1" i="0">
                <a:solidFill>
                  <a:srgbClr val="1E7F4F"/>
                </a:solidFill>
                <a:latin typeface="Consolas"/>
              </a:rPr>
              <a:t>labour</a:t>
            </a:r>
          </a:p>
        </p:txBody>
      </p:sp>
      <p:sp>
        <p:nvSpPr>
          <p:cNvPr id="32" name="TextBox 31"/>
          <p:cNvSpPr txBox="1"/>
          <p:nvPr/>
        </p:nvSpPr>
        <p:spPr>
          <a:xfrm>
            <a:off x="7772400" y="2514599"/>
            <a:ext cx="4023360" cy="237744"/>
          </a:xfrm>
          <a:prstGeom prst="rect">
            <a:avLst/>
          </a:prstGeom>
          <a:noFill/>
        </p:spPr>
        <p:txBody>
          <a:bodyPr wrap="square" lIns="0" rIns="0" tIns="0" bIns="0" anchor="t">
            <a:spAutoFit/>
          </a:bodyPr>
          <a:lstStyle/>
          <a:p>
            <a:pPr algn="l"/>
            <a:r>
              <a:rPr sz="1050" b="0" i="0">
                <a:solidFill>
                  <a:srgbClr val="424E60"/>
                </a:solidFill>
                <a:latin typeface="Consolas"/>
              </a:rPr>
              <a:t>25 × 1.0 × 1.05 × 1.3 × 74  =  ₵2,525.25</a:t>
            </a:r>
          </a:p>
        </p:txBody>
      </p:sp>
      <p:sp>
        <p:nvSpPr>
          <p:cNvPr id="33" name="TextBox 32"/>
          <p:cNvSpPr txBox="1"/>
          <p:nvPr/>
        </p:nvSpPr>
        <p:spPr>
          <a:xfrm>
            <a:off x="6446520" y="2788919"/>
            <a:ext cx="1371600" cy="237744"/>
          </a:xfrm>
          <a:prstGeom prst="rect">
            <a:avLst/>
          </a:prstGeom>
          <a:noFill/>
        </p:spPr>
        <p:txBody>
          <a:bodyPr wrap="square" lIns="0" rIns="0" tIns="0" bIns="0" anchor="t">
            <a:spAutoFit/>
          </a:bodyPr>
          <a:lstStyle/>
          <a:p>
            <a:pPr algn="l"/>
            <a:r>
              <a:rPr sz="1050" b="1" i="0">
                <a:solidFill>
                  <a:srgbClr val="1E7F4F"/>
                </a:solidFill>
                <a:latin typeface="Consolas"/>
              </a:rPr>
              <a:t>materials</a:t>
            </a:r>
          </a:p>
        </p:txBody>
      </p:sp>
      <p:sp>
        <p:nvSpPr>
          <p:cNvPr id="34" name="TextBox 33"/>
          <p:cNvSpPr txBox="1"/>
          <p:nvPr/>
        </p:nvSpPr>
        <p:spPr>
          <a:xfrm>
            <a:off x="7772400" y="2788919"/>
            <a:ext cx="4023360" cy="237744"/>
          </a:xfrm>
          <a:prstGeom prst="rect">
            <a:avLst/>
          </a:prstGeom>
          <a:noFill/>
        </p:spPr>
        <p:txBody>
          <a:bodyPr wrap="square" lIns="0" rIns="0" tIns="0" bIns="0" anchor="t">
            <a:spAutoFit/>
          </a:bodyPr>
          <a:lstStyle/>
          <a:p>
            <a:pPr algn="l"/>
            <a:r>
              <a:rPr sz="1050" b="0" i="0">
                <a:solidFill>
                  <a:srgbClr val="424E60"/>
                </a:solidFill>
                <a:latin typeface="Consolas"/>
              </a:rPr>
              <a:t>45 × 1.0 × 1.0 × 1.05 × 74  =  ₵3,496.50</a:t>
            </a:r>
          </a:p>
        </p:txBody>
      </p:sp>
      <p:sp>
        <p:nvSpPr>
          <p:cNvPr id="35" name="TextBox 34"/>
          <p:cNvSpPr txBox="1"/>
          <p:nvPr/>
        </p:nvSpPr>
        <p:spPr>
          <a:xfrm>
            <a:off x="6446520" y="3063239"/>
            <a:ext cx="1371600" cy="237744"/>
          </a:xfrm>
          <a:prstGeom prst="rect">
            <a:avLst/>
          </a:prstGeom>
          <a:noFill/>
        </p:spPr>
        <p:txBody>
          <a:bodyPr wrap="square" lIns="0" rIns="0" tIns="0" bIns="0" anchor="t">
            <a:spAutoFit/>
          </a:bodyPr>
          <a:lstStyle/>
          <a:p>
            <a:pPr algn="l"/>
            <a:r>
              <a:rPr sz="1050" b="1" i="0">
                <a:solidFill>
                  <a:srgbClr val="1E7F4F"/>
                </a:solidFill>
                <a:latin typeface="Consolas"/>
              </a:rPr>
              <a:t>subtotal_0</a:t>
            </a:r>
          </a:p>
        </p:txBody>
      </p:sp>
      <p:sp>
        <p:nvSpPr>
          <p:cNvPr id="36" name="TextBox 35"/>
          <p:cNvSpPr txBox="1"/>
          <p:nvPr/>
        </p:nvSpPr>
        <p:spPr>
          <a:xfrm>
            <a:off x="7772400" y="3063239"/>
            <a:ext cx="4023360" cy="237744"/>
          </a:xfrm>
          <a:prstGeom prst="rect">
            <a:avLst/>
          </a:prstGeom>
          <a:noFill/>
        </p:spPr>
        <p:txBody>
          <a:bodyPr wrap="square" lIns="0" rIns="0" tIns="0" bIns="0" anchor="t">
            <a:spAutoFit/>
          </a:bodyPr>
          <a:lstStyle/>
          <a:p>
            <a:pPr algn="l"/>
            <a:r>
              <a:rPr sz="1050" b="0" i="0">
                <a:solidFill>
                  <a:srgbClr val="424E60"/>
                </a:solidFill>
                <a:latin typeface="Consolas"/>
              </a:rPr>
              <a:t>labour + materials  =  ₵6,021.75</a:t>
            </a:r>
          </a:p>
        </p:txBody>
      </p:sp>
      <p:sp>
        <p:nvSpPr>
          <p:cNvPr id="37" name="TextBox 36"/>
          <p:cNvSpPr txBox="1"/>
          <p:nvPr/>
        </p:nvSpPr>
        <p:spPr>
          <a:xfrm>
            <a:off x="6446520" y="3337559"/>
            <a:ext cx="1371600" cy="237744"/>
          </a:xfrm>
          <a:prstGeom prst="rect">
            <a:avLst/>
          </a:prstGeom>
          <a:noFill/>
        </p:spPr>
        <p:txBody>
          <a:bodyPr wrap="square" lIns="0" rIns="0" tIns="0" bIns="0" anchor="t">
            <a:spAutoFit/>
          </a:bodyPr>
          <a:lstStyle/>
          <a:p>
            <a:pPr algn="l"/>
            <a:r>
              <a:rPr sz="1050" b="1" i="0">
                <a:solidFill>
                  <a:srgbClr val="1E7F4F"/>
                </a:solidFill>
                <a:latin typeface="Consolas"/>
              </a:rPr>
              <a:t>prep</a:t>
            </a:r>
          </a:p>
        </p:txBody>
      </p:sp>
      <p:sp>
        <p:nvSpPr>
          <p:cNvPr id="38" name="TextBox 37"/>
          <p:cNvSpPr txBox="1"/>
          <p:nvPr/>
        </p:nvSpPr>
        <p:spPr>
          <a:xfrm>
            <a:off x="7772400" y="3337559"/>
            <a:ext cx="4023360" cy="237744"/>
          </a:xfrm>
          <a:prstGeom prst="rect">
            <a:avLst/>
          </a:prstGeom>
          <a:noFill/>
        </p:spPr>
        <p:txBody>
          <a:bodyPr wrap="square" lIns="0" rIns="0" tIns="0" bIns="0" anchor="t">
            <a:spAutoFit/>
          </a:bodyPr>
          <a:lstStyle/>
          <a:p>
            <a:pPr algn="l"/>
            <a:r>
              <a:rPr sz="1050" b="0" i="0">
                <a:solidFill>
                  <a:srgbClr val="424E60"/>
                </a:solidFill>
                <a:latin typeface="Consolas"/>
              </a:rPr>
              <a:t>(1.0 − 1) × subtotal_0  =  ₵0.00</a:t>
            </a:r>
          </a:p>
        </p:txBody>
      </p:sp>
      <p:sp>
        <p:nvSpPr>
          <p:cNvPr id="39" name="TextBox 38"/>
          <p:cNvSpPr txBox="1"/>
          <p:nvPr/>
        </p:nvSpPr>
        <p:spPr>
          <a:xfrm>
            <a:off x="6446520" y="3611879"/>
            <a:ext cx="1371600" cy="237744"/>
          </a:xfrm>
          <a:prstGeom prst="rect">
            <a:avLst/>
          </a:prstGeom>
          <a:noFill/>
        </p:spPr>
        <p:txBody>
          <a:bodyPr wrap="square" lIns="0" rIns="0" tIns="0" bIns="0" anchor="t">
            <a:spAutoFit/>
          </a:bodyPr>
          <a:lstStyle/>
          <a:p>
            <a:pPr algn="l"/>
            <a:r>
              <a:rPr sz="1050" b="1" i="0">
                <a:solidFill>
                  <a:srgbClr val="1E7F4F"/>
                </a:solidFill>
                <a:latin typeface="Consolas"/>
              </a:rPr>
              <a:t>addons</a:t>
            </a:r>
          </a:p>
        </p:txBody>
      </p:sp>
      <p:sp>
        <p:nvSpPr>
          <p:cNvPr id="40" name="TextBox 39"/>
          <p:cNvSpPr txBox="1"/>
          <p:nvPr/>
        </p:nvSpPr>
        <p:spPr>
          <a:xfrm>
            <a:off x="7772400" y="3611879"/>
            <a:ext cx="4023360" cy="237744"/>
          </a:xfrm>
          <a:prstGeom prst="rect">
            <a:avLst/>
          </a:prstGeom>
          <a:noFill/>
        </p:spPr>
        <p:txBody>
          <a:bodyPr wrap="square" lIns="0" rIns="0" tIns="0" bIns="0" anchor="t">
            <a:spAutoFit/>
          </a:bodyPr>
          <a:lstStyle/>
          <a:p>
            <a:pPr algn="l"/>
            <a:r>
              <a:rPr sz="1050" b="0" i="0">
                <a:solidFill>
                  <a:srgbClr val="424E60"/>
                </a:solidFill>
                <a:latin typeface="Consolas"/>
              </a:rPr>
              <a:t>₵350 flat</a:t>
            </a:r>
          </a:p>
        </p:txBody>
      </p:sp>
      <p:sp>
        <p:nvSpPr>
          <p:cNvPr id="41" name="TextBox 40"/>
          <p:cNvSpPr txBox="1"/>
          <p:nvPr/>
        </p:nvSpPr>
        <p:spPr>
          <a:xfrm>
            <a:off x="6446520" y="3886199"/>
            <a:ext cx="1371600" cy="237744"/>
          </a:xfrm>
          <a:prstGeom prst="rect">
            <a:avLst/>
          </a:prstGeom>
          <a:noFill/>
        </p:spPr>
        <p:txBody>
          <a:bodyPr wrap="square" lIns="0" rIns="0" tIns="0" bIns="0" anchor="t">
            <a:spAutoFit/>
          </a:bodyPr>
          <a:lstStyle/>
          <a:p>
            <a:pPr algn="l"/>
            <a:r>
              <a:rPr sz="1050" b="1" i="0">
                <a:solidFill>
                  <a:srgbClr val="1E7F4F"/>
                </a:solidFill>
                <a:latin typeface="Consolas"/>
              </a:rPr>
              <a:t>travel</a:t>
            </a:r>
          </a:p>
        </p:txBody>
      </p:sp>
      <p:sp>
        <p:nvSpPr>
          <p:cNvPr id="42" name="TextBox 41"/>
          <p:cNvSpPr txBox="1"/>
          <p:nvPr/>
        </p:nvSpPr>
        <p:spPr>
          <a:xfrm>
            <a:off x="7772400" y="3886199"/>
            <a:ext cx="4023360" cy="237744"/>
          </a:xfrm>
          <a:prstGeom prst="rect">
            <a:avLst/>
          </a:prstGeom>
          <a:noFill/>
        </p:spPr>
        <p:txBody>
          <a:bodyPr wrap="square" lIns="0" rIns="0" tIns="0" bIns="0" anchor="t">
            <a:spAutoFit/>
          </a:bodyPr>
          <a:lstStyle/>
          <a:p>
            <a:pPr algn="l"/>
            <a:r>
              <a:rPr sz="1050" b="0" i="0">
                <a:solidFill>
                  <a:srgbClr val="424E60"/>
                </a:solidFill>
                <a:latin typeface="Consolas"/>
              </a:rPr>
              <a:t>(subtotal + addons) × (1.0 − 1)  =  ₵0.00</a:t>
            </a:r>
          </a:p>
        </p:txBody>
      </p:sp>
      <p:sp>
        <p:nvSpPr>
          <p:cNvPr id="43" name="TextBox 42"/>
          <p:cNvSpPr txBox="1"/>
          <p:nvPr/>
        </p:nvSpPr>
        <p:spPr>
          <a:xfrm>
            <a:off x="6446520" y="4160519"/>
            <a:ext cx="1371600" cy="237744"/>
          </a:xfrm>
          <a:prstGeom prst="rect">
            <a:avLst/>
          </a:prstGeom>
          <a:noFill/>
        </p:spPr>
        <p:txBody>
          <a:bodyPr wrap="square" lIns="0" rIns="0" tIns="0" bIns="0" anchor="t">
            <a:spAutoFit/>
          </a:bodyPr>
          <a:lstStyle/>
          <a:p>
            <a:pPr algn="l"/>
            <a:r>
              <a:rPr sz="1050" b="1" i="0">
                <a:solidFill>
                  <a:srgbClr val="1E7F4F"/>
                </a:solidFill>
                <a:latin typeface="Consolas"/>
              </a:rPr>
              <a:t>VAT</a:t>
            </a:r>
          </a:p>
        </p:txBody>
      </p:sp>
      <p:sp>
        <p:nvSpPr>
          <p:cNvPr id="44" name="TextBox 43"/>
          <p:cNvSpPr txBox="1"/>
          <p:nvPr/>
        </p:nvSpPr>
        <p:spPr>
          <a:xfrm>
            <a:off x="7772400" y="4160519"/>
            <a:ext cx="4023360" cy="237744"/>
          </a:xfrm>
          <a:prstGeom prst="rect">
            <a:avLst/>
          </a:prstGeom>
          <a:noFill/>
        </p:spPr>
        <p:txBody>
          <a:bodyPr wrap="square" lIns="0" rIns="0" tIns="0" bIns="0" anchor="t">
            <a:spAutoFit/>
          </a:bodyPr>
          <a:lstStyle/>
          <a:p>
            <a:pPr algn="l"/>
            <a:r>
              <a:rPr sz="1050" b="0" i="0">
                <a:solidFill>
                  <a:srgbClr val="424E60"/>
                </a:solidFill>
                <a:latin typeface="Consolas"/>
              </a:rPr>
              <a:t>(subtotal_0 + addons) × 0.125  =  ₵796.47</a:t>
            </a:r>
          </a:p>
        </p:txBody>
      </p:sp>
      <p:sp>
        <p:nvSpPr>
          <p:cNvPr id="45" name="Rectangle 44"/>
          <p:cNvSpPr/>
          <p:nvPr/>
        </p:nvSpPr>
        <p:spPr>
          <a:xfrm>
            <a:off x="6400800" y="4937760"/>
            <a:ext cx="5212080" cy="12801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5029200"/>
            <a:ext cx="5212080" cy="365760"/>
          </a:xfrm>
          <a:prstGeom prst="rect">
            <a:avLst/>
          </a:prstGeom>
          <a:noFill/>
        </p:spPr>
        <p:txBody>
          <a:bodyPr wrap="square" lIns="0" rIns="0" tIns="0" bIns="0" anchor="t">
            <a:spAutoFit/>
          </a:bodyPr>
          <a:lstStyle/>
          <a:p>
            <a:pPr algn="ctr"/>
            <a:r>
              <a:rPr sz="1100" b="1" i="0">
                <a:solidFill>
                  <a:srgbClr val="F5B800"/>
                </a:solidFill>
                <a:latin typeface="Calibri"/>
              </a:rPr>
              <a:t>TOTAL (incl. VAT)</a:t>
            </a:r>
          </a:p>
        </p:txBody>
      </p:sp>
      <p:sp>
        <p:nvSpPr>
          <p:cNvPr id="47" name="TextBox 46"/>
          <p:cNvSpPr txBox="1"/>
          <p:nvPr/>
        </p:nvSpPr>
        <p:spPr>
          <a:xfrm>
            <a:off x="6400800" y="5349240"/>
            <a:ext cx="5212080" cy="731520"/>
          </a:xfrm>
          <a:prstGeom prst="rect">
            <a:avLst/>
          </a:prstGeom>
          <a:noFill/>
        </p:spPr>
        <p:txBody>
          <a:bodyPr wrap="square" lIns="0" rIns="0" tIns="0" bIns="0" anchor="ctr">
            <a:spAutoFit/>
          </a:bodyPr>
          <a:lstStyle/>
          <a:p>
            <a:pPr algn="ctr"/>
            <a:r>
              <a:rPr sz="3600" b="1" i="0">
                <a:solidFill>
                  <a:srgbClr val="FFFFFF"/>
                </a:solidFill>
                <a:latin typeface="Georgia"/>
              </a:rPr>
              <a:t>₵7,168.22</a:t>
            </a:r>
          </a:p>
        </p:txBody>
      </p:sp>
      <p:sp>
        <p:nvSpPr>
          <p:cNvPr id="48" name="TextBox 47"/>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49" name="TextBox 48"/>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The paint volume gate — the new step</a:t>
            </a:r>
          </a:p>
        </p:txBody>
      </p:sp>
      <p:sp>
        <p:nvSpPr>
          <p:cNvPr id="5" name="Rectangle 4"/>
          <p:cNvSpPr/>
          <p:nvPr/>
        </p:nvSpPr>
        <p:spPr>
          <a:xfrm>
            <a:off x="868680" y="1280160"/>
            <a:ext cx="5212080" cy="5029200"/>
          </a:xfrm>
          <a:prstGeom prst="rect">
            <a:avLst/>
          </a:prstGeom>
          <a:solidFill>
            <a:srgbClr val="F7FAFD"/>
          </a:solidFill>
          <a:ln w="6350">
            <a:solidFill>
              <a:srgbClr val="C4CB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4754880" cy="365760"/>
          </a:xfrm>
          <a:prstGeom prst="rect">
            <a:avLst/>
          </a:prstGeom>
          <a:noFill/>
        </p:spPr>
        <p:txBody>
          <a:bodyPr wrap="square" lIns="0" rIns="0" tIns="0" bIns="0" anchor="t">
            <a:spAutoFit/>
          </a:bodyPr>
          <a:lstStyle/>
          <a:p>
            <a:pPr algn="l"/>
            <a:r>
              <a:rPr sz="1100" b="1" i="0">
                <a:solidFill>
                  <a:srgbClr val="D7263D"/>
                </a:solidFill>
                <a:latin typeface="Calibri"/>
              </a:rPr>
              <a:t>BEFORE</a:t>
            </a:r>
          </a:p>
        </p:txBody>
      </p:sp>
      <p:sp>
        <p:nvSpPr>
          <p:cNvPr id="7" name="TextBox 6"/>
          <p:cNvSpPr txBox="1"/>
          <p:nvPr/>
        </p:nvSpPr>
        <p:spPr>
          <a:xfrm>
            <a:off x="1097280" y="1828800"/>
            <a:ext cx="4754880" cy="411480"/>
          </a:xfrm>
          <a:prstGeom prst="rect">
            <a:avLst/>
          </a:prstGeom>
          <a:noFill/>
        </p:spPr>
        <p:txBody>
          <a:bodyPr wrap="square" lIns="0" rIns="0" tIns="0" bIns="0" anchor="t">
            <a:spAutoFit/>
          </a:bodyPr>
          <a:lstStyle/>
          <a:p>
            <a:pPr algn="l"/>
            <a:r>
              <a:rPr sz="1800" b="1" i="0">
                <a:solidFill>
                  <a:srgbClr val="0B1F3A"/>
                </a:solidFill>
                <a:latin typeface="Georgia"/>
              </a:rPr>
              <a:t>Quote → contract → paint day</a:t>
            </a:r>
          </a:p>
        </p:txBody>
      </p:sp>
      <p:sp>
        <p:nvSpPr>
          <p:cNvPr id="8" name="Oval 7"/>
          <p:cNvSpPr/>
          <p:nvPr/>
        </p:nvSpPr>
        <p:spPr>
          <a:xfrm>
            <a:off x="1143000" y="2478024"/>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423160"/>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The price the customer saw used a generic per-m² rate.</a:t>
            </a:r>
          </a:p>
        </p:txBody>
      </p:sp>
      <p:sp>
        <p:nvSpPr>
          <p:cNvPr id="10" name="Oval 9"/>
          <p:cNvSpPr/>
          <p:nvPr/>
        </p:nvSpPr>
        <p:spPr>
          <a:xfrm>
            <a:off x="1143000" y="3136392"/>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3081528"/>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Nobody worked out how much paint the painter would actually need.</a:t>
            </a:r>
          </a:p>
        </p:txBody>
      </p:sp>
      <p:sp>
        <p:nvSpPr>
          <p:cNvPr id="12" name="Oval 11"/>
          <p:cNvSpPr/>
          <p:nvPr/>
        </p:nvSpPr>
        <p:spPr>
          <a:xfrm>
            <a:off x="1143000" y="3794759"/>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3739896"/>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Painter shows up to the job, discovers they need three more buckets than estimated.</a:t>
            </a:r>
          </a:p>
        </p:txBody>
      </p:sp>
      <p:sp>
        <p:nvSpPr>
          <p:cNvPr id="14" name="Oval 13"/>
          <p:cNvSpPr/>
          <p:nvPr/>
        </p:nvSpPr>
        <p:spPr>
          <a:xfrm>
            <a:off x="1143000" y="4453127"/>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4398264"/>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Inventory gets a fire-drill order; the painter waits; the customer chases.</a:t>
            </a:r>
          </a:p>
        </p:txBody>
      </p:sp>
      <p:sp>
        <p:nvSpPr>
          <p:cNvPr id="16" name="Oval 15"/>
          <p:cNvSpPr/>
          <p:nvPr/>
        </p:nvSpPr>
        <p:spPr>
          <a:xfrm>
            <a:off x="1143000" y="5111495"/>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63040" y="5056631"/>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Reconciling cost vs. spend is manual at month-end.</a:t>
            </a:r>
          </a:p>
        </p:txBody>
      </p:sp>
      <p:sp>
        <p:nvSpPr>
          <p:cNvPr id="18" name="Rectangle 17"/>
          <p:cNvSpPr/>
          <p:nvPr/>
        </p:nvSpPr>
        <p:spPr>
          <a:xfrm>
            <a:off x="6446520" y="1280160"/>
            <a:ext cx="5212080" cy="5029200"/>
          </a:xfrm>
          <a:prstGeom prst="rect">
            <a:avLst/>
          </a:prstGeom>
          <a:solidFill>
            <a:srgbClr val="E2F3E9"/>
          </a:solidFill>
          <a:ln w="7620">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1508760"/>
            <a:ext cx="4754880" cy="365760"/>
          </a:xfrm>
          <a:prstGeom prst="rect">
            <a:avLst/>
          </a:prstGeom>
          <a:noFill/>
        </p:spPr>
        <p:txBody>
          <a:bodyPr wrap="square" lIns="0" rIns="0" tIns="0" bIns="0" anchor="t">
            <a:spAutoFit/>
          </a:bodyPr>
          <a:lstStyle/>
          <a:p>
            <a:pPr algn="l"/>
            <a:r>
              <a:rPr sz="1100" b="1" i="0">
                <a:solidFill>
                  <a:srgbClr val="1E7F4F"/>
                </a:solidFill>
                <a:latin typeface="Calibri"/>
              </a:rPr>
              <a:t>AFTER</a:t>
            </a:r>
          </a:p>
        </p:txBody>
      </p:sp>
      <p:sp>
        <p:nvSpPr>
          <p:cNvPr id="20" name="TextBox 19"/>
          <p:cNvSpPr txBox="1"/>
          <p:nvPr/>
        </p:nvSpPr>
        <p:spPr>
          <a:xfrm>
            <a:off x="6675120" y="1828800"/>
            <a:ext cx="4754880" cy="411480"/>
          </a:xfrm>
          <a:prstGeom prst="rect">
            <a:avLst/>
          </a:prstGeom>
          <a:noFill/>
        </p:spPr>
        <p:txBody>
          <a:bodyPr wrap="square" lIns="0" rIns="0" tIns="0" bIns="0" anchor="t">
            <a:spAutoFit/>
          </a:bodyPr>
          <a:lstStyle/>
          <a:p>
            <a:pPr algn="l"/>
            <a:r>
              <a:rPr sz="1800" b="1" i="0">
                <a:solidFill>
                  <a:srgbClr val="0B1F3A"/>
                </a:solidFill>
                <a:latin typeface="Georgia"/>
              </a:rPr>
              <a:t>Quote → volume gate → contract</a:t>
            </a:r>
          </a:p>
        </p:txBody>
      </p:sp>
      <p:sp>
        <p:nvSpPr>
          <p:cNvPr id="21" name="Oval 20"/>
          <p:cNvSpPr/>
          <p:nvPr/>
        </p:nvSpPr>
        <p:spPr>
          <a:xfrm>
            <a:off x="6720840" y="2478024"/>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2423160"/>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Customer picks the actual paint product(s) — interior emulsion, trim enamel, ceiling, etc.</a:t>
            </a:r>
          </a:p>
        </p:txBody>
      </p:sp>
      <p:sp>
        <p:nvSpPr>
          <p:cNvPr id="23" name="Oval 22"/>
          <p:cNvSpPr/>
          <p:nvPr/>
        </p:nvSpPr>
        <p:spPr>
          <a:xfrm>
            <a:off x="6720840" y="3136392"/>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3081528"/>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Quote builder shows live litres, buckets and material cost per line.</a:t>
            </a:r>
          </a:p>
        </p:txBody>
      </p:sp>
      <p:sp>
        <p:nvSpPr>
          <p:cNvPr id="25" name="Oval 24"/>
          <p:cNvSpPr/>
          <p:nvPr/>
        </p:nvSpPr>
        <p:spPr>
          <a:xfrm>
            <a:off x="6720840" y="3794759"/>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3739896"/>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Quote enters volume_status='pending_review' and lands on the dispatcher's queue.</a:t>
            </a:r>
          </a:p>
        </p:txBody>
      </p:sp>
      <p:sp>
        <p:nvSpPr>
          <p:cNvPr id="27" name="Oval 26"/>
          <p:cNvSpPr/>
          <p:nvPr/>
        </p:nvSpPr>
        <p:spPr>
          <a:xfrm>
            <a:off x="6720840" y="4453127"/>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0" y="4398264"/>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Dispatcher confirms or rejects. Confirmation is the gate to finalize.</a:t>
            </a:r>
          </a:p>
        </p:txBody>
      </p:sp>
      <p:sp>
        <p:nvSpPr>
          <p:cNvPr id="29" name="Oval 28"/>
          <p:cNvSpPr/>
          <p:nvPr/>
        </p:nvSpPr>
        <p:spPr>
          <a:xfrm>
            <a:off x="6720840" y="5111495"/>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0" y="5056631"/>
            <a:ext cx="4663440" cy="502920"/>
          </a:xfrm>
          <a:prstGeom prst="rect">
            <a:avLst/>
          </a:prstGeom>
          <a:noFill/>
        </p:spPr>
        <p:txBody>
          <a:bodyPr wrap="square" lIns="0" rIns="0" tIns="0" bIns="0" anchor="t">
            <a:spAutoFit/>
          </a:bodyPr>
          <a:lstStyle/>
          <a:p>
            <a:pPr algn="l">
              <a:lnSpc>
                <a:spcPct val="140000"/>
              </a:lnSpc>
            </a:pPr>
            <a:r>
              <a:rPr sz="1200" b="0" i="0">
                <a:solidFill>
                  <a:srgbClr val="424E60"/>
                </a:solidFill>
                <a:latin typeface="Calibri"/>
              </a:rPr>
              <a:t>Inventory deducts against the confirmed plan. No surprises on paint day.</a:t>
            </a:r>
          </a:p>
        </p:txBody>
      </p:sp>
      <p:sp>
        <p:nvSpPr>
          <p:cNvPr id="31" name="TextBox 30"/>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32" name="TextBox 31"/>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Volume math — formula and parameters</a:t>
            </a:r>
          </a:p>
        </p:txBody>
      </p:sp>
      <p:sp>
        <p:nvSpPr>
          <p:cNvPr id="5" name="Rectangle 4"/>
          <p:cNvSpPr/>
          <p:nvPr/>
        </p:nvSpPr>
        <p:spPr>
          <a:xfrm>
            <a:off x="868680" y="1234440"/>
            <a:ext cx="10424160" cy="9601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80160"/>
            <a:ext cx="10424160" cy="365760"/>
          </a:xfrm>
          <a:prstGeom prst="rect">
            <a:avLst/>
          </a:prstGeom>
          <a:noFill/>
        </p:spPr>
        <p:txBody>
          <a:bodyPr wrap="square" lIns="0" rIns="0" tIns="0" bIns="0" anchor="t">
            <a:spAutoFit/>
          </a:bodyPr>
          <a:lstStyle/>
          <a:p>
            <a:pPr algn="ctr"/>
            <a:r>
              <a:rPr sz="1100" b="1" i="0">
                <a:solidFill>
                  <a:srgbClr val="F5B800"/>
                </a:solidFill>
                <a:latin typeface="Calibri"/>
              </a:rPr>
              <a:t>Per paint product line</a:t>
            </a:r>
          </a:p>
        </p:txBody>
      </p:sp>
      <p:sp>
        <p:nvSpPr>
          <p:cNvPr id="7" name="TextBox 6"/>
          <p:cNvSpPr txBox="1"/>
          <p:nvPr/>
        </p:nvSpPr>
        <p:spPr>
          <a:xfrm>
            <a:off x="868680" y="1554480"/>
            <a:ext cx="10424160" cy="548640"/>
          </a:xfrm>
          <a:prstGeom prst="rect">
            <a:avLst/>
          </a:prstGeom>
          <a:noFill/>
        </p:spPr>
        <p:txBody>
          <a:bodyPr wrap="square" lIns="0" rIns="0" tIns="0" bIns="0" anchor="ctr">
            <a:spAutoFit/>
          </a:bodyPr>
          <a:lstStyle/>
          <a:p>
            <a:pPr algn="ctr"/>
            <a:r>
              <a:rPr sz="1500" b="1" i="0">
                <a:solidFill>
                  <a:srgbClr val="FFFFFF"/>
                </a:solidFill>
                <a:latin typeface="Calibri"/>
              </a:rPr>
              <a:t>litres_needed  =  ⌈  ( area × coats / coverage_m²/L )  × 1.10 ( +10% waste )  ⌉</a:t>
            </a:r>
          </a:p>
        </p:txBody>
      </p:sp>
      <p:sp>
        <p:nvSpPr>
          <p:cNvPr id="8" name="TextBox 7"/>
          <p:cNvSpPr txBox="1"/>
          <p:nvPr/>
        </p:nvSpPr>
        <p:spPr>
          <a:xfrm>
            <a:off x="868680" y="1874519"/>
            <a:ext cx="10424160" cy="320040"/>
          </a:xfrm>
          <a:prstGeom prst="rect">
            <a:avLst/>
          </a:prstGeom>
          <a:noFill/>
        </p:spPr>
        <p:txBody>
          <a:bodyPr wrap="square" lIns="0" rIns="0" tIns="0" bIns="0" anchor="t">
            <a:spAutoFit/>
          </a:bodyPr>
          <a:lstStyle/>
          <a:p>
            <a:pPr algn="ctr"/>
            <a:r>
              <a:rPr sz="1200" b="0" i="0">
                <a:solidFill>
                  <a:srgbClr val="FEF1C9"/>
                </a:solidFill>
                <a:latin typeface="Calibri"/>
              </a:rPr>
              <a:t>buckets_needed  =  ceil( litres_needed / bucket_size_litres )</a:t>
            </a:r>
          </a:p>
        </p:txBody>
      </p:sp>
      <p:sp>
        <p:nvSpPr>
          <p:cNvPr id="9" name="Rectangle 8"/>
          <p:cNvSpPr/>
          <p:nvPr/>
        </p:nvSpPr>
        <p:spPr>
          <a:xfrm>
            <a:off x="600303" y="2606040"/>
            <a:ext cx="2103120" cy="16459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4623" y="297180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7503" y="2862072"/>
            <a:ext cx="1554479" cy="310896"/>
          </a:xfrm>
          <a:prstGeom prst="rect">
            <a:avLst/>
          </a:prstGeom>
          <a:noFill/>
        </p:spPr>
        <p:txBody>
          <a:bodyPr wrap="square" lIns="0" rIns="0" tIns="0" bIns="0" anchor="t">
            <a:spAutoFit/>
          </a:bodyPr>
          <a:lstStyle/>
          <a:p>
            <a:pPr algn="l"/>
            <a:r>
              <a:rPr sz="1500" b="1" i="0">
                <a:solidFill>
                  <a:srgbClr val="1E7F4F"/>
                </a:solidFill>
                <a:latin typeface="Consolas"/>
              </a:rPr>
              <a:t>area</a:t>
            </a:r>
          </a:p>
        </p:txBody>
      </p:sp>
      <p:sp>
        <p:nvSpPr>
          <p:cNvPr id="12" name="TextBox 11"/>
          <p:cNvSpPr txBox="1"/>
          <p:nvPr/>
        </p:nvSpPr>
        <p:spPr>
          <a:xfrm>
            <a:off x="1057503" y="3200400"/>
            <a:ext cx="1554479" cy="274320"/>
          </a:xfrm>
          <a:prstGeom prst="rect">
            <a:avLst/>
          </a:prstGeom>
          <a:noFill/>
        </p:spPr>
        <p:txBody>
          <a:bodyPr wrap="square" lIns="0" rIns="0" tIns="0" bIns="0" anchor="t">
            <a:spAutoFit/>
          </a:bodyPr>
          <a:lstStyle/>
          <a:p>
            <a:pPr algn="l"/>
            <a:r>
              <a:rPr sz="1000" b="0" i="1">
                <a:solidFill>
                  <a:srgbClr val="6E7A8C"/>
                </a:solidFill>
                <a:latin typeface="Calibri"/>
              </a:rPr>
              <a:t>m²</a:t>
            </a:r>
          </a:p>
        </p:txBody>
      </p:sp>
      <p:sp>
        <p:nvSpPr>
          <p:cNvPr id="13" name="TextBox 12"/>
          <p:cNvSpPr txBox="1"/>
          <p:nvPr/>
        </p:nvSpPr>
        <p:spPr>
          <a:xfrm>
            <a:off x="874623" y="3520440"/>
            <a:ext cx="1645919" cy="6858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From the room dimensions step or entered manually per line.</a:t>
            </a:r>
          </a:p>
        </p:txBody>
      </p:sp>
      <p:sp>
        <p:nvSpPr>
          <p:cNvPr id="14" name="Rectangle 13"/>
          <p:cNvSpPr/>
          <p:nvPr/>
        </p:nvSpPr>
        <p:spPr>
          <a:xfrm>
            <a:off x="2822295" y="2606040"/>
            <a:ext cx="2103120" cy="16459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96615" y="297180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9495" y="2862072"/>
            <a:ext cx="1554479" cy="310896"/>
          </a:xfrm>
          <a:prstGeom prst="rect">
            <a:avLst/>
          </a:prstGeom>
          <a:noFill/>
        </p:spPr>
        <p:txBody>
          <a:bodyPr wrap="square" lIns="0" rIns="0" tIns="0" bIns="0" anchor="t">
            <a:spAutoFit/>
          </a:bodyPr>
          <a:lstStyle/>
          <a:p>
            <a:pPr algn="l"/>
            <a:r>
              <a:rPr sz="1500" b="1" i="0">
                <a:solidFill>
                  <a:srgbClr val="1E7F4F"/>
                </a:solidFill>
                <a:latin typeface="Consolas"/>
              </a:rPr>
              <a:t>coats</a:t>
            </a:r>
          </a:p>
        </p:txBody>
      </p:sp>
      <p:sp>
        <p:nvSpPr>
          <p:cNvPr id="17" name="TextBox 16"/>
          <p:cNvSpPr txBox="1"/>
          <p:nvPr/>
        </p:nvSpPr>
        <p:spPr>
          <a:xfrm>
            <a:off x="3279495" y="3200400"/>
            <a:ext cx="1554479" cy="274320"/>
          </a:xfrm>
          <a:prstGeom prst="rect">
            <a:avLst/>
          </a:prstGeom>
          <a:noFill/>
        </p:spPr>
        <p:txBody>
          <a:bodyPr wrap="square" lIns="0" rIns="0" tIns="0" bIns="0" anchor="t">
            <a:spAutoFit/>
          </a:bodyPr>
          <a:lstStyle/>
          <a:p>
            <a:pPr algn="l"/>
            <a:r>
              <a:rPr sz="1000" b="0" i="1">
                <a:solidFill>
                  <a:srgbClr val="6E7A8C"/>
                </a:solidFill>
                <a:latin typeface="Calibri"/>
              </a:rPr>
              <a:t>1 – 5</a:t>
            </a:r>
          </a:p>
        </p:txBody>
      </p:sp>
      <p:sp>
        <p:nvSpPr>
          <p:cNvPr id="18" name="TextBox 17"/>
          <p:cNvSpPr txBox="1"/>
          <p:nvPr/>
        </p:nvSpPr>
        <p:spPr>
          <a:xfrm>
            <a:off x="3096615" y="3520440"/>
            <a:ext cx="1645919" cy="6858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Defaults to the product's coats_recommended (usually 2).</a:t>
            </a:r>
          </a:p>
        </p:txBody>
      </p:sp>
      <p:sp>
        <p:nvSpPr>
          <p:cNvPr id="19" name="Rectangle 18"/>
          <p:cNvSpPr/>
          <p:nvPr/>
        </p:nvSpPr>
        <p:spPr>
          <a:xfrm>
            <a:off x="5044287" y="2606040"/>
            <a:ext cx="2103120" cy="16459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18607" y="297180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1487" y="2862072"/>
            <a:ext cx="1554479" cy="310896"/>
          </a:xfrm>
          <a:prstGeom prst="rect">
            <a:avLst/>
          </a:prstGeom>
          <a:noFill/>
        </p:spPr>
        <p:txBody>
          <a:bodyPr wrap="square" lIns="0" rIns="0" tIns="0" bIns="0" anchor="t">
            <a:spAutoFit/>
          </a:bodyPr>
          <a:lstStyle/>
          <a:p>
            <a:pPr algn="l"/>
            <a:r>
              <a:rPr sz="1500" b="1" i="0">
                <a:solidFill>
                  <a:srgbClr val="1E7F4F"/>
                </a:solidFill>
                <a:latin typeface="Consolas"/>
              </a:rPr>
              <a:t>coverage</a:t>
            </a:r>
          </a:p>
        </p:txBody>
      </p:sp>
      <p:sp>
        <p:nvSpPr>
          <p:cNvPr id="22" name="TextBox 21"/>
          <p:cNvSpPr txBox="1"/>
          <p:nvPr/>
        </p:nvSpPr>
        <p:spPr>
          <a:xfrm>
            <a:off x="5501487" y="3200400"/>
            <a:ext cx="1554479" cy="274320"/>
          </a:xfrm>
          <a:prstGeom prst="rect">
            <a:avLst/>
          </a:prstGeom>
          <a:noFill/>
        </p:spPr>
        <p:txBody>
          <a:bodyPr wrap="square" lIns="0" rIns="0" tIns="0" bIns="0" anchor="t">
            <a:spAutoFit/>
          </a:bodyPr>
          <a:lstStyle/>
          <a:p>
            <a:pPr algn="l"/>
            <a:r>
              <a:rPr sz="1000" b="0" i="1">
                <a:solidFill>
                  <a:srgbClr val="6E7A8C"/>
                </a:solidFill>
                <a:latin typeface="Calibri"/>
              </a:rPr>
              <a:t>m² / L</a:t>
            </a:r>
          </a:p>
        </p:txBody>
      </p:sp>
      <p:sp>
        <p:nvSpPr>
          <p:cNvPr id="23" name="TextBox 22"/>
          <p:cNvSpPr txBox="1"/>
          <p:nvPr/>
        </p:nvSpPr>
        <p:spPr>
          <a:xfrm>
            <a:off x="5318607" y="3520440"/>
            <a:ext cx="1645919" cy="6858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Snapshotted from paint_products at the moment the line is saved.</a:t>
            </a:r>
          </a:p>
        </p:txBody>
      </p:sp>
      <p:sp>
        <p:nvSpPr>
          <p:cNvPr id="24" name="Rectangle 23"/>
          <p:cNvSpPr/>
          <p:nvPr/>
        </p:nvSpPr>
        <p:spPr>
          <a:xfrm>
            <a:off x="7266279" y="2606040"/>
            <a:ext cx="2103120" cy="16459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40599" y="297180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3479" y="2862072"/>
            <a:ext cx="1554479" cy="310896"/>
          </a:xfrm>
          <a:prstGeom prst="rect">
            <a:avLst/>
          </a:prstGeom>
          <a:noFill/>
        </p:spPr>
        <p:txBody>
          <a:bodyPr wrap="square" lIns="0" rIns="0" tIns="0" bIns="0" anchor="t">
            <a:spAutoFit/>
          </a:bodyPr>
          <a:lstStyle/>
          <a:p>
            <a:pPr algn="l"/>
            <a:r>
              <a:rPr sz="1500" b="1" i="0">
                <a:solidFill>
                  <a:srgbClr val="1E7F4F"/>
                </a:solidFill>
                <a:latin typeface="Consolas"/>
              </a:rPr>
              <a:t>waste</a:t>
            </a:r>
          </a:p>
        </p:txBody>
      </p:sp>
      <p:sp>
        <p:nvSpPr>
          <p:cNvPr id="27" name="TextBox 26"/>
          <p:cNvSpPr txBox="1"/>
          <p:nvPr/>
        </p:nvSpPr>
        <p:spPr>
          <a:xfrm>
            <a:off x="7723479" y="3200400"/>
            <a:ext cx="1554479" cy="274320"/>
          </a:xfrm>
          <a:prstGeom prst="rect">
            <a:avLst/>
          </a:prstGeom>
          <a:noFill/>
        </p:spPr>
        <p:txBody>
          <a:bodyPr wrap="square" lIns="0" rIns="0" tIns="0" bIns="0" anchor="t">
            <a:spAutoFit/>
          </a:bodyPr>
          <a:lstStyle/>
          <a:p>
            <a:pPr algn="l"/>
            <a:r>
              <a:rPr sz="1000" b="0" i="1">
                <a:solidFill>
                  <a:srgbClr val="6E7A8C"/>
                </a:solidFill>
                <a:latin typeface="Calibri"/>
              </a:rPr>
              <a:t>10%</a:t>
            </a:r>
          </a:p>
        </p:txBody>
      </p:sp>
      <p:sp>
        <p:nvSpPr>
          <p:cNvPr id="28" name="TextBox 27"/>
          <p:cNvSpPr txBox="1"/>
          <p:nvPr/>
        </p:nvSpPr>
        <p:spPr>
          <a:xfrm>
            <a:off x="7540599" y="3520440"/>
            <a:ext cx="1645919" cy="6858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Standard touch-up + trim overage. Configurable per product.</a:t>
            </a:r>
          </a:p>
        </p:txBody>
      </p:sp>
      <p:sp>
        <p:nvSpPr>
          <p:cNvPr id="29" name="Rectangle 28"/>
          <p:cNvSpPr/>
          <p:nvPr/>
        </p:nvSpPr>
        <p:spPr>
          <a:xfrm>
            <a:off x="9488271" y="2606040"/>
            <a:ext cx="2103120" cy="16459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62591" y="297180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5471" y="2862072"/>
            <a:ext cx="1554479" cy="310896"/>
          </a:xfrm>
          <a:prstGeom prst="rect">
            <a:avLst/>
          </a:prstGeom>
          <a:noFill/>
        </p:spPr>
        <p:txBody>
          <a:bodyPr wrap="square" lIns="0" rIns="0" tIns="0" bIns="0" anchor="t">
            <a:spAutoFit/>
          </a:bodyPr>
          <a:lstStyle/>
          <a:p>
            <a:pPr algn="l"/>
            <a:r>
              <a:rPr sz="1500" b="1" i="0">
                <a:solidFill>
                  <a:srgbClr val="1E7F4F"/>
                </a:solidFill>
                <a:latin typeface="Consolas"/>
              </a:rPr>
              <a:t>bucket</a:t>
            </a:r>
          </a:p>
        </p:txBody>
      </p:sp>
      <p:sp>
        <p:nvSpPr>
          <p:cNvPr id="32" name="TextBox 31"/>
          <p:cNvSpPr txBox="1"/>
          <p:nvPr/>
        </p:nvSpPr>
        <p:spPr>
          <a:xfrm>
            <a:off x="9945471" y="3200400"/>
            <a:ext cx="1554479" cy="274320"/>
          </a:xfrm>
          <a:prstGeom prst="rect">
            <a:avLst/>
          </a:prstGeom>
          <a:noFill/>
        </p:spPr>
        <p:txBody>
          <a:bodyPr wrap="square" lIns="0" rIns="0" tIns="0" bIns="0" anchor="t">
            <a:spAutoFit/>
          </a:bodyPr>
          <a:lstStyle/>
          <a:p>
            <a:pPr algn="l"/>
            <a:r>
              <a:rPr sz="1000" b="0" i="1">
                <a:solidFill>
                  <a:srgbClr val="6E7A8C"/>
                </a:solidFill>
                <a:latin typeface="Calibri"/>
              </a:rPr>
              <a:t>L</a:t>
            </a:r>
          </a:p>
        </p:txBody>
      </p:sp>
      <p:sp>
        <p:nvSpPr>
          <p:cNvPr id="33" name="TextBox 32"/>
          <p:cNvSpPr txBox="1"/>
          <p:nvPr/>
        </p:nvSpPr>
        <p:spPr>
          <a:xfrm>
            <a:off x="9762591" y="3520440"/>
            <a:ext cx="1645919" cy="6858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Round-up to whole buckets — you can't buy half a tin.</a:t>
            </a:r>
          </a:p>
        </p:txBody>
      </p:sp>
      <p:sp>
        <p:nvSpPr>
          <p:cNvPr id="34" name="TextBox 33"/>
          <p:cNvSpPr txBox="1"/>
          <p:nvPr/>
        </p:nvSpPr>
        <p:spPr>
          <a:xfrm>
            <a:off x="868680" y="4526280"/>
            <a:ext cx="10424160" cy="310896"/>
          </a:xfrm>
          <a:prstGeom prst="rect">
            <a:avLst/>
          </a:prstGeom>
          <a:noFill/>
        </p:spPr>
        <p:txBody>
          <a:bodyPr wrap="square" lIns="0" rIns="0" tIns="0" bIns="0" anchor="t">
            <a:spAutoFit/>
          </a:bodyPr>
          <a:lstStyle/>
          <a:p>
            <a:pPr algn="l"/>
            <a:r>
              <a:rPr sz="1400" b="1" i="0">
                <a:solidFill>
                  <a:srgbClr val="0B1F3A"/>
                </a:solidFill>
                <a:latin typeface="Georgia"/>
              </a:rPr>
              <a:t>Worked example — interior wall paint</a:t>
            </a:r>
          </a:p>
        </p:txBody>
      </p:sp>
      <p:sp>
        <p:nvSpPr>
          <p:cNvPr id="35" name="TextBox 34"/>
          <p:cNvSpPr txBox="1"/>
          <p:nvPr/>
        </p:nvSpPr>
        <p:spPr>
          <a:xfrm>
            <a:off x="914400" y="4910328"/>
            <a:ext cx="1097280" cy="256032"/>
          </a:xfrm>
          <a:prstGeom prst="rect">
            <a:avLst/>
          </a:prstGeom>
          <a:noFill/>
        </p:spPr>
        <p:txBody>
          <a:bodyPr wrap="square" lIns="0" rIns="0" tIns="0" bIns="0" anchor="t">
            <a:spAutoFit/>
          </a:bodyPr>
          <a:lstStyle/>
          <a:p>
            <a:pPr algn="l"/>
            <a:r>
              <a:rPr sz="1100" b="1" i="0">
                <a:solidFill>
                  <a:srgbClr val="1E7F4F"/>
                </a:solidFill>
                <a:latin typeface="Consolas"/>
              </a:rPr>
              <a:t>Inputs</a:t>
            </a:r>
          </a:p>
        </p:txBody>
      </p:sp>
      <p:sp>
        <p:nvSpPr>
          <p:cNvPr id="36" name="TextBox 35"/>
          <p:cNvSpPr txBox="1"/>
          <p:nvPr/>
        </p:nvSpPr>
        <p:spPr>
          <a:xfrm>
            <a:off x="2011680" y="4910328"/>
            <a:ext cx="9144000" cy="256032"/>
          </a:xfrm>
          <a:prstGeom prst="rect">
            <a:avLst/>
          </a:prstGeom>
          <a:noFill/>
        </p:spPr>
        <p:txBody>
          <a:bodyPr wrap="square" lIns="0" rIns="0" tIns="0" bIns="0" anchor="t">
            <a:spAutoFit/>
          </a:bodyPr>
          <a:lstStyle/>
          <a:p>
            <a:pPr algn="l"/>
            <a:r>
              <a:rPr sz="1100" b="0" i="0">
                <a:solidFill>
                  <a:srgbClr val="424E60"/>
                </a:solidFill>
                <a:latin typeface="Consolas"/>
              </a:rPr>
              <a:t>60 m² × 2 coats · coverage 11 m²/L · bucket 20 L · price ₵55/L</a:t>
            </a:r>
          </a:p>
        </p:txBody>
      </p:sp>
      <p:sp>
        <p:nvSpPr>
          <p:cNvPr id="37" name="TextBox 36"/>
          <p:cNvSpPr txBox="1"/>
          <p:nvPr/>
        </p:nvSpPr>
        <p:spPr>
          <a:xfrm>
            <a:off x="914400" y="5184648"/>
            <a:ext cx="1097280" cy="256032"/>
          </a:xfrm>
          <a:prstGeom prst="rect">
            <a:avLst/>
          </a:prstGeom>
          <a:noFill/>
        </p:spPr>
        <p:txBody>
          <a:bodyPr wrap="square" lIns="0" rIns="0" tIns="0" bIns="0" anchor="t">
            <a:spAutoFit/>
          </a:bodyPr>
          <a:lstStyle/>
          <a:p>
            <a:pPr algn="l"/>
            <a:r>
              <a:rPr sz="1100" b="1" i="0">
                <a:solidFill>
                  <a:srgbClr val="1E7F4F"/>
                </a:solidFill>
                <a:latin typeface="Consolas"/>
              </a:rPr>
              <a:t>Raw</a:t>
            </a:r>
          </a:p>
        </p:txBody>
      </p:sp>
      <p:sp>
        <p:nvSpPr>
          <p:cNvPr id="38" name="TextBox 37"/>
          <p:cNvSpPr txBox="1"/>
          <p:nvPr/>
        </p:nvSpPr>
        <p:spPr>
          <a:xfrm>
            <a:off x="2011680" y="5184648"/>
            <a:ext cx="9144000" cy="256032"/>
          </a:xfrm>
          <a:prstGeom prst="rect">
            <a:avLst/>
          </a:prstGeom>
          <a:noFill/>
        </p:spPr>
        <p:txBody>
          <a:bodyPr wrap="square" lIns="0" rIns="0" tIns="0" bIns="0" anchor="t">
            <a:spAutoFit/>
          </a:bodyPr>
          <a:lstStyle/>
          <a:p>
            <a:pPr algn="l"/>
            <a:r>
              <a:rPr sz="1100" b="0" i="0">
                <a:solidFill>
                  <a:srgbClr val="424E60"/>
                </a:solidFill>
                <a:latin typeface="Consolas"/>
              </a:rPr>
              <a:t>60 × 2 / 11  =  10.91 L</a:t>
            </a:r>
          </a:p>
        </p:txBody>
      </p:sp>
      <p:sp>
        <p:nvSpPr>
          <p:cNvPr id="39" name="TextBox 38"/>
          <p:cNvSpPr txBox="1"/>
          <p:nvPr/>
        </p:nvSpPr>
        <p:spPr>
          <a:xfrm>
            <a:off x="914400" y="5458968"/>
            <a:ext cx="1097280" cy="256032"/>
          </a:xfrm>
          <a:prstGeom prst="rect">
            <a:avLst/>
          </a:prstGeom>
          <a:noFill/>
        </p:spPr>
        <p:txBody>
          <a:bodyPr wrap="square" lIns="0" rIns="0" tIns="0" bIns="0" anchor="t">
            <a:spAutoFit/>
          </a:bodyPr>
          <a:lstStyle/>
          <a:p>
            <a:pPr algn="l"/>
            <a:r>
              <a:rPr sz="1100" b="1" i="0">
                <a:solidFill>
                  <a:srgbClr val="1E7F4F"/>
                </a:solidFill>
                <a:latin typeface="Consolas"/>
              </a:rPr>
              <a:t>Waste</a:t>
            </a:r>
          </a:p>
        </p:txBody>
      </p:sp>
      <p:sp>
        <p:nvSpPr>
          <p:cNvPr id="40" name="TextBox 39"/>
          <p:cNvSpPr txBox="1"/>
          <p:nvPr/>
        </p:nvSpPr>
        <p:spPr>
          <a:xfrm>
            <a:off x="2011680" y="5458968"/>
            <a:ext cx="9144000" cy="256032"/>
          </a:xfrm>
          <a:prstGeom prst="rect">
            <a:avLst/>
          </a:prstGeom>
          <a:noFill/>
        </p:spPr>
        <p:txBody>
          <a:bodyPr wrap="square" lIns="0" rIns="0" tIns="0" bIns="0" anchor="t">
            <a:spAutoFit/>
          </a:bodyPr>
          <a:lstStyle/>
          <a:p>
            <a:pPr algn="l"/>
            <a:r>
              <a:rPr sz="1100" b="0" i="0">
                <a:solidFill>
                  <a:srgbClr val="424E60"/>
                </a:solidFill>
                <a:latin typeface="Consolas"/>
              </a:rPr>
              <a:t>10.91 × 1.10  =  12.00 L</a:t>
            </a:r>
          </a:p>
        </p:txBody>
      </p:sp>
      <p:sp>
        <p:nvSpPr>
          <p:cNvPr id="41" name="TextBox 40"/>
          <p:cNvSpPr txBox="1"/>
          <p:nvPr/>
        </p:nvSpPr>
        <p:spPr>
          <a:xfrm>
            <a:off x="914400" y="5733288"/>
            <a:ext cx="1097280" cy="256032"/>
          </a:xfrm>
          <a:prstGeom prst="rect">
            <a:avLst/>
          </a:prstGeom>
          <a:noFill/>
        </p:spPr>
        <p:txBody>
          <a:bodyPr wrap="square" lIns="0" rIns="0" tIns="0" bIns="0" anchor="t">
            <a:spAutoFit/>
          </a:bodyPr>
          <a:lstStyle/>
          <a:p>
            <a:pPr algn="l"/>
            <a:r>
              <a:rPr sz="1100" b="1" i="0">
                <a:solidFill>
                  <a:srgbClr val="1E7F4F"/>
                </a:solidFill>
                <a:latin typeface="Consolas"/>
              </a:rPr>
              <a:t>Buckets</a:t>
            </a:r>
          </a:p>
        </p:txBody>
      </p:sp>
      <p:sp>
        <p:nvSpPr>
          <p:cNvPr id="42" name="TextBox 41"/>
          <p:cNvSpPr txBox="1"/>
          <p:nvPr/>
        </p:nvSpPr>
        <p:spPr>
          <a:xfrm>
            <a:off x="2011680" y="5733288"/>
            <a:ext cx="9144000" cy="256032"/>
          </a:xfrm>
          <a:prstGeom prst="rect">
            <a:avLst/>
          </a:prstGeom>
          <a:noFill/>
        </p:spPr>
        <p:txBody>
          <a:bodyPr wrap="square" lIns="0" rIns="0" tIns="0" bIns="0" anchor="t">
            <a:spAutoFit/>
          </a:bodyPr>
          <a:lstStyle/>
          <a:p>
            <a:pPr algn="l"/>
            <a:r>
              <a:rPr sz="1100" b="0" i="0">
                <a:solidFill>
                  <a:srgbClr val="424E60"/>
                </a:solidFill>
                <a:latin typeface="Consolas"/>
              </a:rPr>
              <a:t>ceil(12 / 20)  =  1 bucket  (20 L purchased)</a:t>
            </a:r>
          </a:p>
        </p:txBody>
      </p:sp>
      <p:sp>
        <p:nvSpPr>
          <p:cNvPr id="43" name="TextBox 42"/>
          <p:cNvSpPr txBox="1"/>
          <p:nvPr/>
        </p:nvSpPr>
        <p:spPr>
          <a:xfrm>
            <a:off x="914400" y="6007607"/>
            <a:ext cx="1097280" cy="256032"/>
          </a:xfrm>
          <a:prstGeom prst="rect">
            <a:avLst/>
          </a:prstGeom>
          <a:noFill/>
        </p:spPr>
        <p:txBody>
          <a:bodyPr wrap="square" lIns="0" rIns="0" tIns="0" bIns="0" anchor="t">
            <a:spAutoFit/>
          </a:bodyPr>
          <a:lstStyle/>
          <a:p>
            <a:pPr algn="l"/>
            <a:r>
              <a:rPr sz="1100" b="1" i="0">
                <a:solidFill>
                  <a:srgbClr val="F5B800"/>
                </a:solidFill>
                <a:latin typeface="Consolas"/>
              </a:rPr>
              <a:t>Cost</a:t>
            </a:r>
          </a:p>
        </p:txBody>
      </p:sp>
      <p:sp>
        <p:nvSpPr>
          <p:cNvPr id="44" name="TextBox 43"/>
          <p:cNvSpPr txBox="1"/>
          <p:nvPr/>
        </p:nvSpPr>
        <p:spPr>
          <a:xfrm>
            <a:off x="2011680" y="6007607"/>
            <a:ext cx="9144000" cy="256032"/>
          </a:xfrm>
          <a:prstGeom prst="rect">
            <a:avLst/>
          </a:prstGeom>
          <a:noFill/>
        </p:spPr>
        <p:txBody>
          <a:bodyPr wrap="square" lIns="0" rIns="0" tIns="0" bIns="0" anchor="t">
            <a:spAutoFit/>
          </a:bodyPr>
          <a:lstStyle/>
          <a:p>
            <a:pPr algn="l"/>
            <a:r>
              <a:rPr sz="1100" b="1" i="0">
                <a:solidFill>
                  <a:srgbClr val="0B1F3A"/>
                </a:solidFill>
                <a:latin typeface="Consolas"/>
              </a:rPr>
              <a:t>1 × 20 L × ₵55  =  ₵1,100 material cost</a:t>
            </a:r>
          </a:p>
        </p:txBody>
      </p:sp>
      <p:sp>
        <p:nvSpPr>
          <p:cNvPr id="45" name="TextBox 44"/>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46" name="TextBox 45"/>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Paint catalog — nine product categories</a:t>
            </a:r>
          </a:p>
        </p:txBody>
      </p:sp>
      <p:sp>
        <p:nvSpPr>
          <p:cNvPr id="5" name="TextBox 4"/>
          <p:cNvSpPr txBox="1"/>
          <p:nvPr/>
        </p:nvSpPr>
        <p:spPr>
          <a:xfrm>
            <a:off x="868680" y="1234440"/>
            <a:ext cx="10515600" cy="457200"/>
          </a:xfrm>
          <a:prstGeom prst="rect">
            <a:avLst/>
          </a:prstGeom>
          <a:noFill/>
        </p:spPr>
        <p:txBody>
          <a:bodyPr wrap="square" lIns="0" rIns="0" tIns="0" bIns="0" anchor="t">
            <a:spAutoFit/>
          </a:bodyPr>
          <a:lstStyle/>
          <a:p>
            <a:pPr algn="l">
              <a:lnSpc>
                <a:spcPct val="135000"/>
              </a:lnSpc>
            </a:pPr>
            <a:r>
              <a:rPr sz="1300" b="0" i="1">
                <a:solidFill>
                  <a:srgbClr val="6E7A8C"/>
                </a:solidFill>
                <a:latin typeface="Calibri"/>
              </a:rPr>
              <a:t>Coverage rates and bucket sizes baked in. Inventory Manager edits them in the admin console; the customer-side calculator and the dispatcher's review pull from the same row.</a:t>
            </a:r>
          </a:p>
        </p:txBody>
      </p:sp>
      <p:sp>
        <p:nvSpPr>
          <p:cNvPr id="6" name="Rectangle 5"/>
          <p:cNvSpPr/>
          <p:nvPr/>
        </p:nvSpPr>
        <p:spPr>
          <a:xfrm>
            <a:off x="678027" y="2103120"/>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2347" y="2432303"/>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0947" y="2304288"/>
            <a:ext cx="2880360" cy="320040"/>
          </a:xfrm>
          <a:prstGeom prst="rect">
            <a:avLst/>
          </a:prstGeom>
          <a:noFill/>
        </p:spPr>
        <p:txBody>
          <a:bodyPr wrap="square" lIns="0" rIns="0" tIns="0" bIns="0" anchor="t">
            <a:spAutoFit/>
          </a:bodyPr>
          <a:lstStyle/>
          <a:p>
            <a:pPr algn="l"/>
            <a:r>
              <a:rPr sz="1400" b="1" i="0">
                <a:solidFill>
                  <a:srgbClr val="0B1F3A"/>
                </a:solidFill>
                <a:latin typeface="Georgia"/>
              </a:rPr>
              <a:t>Interior Emulsion</a:t>
            </a:r>
          </a:p>
        </p:txBody>
      </p:sp>
      <p:sp>
        <p:nvSpPr>
          <p:cNvPr id="9" name="TextBox 8"/>
          <p:cNvSpPr txBox="1"/>
          <p:nvPr/>
        </p:nvSpPr>
        <p:spPr>
          <a:xfrm>
            <a:off x="952347" y="2670048"/>
            <a:ext cx="3063240" cy="274320"/>
          </a:xfrm>
          <a:prstGeom prst="rect">
            <a:avLst/>
          </a:prstGeom>
          <a:noFill/>
        </p:spPr>
        <p:txBody>
          <a:bodyPr wrap="square" lIns="0" rIns="0" tIns="0" bIns="0" anchor="t">
            <a:spAutoFit/>
          </a:bodyPr>
          <a:lstStyle/>
          <a:p>
            <a:pPr algn="l"/>
            <a:r>
              <a:rPr sz="1000" b="0" i="0">
                <a:solidFill>
                  <a:srgbClr val="1E7F4F"/>
                </a:solidFill>
                <a:latin typeface="Consolas"/>
              </a:rPr>
              <a:t>11 m²/L · 20 L · ₵55/L</a:t>
            </a:r>
          </a:p>
        </p:txBody>
      </p:sp>
      <p:sp>
        <p:nvSpPr>
          <p:cNvPr id="10" name="TextBox 9"/>
          <p:cNvSpPr txBox="1"/>
          <p:nvPr/>
        </p:nvSpPr>
        <p:spPr>
          <a:xfrm>
            <a:off x="952347" y="2944368"/>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General-purpose interior walls.</a:t>
            </a:r>
          </a:p>
        </p:txBody>
      </p:sp>
      <p:sp>
        <p:nvSpPr>
          <p:cNvPr id="11" name="Rectangle 10"/>
          <p:cNvSpPr/>
          <p:nvPr/>
        </p:nvSpPr>
        <p:spPr>
          <a:xfrm>
            <a:off x="4335627" y="2103120"/>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09947" y="2432303"/>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38547" y="2304288"/>
            <a:ext cx="2880360" cy="320040"/>
          </a:xfrm>
          <a:prstGeom prst="rect">
            <a:avLst/>
          </a:prstGeom>
          <a:noFill/>
        </p:spPr>
        <p:txBody>
          <a:bodyPr wrap="square" lIns="0" rIns="0" tIns="0" bIns="0" anchor="t">
            <a:spAutoFit/>
          </a:bodyPr>
          <a:lstStyle/>
          <a:p>
            <a:pPr algn="l"/>
            <a:r>
              <a:rPr sz="1400" b="1" i="0">
                <a:solidFill>
                  <a:srgbClr val="0B1F3A"/>
                </a:solidFill>
                <a:latin typeface="Georgia"/>
              </a:rPr>
              <a:t>Wall &amp; Ceiling Emulsion</a:t>
            </a:r>
          </a:p>
        </p:txBody>
      </p:sp>
      <p:sp>
        <p:nvSpPr>
          <p:cNvPr id="14" name="TextBox 13"/>
          <p:cNvSpPr txBox="1"/>
          <p:nvPr/>
        </p:nvSpPr>
        <p:spPr>
          <a:xfrm>
            <a:off x="4609947" y="2670048"/>
            <a:ext cx="3063240" cy="274320"/>
          </a:xfrm>
          <a:prstGeom prst="rect">
            <a:avLst/>
          </a:prstGeom>
          <a:noFill/>
        </p:spPr>
        <p:txBody>
          <a:bodyPr wrap="square" lIns="0" rIns="0" tIns="0" bIns="0" anchor="t">
            <a:spAutoFit/>
          </a:bodyPr>
          <a:lstStyle/>
          <a:p>
            <a:pPr algn="l"/>
            <a:r>
              <a:rPr sz="1000" b="0" i="0">
                <a:solidFill>
                  <a:srgbClr val="1E7F4F"/>
                </a:solidFill>
                <a:latin typeface="Consolas"/>
              </a:rPr>
              <a:t>11 m²/L · 20 L · ₵50/L</a:t>
            </a:r>
          </a:p>
        </p:txBody>
      </p:sp>
      <p:sp>
        <p:nvSpPr>
          <p:cNvPr id="15" name="TextBox 14"/>
          <p:cNvSpPr txBox="1"/>
          <p:nvPr/>
        </p:nvSpPr>
        <p:spPr>
          <a:xfrm>
            <a:off x="4609947" y="2944368"/>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Low-sheen, high-hide for ceilings.</a:t>
            </a:r>
          </a:p>
        </p:txBody>
      </p:sp>
      <p:sp>
        <p:nvSpPr>
          <p:cNvPr id="16" name="Rectangle 15"/>
          <p:cNvSpPr/>
          <p:nvPr/>
        </p:nvSpPr>
        <p:spPr>
          <a:xfrm>
            <a:off x="7993227" y="2103120"/>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67547" y="2432303"/>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6147" y="2304288"/>
            <a:ext cx="2880360" cy="320040"/>
          </a:xfrm>
          <a:prstGeom prst="rect">
            <a:avLst/>
          </a:prstGeom>
          <a:noFill/>
        </p:spPr>
        <p:txBody>
          <a:bodyPr wrap="square" lIns="0" rIns="0" tIns="0" bIns="0" anchor="t">
            <a:spAutoFit/>
          </a:bodyPr>
          <a:lstStyle/>
          <a:p>
            <a:pPr algn="l"/>
            <a:r>
              <a:rPr sz="1400" b="1" i="0">
                <a:solidFill>
                  <a:srgbClr val="0B1F3A"/>
                </a:solidFill>
                <a:latin typeface="Georgia"/>
              </a:rPr>
              <a:t>Furniture &amp; Trim Enamel</a:t>
            </a:r>
          </a:p>
        </p:txBody>
      </p:sp>
      <p:sp>
        <p:nvSpPr>
          <p:cNvPr id="19" name="TextBox 18"/>
          <p:cNvSpPr txBox="1"/>
          <p:nvPr/>
        </p:nvSpPr>
        <p:spPr>
          <a:xfrm>
            <a:off x="8267547" y="2670048"/>
            <a:ext cx="3063240" cy="274320"/>
          </a:xfrm>
          <a:prstGeom prst="rect">
            <a:avLst/>
          </a:prstGeom>
          <a:noFill/>
        </p:spPr>
        <p:txBody>
          <a:bodyPr wrap="square" lIns="0" rIns="0" tIns="0" bIns="0" anchor="t">
            <a:spAutoFit/>
          </a:bodyPr>
          <a:lstStyle/>
          <a:p>
            <a:pPr algn="l"/>
            <a:r>
              <a:rPr sz="1000" b="0" i="0">
                <a:solidFill>
                  <a:srgbClr val="1E7F4F"/>
                </a:solidFill>
                <a:latin typeface="Consolas"/>
              </a:rPr>
              <a:t>13 m²/L · 4 L · ₵95/L</a:t>
            </a:r>
          </a:p>
        </p:txBody>
      </p:sp>
      <p:sp>
        <p:nvSpPr>
          <p:cNvPr id="20" name="TextBox 19"/>
          <p:cNvSpPr txBox="1"/>
          <p:nvPr/>
        </p:nvSpPr>
        <p:spPr>
          <a:xfrm>
            <a:off x="8267547" y="2944368"/>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Oil-based for doors, skirting, furniture.</a:t>
            </a:r>
          </a:p>
        </p:txBody>
      </p:sp>
      <p:sp>
        <p:nvSpPr>
          <p:cNvPr id="21" name="Rectangle 20"/>
          <p:cNvSpPr/>
          <p:nvPr/>
        </p:nvSpPr>
        <p:spPr>
          <a:xfrm>
            <a:off x="678027" y="3685031"/>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52347" y="4014215"/>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0947" y="3886199"/>
            <a:ext cx="2880360" cy="320040"/>
          </a:xfrm>
          <a:prstGeom prst="rect">
            <a:avLst/>
          </a:prstGeom>
          <a:noFill/>
        </p:spPr>
        <p:txBody>
          <a:bodyPr wrap="square" lIns="0" rIns="0" tIns="0" bIns="0" anchor="t">
            <a:spAutoFit/>
          </a:bodyPr>
          <a:lstStyle/>
          <a:p>
            <a:pPr algn="l"/>
            <a:r>
              <a:rPr sz="1400" b="1" i="0">
                <a:solidFill>
                  <a:srgbClr val="0B1F3A"/>
                </a:solidFill>
                <a:latin typeface="Georgia"/>
              </a:rPr>
              <a:t>Floor-based Epoxy</a:t>
            </a:r>
          </a:p>
        </p:txBody>
      </p:sp>
      <p:sp>
        <p:nvSpPr>
          <p:cNvPr id="24" name="TextBox 23"/>
          <p:cNvSpPr txBox="1"/>
          <p:nvPr/>
        </p:nvSpPr>
        <p:spPr>
          <a:xfrm>
            <a:off x="952347" y="4251959"/>
            <a:ext cx="3063240" cy="274320"/>
          </a:xfrm>
          <a:prstGeom prst="rect">
            <a:avLst/>
          </a:prstGeom>
          <a:noFill/>
        </p:spPr>
        <p:txBody>
          <a:bodyPr wrap="square" lIns="0" rIns="0" tIns="0" bIns="0" anchor="t">
            <a:spAutoFit/>
          </a:bodyPr>
          <a:lstStyle/>
          <a:p>
            <a:pPr algn="l"/>
            <a:r>
              <a:rPr sz="1000" b="0" i="0">
                <a:solidFill>
                  <a:srgbClr val="1E7F4F"/>
                </a:solidFill>
                <a:latin typeface="Consolas"/>
              </a:rPr>
              <a:t>9 m²/L · 4 L · ₵140/L</a:t>
            </a:r>
          </a:p>
        </p:txBody>
      </p:sp>
      <p:sp>
        <p:nvSpPr>
          <p:cNvPr id="25" name="TextBox 24"/>
          <p:cNvSpPr txBox="1"/>
          <p:nvPr/>
        </p:nvSpPr>
        <p:spPr>
          <a:xfrm>
            <a:off x="952347" y="4526279"/>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Two-pack epoxy for concrete floors.</a:t>
            </a:r>
          </a:p>
        </p:txBody>
      </p:sp>
      <p:sp>
        <p:nvSpPr>
          <p:cNvPr id="26" name="Rectangle 25"/>
          <p:cNvSpPr/>
          <p:nvPr/>
        </p:nvSpPr>
        <p:spPr>
          <a:xfrm>
            <a:off x="4335627" y="3685031"/>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09947" y="4014215"/>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38547" y="3886199"/>
            <a:ext cx="2880360" cy="320040"/>
          </a:xfrm>
          <a:prstGeom prst="rect">
            <a:avLst/>
          </a:prstGeom>
          <a:noFill/>
        </p:spPr>
        <p:txBody>
          <a:bodyPr wrap="square" lIns="0" rIns="0" tIns="0" bIns="0" anchor="t">
            <a:spAutoFit/>
          </a:bodyPr>
          <a:lstStyle/>
          <a:p>
            <a:pPr algn="l"/>
            <a:r>
              <a:rPr sz="1400" b="1" i="0">
                <a:solidFill>
                  <a:srgbClr val="0B1F3A"/>
                </a:solidFill>
                <a:latin typeface="Georgia"/>
              </a:rPr>
              <a:t>Exterior Masonry</a:t>
            </a:r>
          </a:p>
        </p:txBody>
      </p:sp>
      <p:sp>
        <p:nvSpPr>
          <p:cNvPr id="29" name="TextBox 28"/>
          <p:cNvSpPr txBox="1"/>
          <p:nvPr/>
        </p:nvSpPr>
        <p:spPr>
          <a:xfrm>
            <a:off x="4609947" y="4251959"/>
            <a:ext cx="3063240" cy="274320"/>
          </a:xfrm>
          <a:prstGeom prst="rect">
            <a:avLst/>
          </a:prstGeom>
          <a:noFill/>
        </p:spPr>
        <p:txBody>
          <a:bodyPr wrap="square" lIns="0" rIns="0" tIns="0" bIns="0" anchor="t">
            <a:spAutoFit/>
          </a:bodyPr>
          <a:lstStyle/>
          <a:p>
            <a:pPr algn="l"/>
            <a:r>
              <a:rPr sz="1000" b="0" i="0">
                <a:solidFill>
                  <a:srgbClr val="1E7F4F"/>
                </a:solidFill>
                <a:latin typeface="Consolas"/>
              </a:rPr>
              <a:t>7 m²/L · 20 L · ₵75/L</a:t>
            </a:r>
          </a:p>
        </p:txBody>
      </p:sp>
      <p:sp>
        <p:nvSpPr>
          <p:cNvPr id="30" name="TextBox 29"/>
          <p:cNvSpPr txBox="1"/>
          <p:nvPr/>
        </p:nvSpPr>
        <p:spPr>
          <a:xfrm>
            <a:off x="4609947" y="4526279"/>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Weather-resistant; rough surfaces.</a:t>
            </a:r>
          </a:p>
        </p:txBody>
      </p:sp>
      <p:sp>
        <p:nvSpPr>
          <p:cNvPr id="31" name="Rectangle 30"/>
          <p:cNvSpPr/>
          <p:nvPr/>
        </p:nvSpPr>
        <p:spPr>
          <a:xfrm>
            <a:off x="7993227" y="3685031"/>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67547" y="4014215"/>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6147" y="3886199"/>
            <a:ext cx="2880360" cy="320040"/>
          </a:xfrm>
          <a:prstGeom prst="rect">
            <a:avLst/>
          </a:prstGeom>
          <a:noFill/>
        </p:spPr>
        <p:txBody>
          <a:bodyPr wrap="square" lIns="0" rIns="0" tIns="0" bIns="0" anchor="t">
            <a:spAutoFit/>
          </a:bodyPr>
          <a:lstStyle/>
          <a:p>
            <a:pPr algn="l"/>
            <a:r>
              <a:rPr sz="1400" b="1" i="0">
                <a:solidFill>
                  <a:srgbClr val="0B1F3A"/>
                </a:solidFill>
                <a:latin typeface="Georgia"/>
              </a:rPr>
              <a:t>Air-Purifying Interior</a:t>
            </a:r>
          </a:p>
        </p:txBody>
      </p:sp>
      <p:sp>
        <p:nvSpPr>
          <p:cNvPr id="34" name="TextBox 33"/>
          <p:cNvSpPr txBox="1"/>
          <p:nvPr/>
        </p:nvSpPr>
        <p:spPr>
          <a:xfrm>
            <a:off x="8267547" y="4251959"/>
            <a:ext cx="3063240" cy="274320"/>
          </a:xfrm>
          <a:prstGeom prst="rect">
            <a:avLst/>
          </a:prstGeom>
          <a:noFill/>
        </p:spPr>
        <p:txBody>
          <a:bodyPr wrap="square" lIns="0" rIns="0" tIns="0" bIns="0" anchor="t">
            <a:spAutoFit/>
          </a:bodyPr>
          <a:lstStyle/>
          <a:p>
            <a:pPr algn="l"/>
            <a:r>
              <a:rPr sz="1000" b="0" i="0">
                <a:solidFill>
                  <a:srgbClr val="1E7F4F"/>
                </a:solidFill>
                <a:latin typeface="Consolas"/>
              </a:rPr>
              <a:t>10 m²/L · 4 L · ₵120/L</a:t>
            </a:r>
          </a:p>
        </p:txBody>
      </p:sp>
      <p:sp>
        <p:nvSpPr>
          <p:cNvPr id="35" name="TextBox 34"/>
          <p:cNvSpPr txBox="1"/>
          <p:nvPr/>
        </p:nvSpPr>
        <p:spPr>
          <a:xfrm>
            <a:off x="8267547" y="4526279"/>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Absorbs VOCs and formaldehyde.</a:t>
            </a:r>
          </a:p>
        </p:txBody>
      </p:sp>
      <p:sp>
        <p:nvSpPr>
          <p:cNvPr id="36" name="Rectangle 35"/>
          <p:cNvSpPr/>
          <p:nvPr/>
        </p:nvSpPr>
        <p:spPr>
          <a:xfrm>
            <a:off x="678027" y="5266944"/>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52347" y="559612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80947" y="5468112"/>
            <a:ext cx="2880360" cy="320040"/>
          </a:xfrm>
          <a:prstGeom prst="rect">
            <a:avLst/>
          </a:prstGeom>
          <a:noFill/>
        </p:spPr>
        <p:txBody>
          <a:bodyPr wrap="square" lIns="0" rIns="0" tIns="0" bIns="0" anchor="t">
            <a:spAutoFit/>
          </a:bodyPr>
          <a:lstStyle/>
          <a:p>
            <a:pPr algn="l"/>
            <a:r>
              <a:rPr sz="1400" b="1" i="0">
                <a:solidFill>
                  <a:srgbClr val="0B1F3A"/>
                </a:solidFill>
                <a:latin typeface="Georgia"/>
              </a:rPr>
              <a:t>Pet-Dwelling Washable</a:t>
            </a:r>
          </a:p>
        </p:txBody>
      </p:sp>
      <p:sp>
        <p:nvSpPr>
          <p:cNvPr id="39" name="TextBox 38"/>
          <p:cNvSpPr txBox="1"/>
          <p:nvPr/>
        </p:nvSpPr>
        <p:spPr>
          <a:xfrm>
            <a:off x="952347" y="5833872"/>
            <a:ext cx="3063240" cy="274320"/>
          </a:xfrm>
          <a:prstGeom prst="rect">
            <a:avLst/>
          </a:prstGeom>
          <a:noFill/>
        </p:spPr>
        <p:txBody>
          <a:bodyPr wrap="square" lIns="0" rIns="0" tIns="0" bIns="0" anchor="t">
            <a:spAutoFit/>
          </a:bodyPr>
          <a:lstStyle/>
          <a:p>
            <a:pPr algn="l"/>
            <a:r>
              <a:rPr sz="1000" b="0" i="0">
                <a:solidFill>
                  <a:srgbClr val="1E7F4F"/>
                </a:solidFill>
                <a:latin typeface="Consolas"/>
              </a:rPr>
              <a:t>10 m²/L · 4 L · ₵110/L</a:t>
            </a:r>
          </a:p>
        </p:txBody>
      </p:sp>
      <p:sp>
        <p:nvSpPr>
          <p:cNvPr id="40" name="TextBox 39"/>
          <p:cNvSpPr txBox="1"/>
          <p:nvPr/>
        </p:nvSpPr>
        <p:spPr>
          <a:xfrm>
            <a:off x="952347" y="6108192"/>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Scrubbable; pet-safe low-odour.</a:t>
            </a:r>
          </a:p>
        </p:txBody>
      </p:sp>
      <p:sp>
        <p:nvSpPr>
          <p:cNvPr id="41" name="Rectangle 40"/>
          <p:cNvSpPr/>
          <p:nvPr/>
        </p:nvSpPr>
        <p:spPr>
          <a:xfrm>
            <a:off x="4335627" y="5266944"/>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609947" y="559612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38547" y="5468112"/>
            <a:ext cx="2880360" cy="320040"/>
          </a:xfrm>
          <a:prstGeom prst="rect">
            <a:avLst/>
          </a:prstGeom>
          <a:noFill/>
        </p:spPr>
        <p:txBody>
          <a:bodyPr wrap="square" lIns="0" rIns="0" tIns="0" bIns="0" anchor="t">
            <a:spAutoFit/>
          </a:bodyPr>
          <a:lstStyle/>
          <a:p>
            <a:pPr algn="l"/>
            <a:r>
              <a:rPr sz="1400" b="1" i="0">
                <a:solidFill>
                  <a:srgbClr val="0B1F3A"/>
                </a:solidFill>
                <a:latin typeface="Georgia"/>
              </a:rPr>
              <a:t>Chalkboard Finish</a:t>
            </a:r>
          </a:p>
        </p:txBody>
      </p:sp>
      <p:sp>
        <p:nvSpPr>
          <p:cNvPr id="44" name="TextBox 43"/>
          <p:cNvSpPr txBox="1"/>
          <p:nvPr/>
        </p:nvSpPr>
        <p:spPr>
          <a:xfrm>
            <a:off x="4609947" y="5833872"/>
            <a:ext cx="3063240" cy="274320"/>
          </a:xfrm>
          <a:prstGeom prst="rect">
            <a:avLst/>
          </a:prstGeom>
          <a:noFill/>
        </p:spPr>
        <p:txBody>
          <a:bodyPr wrap="square" lIns="0" rIns="0" tIns="0" bIns="0" anchor="t">
            <a:spAutoFit/>
          </a:bodyPr>
          <a:lstStyle/>
          <a:p>
            <a:pPr algn="l"/>
            <a:r>
              <a:rPr sz="1000" b="0" i="0">
                <a:solidFill>
                  <a:srgbClr val="1E7F4F"/>
                </a:solidFill>
                <a:latin typeface="Consolas"/>
              </a:rPr>
              <a:t>9 m²/L · 4 L · ₵130/L</a:t>
            </a:r>
          </a:p>
        </p:txBody>
      </p:sp>
      <p:sp>
        <p:nvSpPr>
          <p:cNvPr id="45" name="TextBox 44"/>
          <p:cNvSpPr txBox="1"/>
          <p:nvPr/>
        </p:nvSpPr>
        <p:spPr>
          <a:xfrm>
            <a:off x="4609947" y="6108192"/>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Writable surface; sand between coats.</a:t>
            </a:r>
          </a:p>
        </p:txBody>
      </p:sp>
      <p:sp>
        <p:nvSpPr>
          <p:cNvPr id="46" name="Rectangle 45"/>
          <p:cNvSpPr/>
          <p:nvPr/>
        </p:nvSpPr>
        <p:spPr>
          <a:xfrm>
            <a:off x="7993227" y="5266944"/>
            <a:ext cx="3520440" cy="141732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67547" y="559612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96147" y="5468112"/>
            <a:ext cx="2880360" cy="320040"/>
          </a:xfrm>
          <a:prstGeom prst="rect">
            <a:avLst/>
          </a:prstGeom>
          <a:noFill/>
        </p:spPr>
        <p:txBody>
          <a:bodyPr wrap="square" lIns="0" rIns="0" tIns="0" bIns="0" anchor="t">
            <a:spAutoFit/>
          </a:bodyPr>
          <a:lstStyle/>
          <a:p>
            <a:pPr algn="l"/>
            <a:r>
              <a:rPr sz="1400" b="1" i="0">
                <a:solidFill>
                  <a:srgbClr val="0B1F3A"/>
                </a:solidFill>
                <a:latin typeface="Georgia"/>
              </a:rPr>
              <a:t>EMR Shielding</a:t>
            </a:r>
          </a:p>
        </p:txBody>
      </p:sp>
      <p:sp>
        <p:nvSpPr>
          <p:cNvPr id="49" name="TextBox 48"/>
          <p:cNvSpPr txBox="1"/>
          <p:nvPr/>
        </p:nvSpPr>
        <p:spPr>
          <a:xfrm>
            <a:off x="8267547" y="5833872"/>
            <a:ext cx="3063240" cy="274320"/>
          </a:xfrm>
          <a:prstGeom prst="rect">
            <a:avLst/>
          </a:prstGeom>
          <a:noFill/>
        </p:spPr>
        <p:txBody>
          <a:bodyPr wrap="square" lIns="0" rIns="0" tIns="0" bIns="0" anchor="t">
            <a:spAutoFit/>
          </a:bodyPr>
          <a:lstStyle/>
          <a:p>
            <a:pPr algn="l"/>
            <a:r>
              <a:rPr sz="1000" b="0" i="0">
                <a:solidFill>
                  <a:srgbClr val="1E7F4F"/>
                </a:solidFill>
                <a:latin typeface="Consolas"/>
              </a:rPr>
              <a:t>5 m²/L · 4 L · ₵350/L</a:t>
            </a:r>
          </a:p>
        </p:txBody>
      </p:sp>
      <p:sp>
        <p:nvSpPr>
          <p:cNvPr id="50" name="TextBox 49"/>
          <p:cNvSpPr txBox="1"/>
          <p:nvPr/>
        </p:nvSpPr>
        <p:spPr>
          <a:xfrm>
            <a:off x="8267547" y="6108192"/>
            <a:ext cx="306324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Carbon/nickel pigment; needs grounding.</a:t>
            </a:r>
          </a:p>
        </p:txBody>
      </p:sp>
      <p:sp>
        <p:nvSpPr>
          <p:cNvPr id="51" name="TextBox 50"/>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52" name="TextBox 51"/>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Caparol — anchor partner, 22-product range</a:t>
            </a:r>
          </a:p>
        </p:txBody>
      </p:sp>
      <p:sp>
        <p:nvSpPr>
          <p:cNvPr id="5" name="Rectangle 4"/>
          <p:cNvSpPr/>
          <p:nvPr/>
        </p:nvSpPr>
        <p:spPr>
          <a:xfrm>
            <a:off x="868680" y="1371600"/>
            <a:ext cx="5760720" cy="4846320"/>
          </a:xfrm>
          <a:prstGeom prst="rect">
            <a:avLst/>
          </a:prstGeom>
          <a:solidFill>
            <a:srgbClr val="E2F3E9"/>
          </a:solidFill>
          <a:ln w="7620">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554480"/>
            <a:ext cx="5303520" cy="329184"/>
          </a:xfrm>
          <a:prstGeom prst="rect">
            <a:avLst/>
          </a:prstGeom>
          <a:noFill/>
        </p:spPr>
        <p:txBody>
          <a:bodyPr wrap="square" lIns="0" rIns="0" tIns="0" bIns="0" anchor="t">
            <a:spAutoFit/>
          </a:bodyPr>
          <a:lstStyle/>
          <a:p>
            <a:pPr algn="l"/>
            <a:r>
              <a:rPr sz="1000" b="1" i="0">
                <a:solidFill>
                  <a:srgbClr val="0B1F3A"/>
                </a:solidFill>
                <a:latin typeface="Calibri"/>
              </a:rPr>
              <a:t>★ ANCHOR PARTNER</a:t>
            </a:r>
          </a:p>
        </p:txBody>
      </p:sp>
      <p:sp>
        <p:nvSpPr>
          <p:cNvPr id="7" name="TextBox 6"/>
          <p:cNvSpPr txBox="1"/>
          <p:nvPr/>
        </p:nvSpPr>
        <p:spPr>
          <a:xfrm>
            <a:off x="1143000" y="1874519"/>
            <a:ext cx="5303520" cy="502920"/>
          </a:xfrm>
          <a:prstGeom prst="rect">
            <a:avLst/>
          </a:prstGeom>
          <a:noFill/>
        </p:spPr>
        <p:txBody>
          <a:bodyPr wrap="square" lIns="0" rIns="0" tIns="0" bIns="0" anchor="t">
            <a:spAutoFit/>
          </a:bodyPr>
          <a:lstStyle/>
          <a:p>
            <a:pPr algn="l">
              <a:lnSpc>
                <a:spcPct val="110000"/>
              </a:lnSpc>
            </a:pPr>
            <a:r>
              <a:rPr sz="2200" b="1" i="0">
                <a:solidFill>
                  <a:srgbClr val="0B1F3A"/>
                </a:solidFill>
                <a:latin typeface="Georgia"/>
              </a:rPr>
              <a:t>German-engineered, locally stocked.</a:t>
            </a:r>
          </a:p>
        </p:txBody>
      </p:sp>
      <p:sp>
        <p:nvSpPr>
          <p:cNvPr id="8" name="Oval 7"/>
          <p:cNvSpPr/>
          <p:nvPr/>
        </p:nvSpPr>
        <p:spPr>
          <a:xfrm>
            <a:off x="1188720" y="269748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606040"/>
            <a:ext cx="4937760" cy="274320"/>
          </a:xfrm>
          <a:prstGeom prst="rect">
            <a:avLst/>
          </a:prstGeom>
          <a:noFill/>
        </p:spPr>
        <p:txBody>
          <a:bodyPr wrap="square" lIns="0" rIns="0" tIns="0" bIns="0" anchor="t">
            <a:spAutoFit/>
          </a:bodyPr>
          <a:lstStyle/>
          <a:p>
            <a:pPr algn="l"/>
            <a:r>
              <a:rPr sz="1200" b="1" i="0">
                <a:solidFill>
                  <a:srgbClr val="0B1F3A"/>
                </a:solidFill>
                <a:latin typeface="Calibri"/>
              </a:rPr>
              <a:t>22 product lines stocked</a:t>
            </a:r>
          </a:p>
        </p:txBody>
      </p:sp>
      <p:sp>
        <p:nvSpPr>
          <p:cNvPr id="10" name="TextBox 9"/>
          <p:cNvSpPr txBox="1"/>
          <p:nvPr/>
        </p:nvSpPr>
        <p:spPr>
          <a:xfrm>
            <a:off x="1463040" y="2880360"/>
            <a:ext cx="4937760" cy="4572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Interior emulsions, exterior emulsions, primers, stuccos, putties, textures, stone effects.</a:t>
            </a:r>
          </a:p>
        </p:txBody>
      </p:sp>
      <p:sp>
        <p:nvSpPr>
          <p:cNvPr id="11" name="Oval 10"/>
          <p:cNvSpPr/>
          <p:nvPr/>
        </p:nvSpPr>
        <p:spPr>
          <a:xfrm>
            <a:off x="1188720" y="3355848"/>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3264408"/>
            <a:ext cx="4937760" cy="274320"/>
          </a:xfrm>
          <a:prstGeom prst="rect">
            <a:avLst/>
          </a:prstGeom>
          <a:noFill/>
        </p:spPr>
        <p:txBody>
          <a:bodyPr wrap="square" lIns="0" rIns="0" tIns="0" bIns="0" anchor="t">
            <a:spAutoFit/>
          </a:bodyPr>
          <a:lstStyle/>
          <a:p>
            <a:pPr algn="l"/>
            <a:r>
              <a:rPr sz="1200" b="1" i="0">
                <a:solidFill>
                  <a:srgbClr val="0B1F3A"/>
                </a:solidFill>
                <a:latin typeface="Calibri"/>
              </a:rPr>
              <a:t>Zero-VOC and anti-bacterial</a:t>
            </a:r>
          </a:p>
        </p:txBody>
      </p:sp>
      <p:sp>
        <p:nvSpPr>
          <p:cNvPr id="13" name="TextBox 12"/>
          <p:cNvSpPr txBox="1"/>
          <p:nvPr/>
        </p:nvSpPr>
        <p:spPr>
          <a:xfrm>
            <a:off x="1463040" y="3538728"/>
            <a:ext cx="4937760" cy="4572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CapaLux and CapaPlus Hygiene for nurseries, clinics, kitchens, bathrooms.</a:t>
            </a:r>
          </a:p>
        </p:txBody>
      </p:sp>
      <p:sp>
        <p:nvSpPr>
          <p:cNvPr id="14" name="Oval 13"/>
          <p:cNvSpPr/>
          <p:nvPr/>
        </p:nvSpPr>
        <p:spPr>
          <a:xfrm>
            <a:off x="1188720" y="4014215"/>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3922776"/>
            <a:ext cx="4937760" cy="274320"/>
          </a:xfrm>
          <a:prstGeom prst="rect">
            <a:avLst/>
          </a:prstGeom>
          <a:noFill/>
        </p:spPr>
        <p:txBody>
          <a:bodyPr wrap="square" lIns="0" rIns="0" tIns="0" bIns="0" anchor="t">
            <a:spAutoFit/>
          </a:bodyPr>
          <a:lstStyle/>
          <a:p>
            <a:pPr algn="l"/>
            <a:r>
              <a:rPr sz="1200" b="1" i="0">
                <a:solidFill>
                  <a:srgbClr val="0B1F3A"/>
                </a:solidFill>
                <a:latin typeface="Calibri"/>
              </a:rPr>
              <a:t>Texture &amp; stone finishes</a:t>
            </a:r>
          </a:p>
        </p:txBody>
      </p:sp>
      <p:sp>
        <p:nvSpPr>
          <p:cNvPr id="16" name="TextBox 15"/>
          <p:cNvSpPr txBox="1"/>
          <p:nvPr/>
        </p:nvSpPr>
        <p:spPr>
          <a:xfrm>
            <a:off x="1463040" y="4197096"/>
            <a:ext cx="4937760" cy="4572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StructurePutz, CapaTex, CapaGrain, CapaSprayTex, Rashaat, Ceratile, Granito.</a:t>
            </a:r>
          </a:p>
        </p:txBody>
      </p:sp>
      <p:sp>
        <p:nvSpPr>
          <p:cNvPr id="17" name="Oval 16"/>
          <p:cNvSpPr/>
          <p:nvPr/>
        </p:nvSpPr>
        <p:spPr>
          <a:xfrm>
            <a:off x="1188720" y="4672583"/>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4581144"/>
            <a:ext cx="4937760" cy="274320"/>
          </a:xfrm>
          <a:prstGeom prst="rect">
            <a:avLst/>
          </a:prstGeom>
          <a:noFill/>
        </p:spPr>
        <p:txBody>
          <a:bodyPr wrap="square" lIns="0" rIns="0" tIns="0" bIns="0" anchor="t">
            <a:spAutoFit/>
          </a:bodyPr>
          <a:lstStyle/>
          <a:p>
            <a:pPr algn="l"/>
            <a:r>
              <a:rPr sz="1200" b="1" i="0">
                <a:solidFill>
                  <a:srgbClr val="0B1F3A"/>
                </a:solidFill>
                <a:latin typeface="Calibri"/>
              </a:rPr>
              <a:t>18-month warranty</a:t>
            </a:r>
          </a:p>
        </p:txBody>
      </p:sp>
      <p:sp>
        <p:nvSpPr>
          <p:cNvPr id="19" name="TextBox 18"/>
          <p:cNvSpPr txBox="1"/>
          <p:nvPr/>
        </p:nvSpPr>
        <p:spPr>
          <a:xfrm>
            <a:off x="1463040" y="4855464"/>
            <a:ext cx="4937760" cy="4572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Six months longer than our standard 12-month finish warranty.</a:t>
            </a:r>
          </a:p>
        </p:txBody>
      </p:sp>
      <p:sp>
        <p:nvSpPr>
          <p:cNvPr id="20" name="Oval 19"/>
          <p:cNvSpPr/>
          <p:nvPr/>
        </p:nvSpPr>
        <p:spPr>
          <a:xfrm>
            <a:off x="1188720" y="5330951"/>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5239512"/>
            <a:ext cx="4937760" cy="274320"/>
          </a:xfrm>
          <a:prstGeom prst="rect">
            <a:avLst/>
          </a:prstGeom>
          <a:noFill/>
        </p:spPr>
        <p:txBody>
          <a:bodyPr wrap="square" lIns="0" rIns="0" tIns="0" bIns="0" anchor="t">
            <a:spAutoFit/>
          </a:bodyPr>
          <a:lstStyle/>
          <a:p>
            <a:pPr algn="l"/>
            <a:r>
              <a:rPr sz="1200" b="1" i="0">
                <a:solidFill>
                  <a:srgbClr val="0B1F3A"/>
                </a:solidFill>
                <a:latin typeface="Calibri"/>
              </a:rPr>
              <a:t>Custom colour matching</a:t>
            </a:r>
          </a:p>
        </p:txBody>
      </p:sp>
      <p:sp>
        <p:nvSpPr>
          <p:cNvPr id="22" name="TextBox 21"/>
          <p:cNvSpPr txBox="1"/>
          <p:nvPr/>
        </p:nvSpPr>
        <p:spPr>
          <a:xfrm>
            <a:off x="1463040" y="5513831"/>
            <a:ext cx="4937760" cy="45720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Bring any swatch — fabric, paint chip, brand colour — matched within 20 minutes.</a:t>
            </a:r>
          </a:p>
        </p:txBody>
      </p:sp>
      <p:sp>
        <p:nvSpPr>
          <p:cNvPr id="23" name="TextBox 22"/>
          <p:cNvSpPr txBox="1"/>
          <p:nvPr/>
        </p:nvSpPr>
        <p:spPr>
          <a:xfrm>
            <a:off x="6949440" y="1371600"/>
            <a:ext cx="4572000" cy="365760"/>
          </a:xfrm>
          <a:prstGeom prst="rect">
            <a:avLst/>
          </a:prstGeom>
          <a:noFill/>
        </p:spPr>
        <p:txBody>
          <a:bodyPr wrap="square" lIns="0" rIns="0" tIns="0" bIns="0" anchor="t">
            <a:spAutoFit/>
          </a:bodyPr>
          <a:lstStyle/>
          <a:p>
            <a:pPr algn="l"/>
            <a:r>
              <a:rPr sz="1400" b="1" i="0">
                <a:solidFill>
                  <a:srgbClr val="0B1F3A"/>
                </a:solidFill>
                <a:latin typeface="Georgia"/>
              </a:rPr>
              <a:t>Selected products</a:t>
            </a:r>
          </a:p>
        </p:txBody>
      </p:sp>
      <p:sp>
        <p:nvSpPr>
          <p:cNvPr id="24" name="Rectangle 23"/>
          <p:cNvSpPr/>
          <p:nvPr/>
        </p:nvSpPr>
        <p:spPr>
          <a:xfrm>
            <a:off x="6949440" y="1874519"/>
            <a:ext cx="2240280" cy="132588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78040" y="2057400"/>
            <a:ext cx="1874520" cy="274320"/>
          </a:xfrm>
          <a:prstGeom prst="rect">
            <a:avLst/>
          </a:prstGeom>
          <a:noFill/>
        </p:spPr>
        <p:txBody>
          <a:bodyPr wrap="square" lIns="0" rIns="0" tIns="0" bIns="0" anchor="t">
            <a:spAutoFit/>
          </a:bodyPr>
          <a:lstStyle/>
          <a:p>
            <a:pPr algn="l"/>
            <a:r>
              <a:rPr sz="850" b="1" i="0">
                <a:solidFill>
                  <a:srgbClr val="1E7F4F"/>
                </a:solidFill>
                <a:latin typeface="Calibri"/>
              </a:rPr>
              <a:t>INTERIOR EMULSION</a:t>
            </a:r>
          </a:p>
        </p:txBody>
      </p:sp>
      <p:sp>
        <p:nvSpPr>
          <p:cNvPr id="26" name="TextBox 25"/>
          <p:cNvSpPr txBox="1"/>
          <p:nvPr/>
        </p:nvSpPr>
        <p:spPr>
          <a:xfrm>
            <a:off x="7178040" y="2331720"/>
            <a:ext cx="1874520" cy="411480"/>
          </a:xfrm>
          <a:prstGeom prst="rect">
            <a:avLst/>
          </a:prstGeom>
          <a:noFill/>
        </p:spPr>
        <p:txBody>
          <a:bodyPr wrap="square" lIns="0" rIns="0" tIns="0" bIns="0" anchor="t">
            <a:spAutoFit/>
          </a:bodyPr>
          <a:lstStyle/>
          <a:p>
            <a:pPr algn="l"/>
            <a:r>
              <a:rPr sz="1500" b="1" i="0">
                <a:solidFill>
                  <a:srgbClr val="0B1F3A"/>
                </a:solidFill>
                <a:latin typeface="Georgia"/>
              </a:rPr>
              <a:t>CapaSuper</a:t>
            </a:r>
          </a:p>
        </p:txBody>
      </p:sp>
      <p:sp>
        <p:nvSpPr>
          <p:cNvPr id="27" name="TextBox 26"/>
          <p:cNvSpPr txBox="1"/>
          <p:nvPr/>
        </p:nvSpPr>
        <p:spPr>
          <a:xfrm>
            <a:off x="7178040" y="2834639"/>
            <a:ext cx="1874520" cy="274320"/>
          </a:xfrm>
          <a:prstGeom prst="rect">
            <a:avLst/>
          </a:prstGeom>
          <a:noFill/>
        </p:spPr>
        <p:txBody>
          <a:bodyPr wrap="square" lIns="0" rIns="0" tIns="0" bIns="0" anchor="t">
            <a:spAutoFit/>
          </a:bodyPr>
          <a:lstStyle/>
          <a:p>
            <a:pPr algn="l"/>
            <a:r>
              <a:rPr sz="1000" b="0" i="0">
                <a:solidFill>
                  <a:srgbClr val="6E7A8C"/>
                </a:solidFill>
                <a:latin typeface="Consolas"/>
              </a:rPr>
              <a:t>18 L · 3.75 L</a:t>
            </a:r>
          </a:p>
        </p:txBody>
      </p:sp>
      <p:sp>
        <p:nvSpPr>
          <p:cNvPr id="28" name="Rectangle 27"/>
          <p:cNvSpPr/>
          <p:nvPr/>
        </p:nvSpPr>
        <p:spPr>
          <a:xfrm>
            <a:off x="9326880" y="1874519"/>
            <a:ext cx="2240280" cy="132588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2057400"/>
            <a:ext cx="1874520" cy="274320"/>
          </a:xfrm>
          <a:prstGeom prst="rect">
            <a:avLst/>
          </a:prstGeom>
          <a:noFill/>
        </p:spPr>
        <p:txBody>
          <a:bodyPr wrap="square" lIns="0" rIns="0" tIns="0" bIns="0" anchor="t">
            <a:spAutoFit/>
          </a:bodyPr>
          <a:lstStyle/>
          <a:p>
            <a:pPr algn="l"/>
            <a:r>
              <a:rPr sz="850" b="1" i="0">
                <a:solidFill>
                  <a:srgbClr val="1E7F4F"/>
                </a:solidFill>
                <a:latin typeface="Calibri"/>
              </a:rPr>
              <a:t>EXTERIOR MATT</a:t>
            </a:r>
          </a:p>
        </p:txBody>
      </p:sp>
      <p:sp>
        <p:nvSpPr>
          <p:cNvPr id="30" name="TextBox 29"/>
          <p:cNvSpPr txBox="1"/>
          <p:nvPr/>
        </p:nvSpPr>
        <p:spPr>
          <a:xfrm>
            <a:off x="9555480" y="2331720"/>
            <a:ext cx="1874520" cy="411480"/>
          </a:xfrm>
          <a:prstGeom prst="rect">
            <a:avLst/>
          </a:prstGeom>
          <a:noFill/>
        </p:spPr>
        <p:txBody>
          <a:bodyPr wrap="square" lIns="0" rIns="0" tIns="0" bIns="0" anchor="t">
            <a:spAutoFit/>
          </a:bodyPr>
          <a:lstStyle/>
          <a:p>
            <a:pPr algn="l"/>
            <a:r>
              <a:rPr sz="1500" b="1" i="0">
                <a:solidFill>
                  <a:srgbClr val="0B1F3A"/>
                </a:solidFill>
                <a:latin typeface="Georgia"/>
              </a:rPr>
              <a:t>CapaUltra Matt</a:t>
            </a:r>
          </a:p>
        </p:txBody>
      </p:sp>
      <p:sp>
        <p:nvSpPr>
          <p:cNvPr id="31" name="TextBox 30"/>
          <p:cNvSpPr txBox="1"/>
          <p:nvPr/>
        </p:nvSpPr>
        <p:spPr>
          <a:xfrm>
            <a:off x="9555480" y="2834639"/>
            <a:ext cx="1874520" cy="274320"/>
          </a:xfrm>
          <a:prstGeom prst="rect">
            <a:avLst/>
          </a:prstGeom>
          <a:noFill/>
        </p:spPr>
        <p:txBody>
          <a:bodyPr wrap="square" lIns="0" rIns="0" tIns="0" bIns="0" anchor="t">
            <a:spAutoFit/>
          </a:bodyPr>
          <a:lstStyle/>
          <a:p>
            <a:pPr algn="l"/>
            <a:r>
              <a:rPr sz="1000" b="0" i="0">
                <a:solidFill>
                  <a:srgbClr val="6E7A8C"/>
                </a:solidFill>
                <a:latin typeface="Consolas"/>
              </a:rPr>
              <a:t>18 L · 3.75 L</a:t>
            </a:r>
          </a:p>
        </p:txBody>
      </p:sp>
      <p:sp>
        <p:nvSpPr>
          <p:cNvPr id="32" name="Rectangle 31"/>
          <p:cNvSpPr/>
          <p:nvPr/>
        </p:nvSpPr>
        <p:spPr>
          <a:xfrm>
            <a:off x="6949440" y="3364991"/>
            <a:ext cx="2240280" cy="132588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3547872"/>
            <a:ext cx="1874520" cy="274320"/>
          </a:xfrm>
          <a:prstGeom prst="rect">
            <a:avLst/>
          </a:prstGeom>
          <a:noFill/>
        </p:spPr>
        <p:txBody>
          <a:bodyPr wrap="square" lIns="0" rIns="0" tIns="0" bIns="0" anchor="t">
            <a:spAutoFit/>
          </a:bodyPr>
          <a:lstStyle/>
          <a:p>
            <a:pPr algn="l"/>
            <a:r>
              <a:rPr sz="850" b="1" i="0">
                <a:solidFill>
                  <a:srgbClr val="1E7F4F"/>
                </a:solidFill>
                <a:latin typeface="Calibri"/>
              </a:rPr>
              <a:t>ZERO-VOC INTERIOR</a:t>
            </a:r>
          </a:p>
        </p:txBody>
      </p:sp>
      <p:sp>
        <p:nvSpPr>
          <p:cNvPr id="34" name="TextBox 33"/>
          <p:cNvSpPr txBox="1"/>
          <p:nvPr/>
        </p:nvSpPr>
        <p:spPr>
          <a:xfrm>
            <a:off x="7178040" y="3822191"/>
            <a:ext cx="1874520" cy="411480"/>
          </a:xfrm>
          <a:prstGeom prst="rect">
            <a:avLst/>
          </a:prstGeom>
          <a:noFill/>
        </p:spPr>
        <p:txBody>
          <a:bodyPr wrap="square" lIns="0" rIns="0" tIns="0" bIns="0" anchor="t">
            <a:spAutoFit/>
          </a:bodyPr>
          <a:lstStyle/>
          <a:p>
            <a:pPr algn="l"/>
            <a:r>
              <a:rPr sz="1500" b="1" i="0">
                <a:solidFill>
                  <a:srgbClr val="0B1F3A"/>
                </a:solidFill>
                <a:latin typeface="Georgia"/>
              </a:rPr>
              <a:t>CapaLux</a:t>
            </a:r>
          </a:p>
        </p:txBody>
      </p:sp>
      <p:sp>
        <p:nvSpPr>
          <p:cNvPr id="35" name="TextBox 34"/>
          <p:cNvSpPr txBox="1"/>
          <p:nvPr/>
        </p:nvSpPr>
        <p:spPr>
          <a:xfrm>
            <a:off x="7178040" y="4325112"/>
            <a:ext cx="1874520" cy="274320"/>
          </a:xfrm>
          <a:prstGeom prst="rect">
            <a:avLst/>
          </a:prstGeom>
          <a:noFill/>
        </p:spPr>
        <p:txBody>
          <a:bodyPr wrap="square" lIns="0" rIns="0" tIns="0" bIns="0" anchor="t">
            <a:spAutoFit/>
          </a:bodyPr>
          <a:lstStyle/>
          <a:p>
            <a:pPr algn="l"/>
            <a:r>
              <a:rPr sz="1000" b="0" i="0">
                <a:solidFill>
                  <a:srgbClr val="6E7A8C"/>
                </a:solidFill>
                <a:latin typeface="Consolas"/>
              </a:rPr>
              <a:t>18 L · 3.75 L</a:t>
            </a:r>
          </a:p>
        </p:txBody>
      </p:sp>
      <p:sp>
        <p:nvSpPr>
          <p:cNvPr id="36" name="Rectangle 35"/>
          <p:cNvSpPr/>
          <p:nvPr/>
        </p:nvSpPr>
        <p:spPr>
          <a:xfrm>
            <a:off x="9326880" y="3364991"/>
            <a:ext cx="2240280" cy="132588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55480" y="3547872"/>
            <a:ext cx="1874520" cy="274320"/>
          </a:xfrm>
          <a:prstGeom prst="rect">
            <a:avLst/>
          </a:prstGeom>
          <a:noFill/>
        </p:spPr>
        <p:txBody>
          <a:bodyPr wrap="square" lIns="0" rIns="0" tIns="0" bIns="0" anchor="t">
            <a:spAutoFit/>
          </a:bodyPr>
          <a:lstStyle/>
          <a:p>
            <a:pPr algn="l"/>
            <a:r>
              <a:rPr sz="850" b="1" i="0">
                <a:solidFill>
                  <a:srgbClr val="1E7F4F"/>
                </a:solidFill>
                <a:latin typeface="Calibri"/>
              </a:rPr>
              <a:t>ANTI-BACTERIAL</a:t>
            </a:r>
          </a:p>
        </p:txBody>
      </p:sp>
      <p:sp>
        <p:nvSpPr>
          <p:cNvPr id="38" name="TextBox 37"/>
          <p:cNvSpPr txBox="1"/>
          <p:nvPr/>
        </p:nvSpPr>
        <p:spPr>
          <a:xfrm>
            <a:off x="9555480" y="3822191"/>
            <a:ext cx="1874520" cy="411480"/>
          </a:xfrm>
          <a:prstGeom prst="rect">
            <a:avLst/>
          </a:prstGeom>
          <a:noFill/>
        </p:spPr>
        <p:txBody>
          <a:bodyPr wrap="square" lIns="0" rIns="0" tIns="0" bIns="0" anchor="t">
            <a:spAutoFit/>
          </a:bodyPr>
          <a:lstStyle/>
          <a:p>
            <a:pPr algn="l"/>
            <a:r>
              <a:rPr sz="1500" b="1" i="0">
                <a:solidFill>
                  <a:srgbClr val="0B1F3A"/>
                </a:solidFill>
                <a:latin typeface="Georgia"/>
              </a:rPr>
              <a:t>CapaPlus Hygiene</a:t>
            </a:r>
          </a:p>
        </p:txBody>
      </p:sp>
      <p:sp>
        <p:nvSpPr>
          <p:cNvPr id="39" name="TextBox 38"/>
          <p:cNvSpPr txBox="1"/>
          <p:nvPr/>
        </p:nvSpPr>
        <p:spPr>
          <a:xfrm>
            <a:off x="9555480" y="4325112"/>
            <a:ext cx="1874520" cy="274320"/>
          </a:xfrm>
          <a:prstGeom prst="rect">
            <a:avLst/>
          </a:prstGeom>
          <a:noFill/>
        </p:spPr>
        <p:txBody>
          <a:bodyPr wrap="square" lIns="0" rIns="0" tIns="0" bIns="0" anchor="t">
            <a:spAutoFit/>
          </a:bodyPr>
          <a:lstStyle/>
          <a:p>
            <a:pPr algn="l"/>
            <a:r>
              <a:rPr sz="1000" b="0" i="0">
                <a:solidFill>
                  <a:srgbClr val="6E7A8C"/>
                </a:solidFill>
                <a:latin typeface="Consolas"/>
              </a:rPr>
              <a:t>18 L · 3.75 L</a:t>
            </a:r>
          </a:p>
        </p:txBody>
      </p:sp>
      <p:sp>
        <p:nvSpPr>
          <p:cNvPr id="40" name="Rectangle 39"/>
          <p:cNvSpPr/>
          <p:nvPr/>
        </p:nvSpPr>
        <p:spPr>
          <a:xfrm>
            <a:off x="6949440" y="4855464"/>
            <a:ext cx="2240280" cy="132588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78040" y="5038344"/>
            <a:ext cx="1874520" cy="274320"/>
          </a:xfrm>
          <a:prstGeom prst="rect">
            <a:avLst/>
          </a:prstGeom>
          <a:noFill/>
        </p:spPr>
        <p:txBody>
          <a:bodyPr wrap="square" lIns="0" rIns="0" tIns="0" bIns="0" anchor="t">
            <a:spAutoFit/>
          </a:bodyPr>
          <a:lstStyle/>
          <a:p>
            <a:pPr algn="l"/>
            <a:r>
              <a:rPr sz="850" b="1" i="0">
                <a:solidFill>
                  <a:srgbClr val="1E7F4F"/>
                </a:solidFill>
                <a:latin typeface="Calibri"/>
              </a:rPr>
              <a:t>EXTERIOR TEXTURE</a:t>
            </a:r>
          </a:p>
        </p:txBody>
      </p:sp>
      <p:sp>
        <p:nvSpPr>
          <p:cNvPr id="42" name="TextBox 41"/>
          <p:cNvSpPr txBox="1"/>
          <p:nvPr/>
        </p:nvSpPr>
        <p:spPr>
          <a:xfrm>
            <a:off x="7178040" y="5312664"/>
            <a:ext cx="1874520" cy="411480"/>
          </a:xfrm>
          <a:prstGeom prst="rect">
            <a:avLst/>
          </a:prstGeom>
          <a:noFill/>
        </p:spPr>
        <p:txBody>
          <a:bodyPr wrap="square" lIns="0" rIns="0" tIns="0" bIns="0" anchor="t">
            <a:spAutoFit/>
          </a:bodyPr>
          <a:lstStyle/>
          <a:p>
            <a:pPr algn="l"/>
            <a:r>
              <a:rPr sz="1500" b="1" i="0">
                <a:solidFill>
                  <a:srgbClr val="0B1F3A"/>
                </a:solidFill>
                <a:latin typeface="Georgia"/>
              </a:rPr>
              <a:t>StructurePutz</a:t>
            </a:r>
          </a:p>
        </p:txBody>
      </p:sp>
      <p:sp>
        <p:nvSpPr>
          <p:cNvPr id="43" name="TextBox 42"/>
          <p:cNvSpPr txBox="1"/>
          <p:nvPr/>
        </p:nvSpPr>
        <p:spPr>
          <a:xfrm>
            <a:off x="7178040" y="5815583"/>
            <a:ext cx="1874520" cy="274320"/>
          </a:xfrm>
          <a:prstGeom prst="rect">
            <a:avLst/>
          </a:prstGeom>
          <a:noFill/>
        </p:spPr>
        <p:txBody>
          <a:bodyPr wrap="square" lIns="0" rIns="0" tIns="0" bIns="0" anchor="t">
            <a:spAutoFit/>
          </a:bodyPr>
          <a:lstStyle/>
          <a:p>
            <a:pPr algn="l"/>
            <a:r>
              <a:rPr sz="1000" b="0" i="0">
                <a:solidFill>
                  <a:srgbClr val="6E7A8C"/>
                </a:solidFill>
                <a:latin typeface="Consolas"/>
              </a:rPr>
              <a:t>18 L · 3 L</a:t>
            </a:r>
          </a:p>
        </p:txBody>
      </p:sp>
      <p:sp>
        <p:nvSpPr>
          <p:cNvPr id="44" name="Rectangle 43"/>
          <p:cNvSpPr/>
          <p:nvPr/>
        </p:nvSpPr>
        <p:spPr>
          <a:xfrm>
            <a:off x="9326880" y="4855464"/>
            <a:ext cx="2240280" cy="1325880"/>
          </a:xfrm>
          <a:prstGeom prst="rect">
            <a:avLst/>
          </a:prstGeom>
          <a:solidFill>
            <a:srgbClr val="F7FAFD"/>
          </a:solidFill>
          <a:ln w="508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55480" y="5038344"/>
            <a:ext cx="1874520" cy="274320"/>
          </a:xfrm>
          <a:prstGeom prst="rect">
            <a:avLst/>
          </a:prstGeom>
          <a:noFill/>
        </p:spPr>
        <p:txBody>
          <a:bodyPr wrap="square" lIns="0" rIns="0" tIns="0" bIns="0" anchor="t">
            <a:spAutoFit/>
          </a:bodyPr>
          <a:lstStyle/>
          <a:p>
            <a:pPr algn="l"/>
            <a:r>
              <a:rPr sz="850" b="1" i="0">
                <a:solidFill>
                  <a:srgbClr val="1E7F4F"/>
                </a:solidFill>
                <a:latin typeface="Calibri"/>
              </a:rPr>
              <a:t>STONE EFFECT</a:t>
            </a:r>
          </a:p>
        </p:txBody>
      </p:sp>
      <p:sp>
        <p:nvSpPr>
          <p:cNvPr id="46" name="TextBox 45"/>
          <p:cNvSpPr txBox="1"/>
          <p:nvPr/>
        </p:nvSpPr>
        <p:spPr>
          <a:xfrm>
            <a:off x="9555480" y="5312664"/>
            <a:ext cx="1874520" cy="411480"/>
          </a:xfrm>
          <a:prstGeom prst="rect">
            <a:avLst/>
          </a:prstGeom>
          <a:noFill/>
        </p:spPr>
        <p:txBody>
          <a:bodyPr wrap="square" lIns="0" rIns="0" tIns="0" bIns="0" anchor="t">
            <a:spAutoFit/>
          </a:bodyPr>
          <a:lstStyle/>
          <a:p>
            <a:pPr algn="l"/>
            <a:r>
              <a:rPr sz="1500" b="1" i="0">
                <a:solidFill>
                  <a:srgbClr val="0B1F3A"/>
                </a:solidFill>
                <a:latin typeface="Georgia"/>
              </a:rPr>
              <a:t>Ceratile</a:t>
            </a:r>
          </a:p>
        </p:txBody>
      </p:sp>
      <p:sp>
        <p:nvSpPr>
          <p:cNvPr id="47" name="TextBox 46"/>
          <p:cNvSpPr txBox="1"/>
          <p:nvPr/>
        </p:nvSpPr>
        <p:spPr>
          <a:xfrm>
            <a:off x="9555480" y="5815583"/>
            <a:ext cx="1874520" cy="274320"/>
          </a:xfrm>
          <a:prstGeom prst="rect">
            <a:avLst/>
          </a:prstGeom>
          <a:noFill/>
        </p:spPr>
        <p:txBody>
          <a:bodyPr wrap="square" lIns="0" rIns="0" tIns="0" bIns="0" anchor="t">
            <a:spAutoFit/>
          </a:bodyPr>
          <a:lstStyle/>
          <a:p>
            <a:pPr algn="l"/>
            <a:r>
              <a:rPr sz="1000" b="0" i="0">
                <a:solidFill>
                  <a:srgbClr val="6E7A8C"/>
                </a:solidFill>
                <a:latin typeface="Consolas"/>
              </a:rPr>
              <a:t>23 KG · 5 KG</a:t>
            </a:r>
          </a:p>
        </p:txBody>
      </p:sp>
      <p:sp>
        <p:nvSpPr>
          <p:cNvPr id="48" name="TextBox 47"/>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49" name="TextBox 48"/>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Role structure — who can do what</a:t>
            </a:r>
          </a:p>
        </p:txBody>
      </p:sp>
      <p:sp>
        <p:nvSpPr>
          <p:cNvPr id="5" name="TextBox 4"/>
          <p:cNvSpPr txBox="1"/>
          <p:nvPr/>
        </p:nvSpPr>
        <p:spPr>
          <a:xfrm>
            <a:off x="868680" y="1234440"/>
            <a:ext cx="10515600" cy="457200"/>
          </a:xfrm>
          <a:prstGeom prst="rect">
            <a:avLst/>
          </a:prstGeom>
          <a:noFill/>
        </p:spPr>
        <p:txBody>
          <a:bodyPr wrap="square" lIns="0" rIns="0" tIns="0" bIns="0" anchor="t">
            <a:spAutoFit/>
          </a:bodyPr>
          <a:lstStyle/>
          <a:p>
            <a:pPr algn="l">
              <a:lnSpc>
                <a:spcPct val="140000"/>
              </a:lnSpc>
            </a:pPr>
            <a:r>
              <a:rPr sz="1300" b="0" i="1">
                <a:solidFill>
                  <a:srgbClr val="6E7A8C"/>
                </a:solidFill>
                <a:latin typeface="Calibri"/>
              </a:rPr>
              <a:t>Base role lives on users.role; admin gets an additional users.sub_role so we can scope permissions without breaking existing checks. super_admin auto-bypasses every sub-role gate.</a:t>
            </a:r>
          </a:p>
        </p:txBody>
      </p:sp>
      <p:sp>
        <p:nvSpPr>
          <p:cNvPr id="6" name="Rectangle 5"/>
          <p:cNvSpPr/>
          <p:nvPr/>
        </p:nvSpPr>
        <p:spPr>
          <a:xfrm>
            <a:off x="723747" y="1874519"/>
            <a:ext cx="3429000" cy="137160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8067" y="22860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92427" y="2240279"/>
            <a:ext cx="2423160" cy="411480"/>
          </a:xfrm>
          <a:prstGeom prst="rect">
            <a:avLst/>
          </a:prstGeom>
          <a:noFill/>
        </p:spPr>
        <p:txBody>
          <a:bodyPr wrap="square" lIns="0" rIns="0" tIns="0" bIns="0" anchor="t">
            <a:spAutoFit/>
          </a:bodyPr>
          <a:lstStyle/>
          <a:p>
            <a:pPr algn="l"/>
            <a:r>
              <a:rPr sz="1800" b="1" i="0">
                <a:solidFill>
                  <a:srgbClr val="0B1F3A"/>
                </a:solidFill>
                <a:latin typeface="Georgia"/>
              </a:rPr>
              <a:t>customer</a:t>
            </a:r>
          </a:p>
        </p:txBody>
      </p:sp>
      <p:sp>
        <p:nvSpPr>
          <p:cNvPr id="9" name="TextBox 8"/>
          <p:cNvSpPr txBox="1"/>
          <p:nvPr/>
        </p:nvSpPr>
        <p:spPr>
          <a:xfrm>
            <a:off x="1592427" y="2651760"/>
            <a:ext cx="2423160" cy="50292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Books quotes, signs contracts,</a:t>
            </a:r>
          </a:p>
          <a:p>
            <a:pPr algn="l">
              <a:lnSpc>
                <a:spcPct val="140000"/>
              </a:lnSpc>
            </a:pPr>
            <a:r>
              <a:rPr sz="1100" b="0" i="0">
                <a:solidFill>
                  <a:srgbClr val="424E60"/>
                </a:solidFill>
                <a:latin typeface="Calibri"/>
              </a:rPr>
              <a:t>leaves reviews, raises warranty claims.</a:t>
            </a:r>
          </a:p>
        </p:txBody>
      </p:sp>
      <p:sp>
        <p:nvSpPr>
          <p:cNvPr id="10" name="Rectangle 9"/>
          <p:cNvSpPr/>
          <p:nvPr/>
        </p:nvSpPr>
        <p:spPr>
          <a:xfrm>
            <a:off x="4381347" y="1874519"/>
            <a:ext cx="3429000" cy="137160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55667" y="2286000"/>
            <a:ext cx="457200" cy="457200"/>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0027" y="2240279"/>
            <a:ext cx="2423160" cy="411480"/>
          </a:xfrm>
          <a:prstGeom prst="rect">
            <a:avLst/>
          </a:prstGeom>
          <a:noFill/>
        </p:spPr>
        <p:txBody>
          <a:bodyPr wrap="square" lIns="0" rIns="0" tIns="0" bIns="0" anchor="t">
            <a:spAutoFit/>
          </a:bodyPr>
          <a:lstStyle/>
          <a:p>
            <a:pPr algn="l"/>
            <a:r>
              <a:rPr sz="1800" b="1" i="0">
                <a:solidFill>
                  <a:srgbClr val="0B1F3A"/>
                </a:solidFill>
                <a:latin typeface="Georgia"/>
              </a:rPr>
              <a:t>painter</a:t>
            </a:r>
          </a:p>
        </p:txBody>
      </p:sp>
      <p:sp>
        <p:nvSpPr>
          <p:cNvPr id="13" name="TextBox 12"/>
          <p:cNvSpPr txBox="1"/>
          <p:nvPr/>
        </p:nvSpPr>
        <p:spPr>
          <a:xfrm>
            <a:off x="5250027" y="2651760"/>
            <a:ext cx="2423160" cy="50292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Confirms bookings, uploads</a:t>
            </a:r>
          </a:p>
          <a:p>
            <a:pPr algn="l">
              <a:lnSpc>
                <a:spcPct val="140000"/>
              </a:lnSpc>
            </a:pPr>
            <a:r>
              <a:rPr sz="1100" b="0" i="0">
                <a:solidFill>
                  <a:srgbClr val="424E60"/>
                </a:solidFill>
                <a:latin typeface="Calibri"/>
              </a:rPr>
              <a:t>progress milestones, claims payouts.</a:t>
            </a:r>
          </a:p>
        </p:txBody>
      </p:sp>
      <p:sp>
        <p:nvSpPr>
          <p:cNvPr id="14" name="Rectangle 13"/>
          <p:cNvSpPr/>
          <p:nvPr/>
        </p:nvSpPr>
        <p:spPr>
          <a:xfrm>
            <a:off x="8038947" y="1874519"/>
            <a:ext cx="3429000" cy="137160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13267" y="2286000"/>
            <a:ext cx="457200" cy="45720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07627" y="2240279"/>
            <a:ext cx="2423160" cy="411480"/>
          </a:xfrm>
          <a:prstGeom prst="rect">
            <a:avLst/>
          </a:prstGeom>
          <a:noFill/>
        </p:spPr>
        <p:txBody>
          <a:bodyPr wrap="square" lIns="0" rIns="0" tIns="0" bIns="0" anchor="t">
            <a:spAutoFit/>
          </a:bodyPr>
          <a:lstStyle/>
          <a:p>
            <a:pPr algn="l"/>
            <a:r>
              <a:rPr sz="1800" b="1" i="0">
                <a:solidFill>
                  <a:srgbClr val="0B1F3A"/>
                </a:solidFill>
                <a:latin typeface="Georgia"/>
              </a:rPr>
              <a:t>admin</a:t>
            </a:r>
          </a:p>
        </p:txBody>
      </p:sp>
      <p:sp>
        <p:nvSpPr>
          <p:cNvPr id="17" name="TextBox 16"/>
          <p:cNvSpPr txBox="1"/>
          <p:nvPr/>
        </p:nvSpPr>
        <p:spPr>
          <a:xfrm>
            <a:off x="8907627" y="2651760"/>
            <a:ext cx="2423160" cy="50292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Operations, dispatch, finance,</a:t>
            </a:r>
          </a:p>
          <a:p>
            <a:pPr algn="l">
              <a:lnSpc>
                <a:spcPct val="140000"/>
              </a:lnSpc>
            </a:pPr>
            <a:r>
              <a:rPr sz="1100" b="0" i="0">
                <a:solidFill>
                  <a:srgbClr val="424E60"/>
                </a:solidFill>
                <a:latin typeface="Calibri"/>
              </a:rPr>
              <a:t>QA, inventory — see sub-roles below.</a:t>
            </a:r>
          </a:p>
        </p:txBody>
      </p:sp>
      <p:sp>
        <p:nvSpPr>
          <p:cNvPr id="18" name="TextBox 17"/>
          <p:cNvSpPr txBox="1"/>
          <p:nvPr/>
        </p:nvSpPr>
        <p:spPr>
          <a:xfrm>
            <a:off x="868680" y="3566160"/>
            <a:ext cx="10515600" cy="457200"/>
          </a:xfrm>
          <a:prstGeom prst="rect">
            <a:avLst/>
          </a:prstGeom>
          <a:noFill/>
        </p:spPr>
        <p:txBody>
          <a:bodyPr wrap="square" lIns="0" rIns="0" tIns="0" bIns="0" anchor="t">
            <a:spAutoFit/>
          </a:bodyPr>
          <a:lstStyle/>
          <a:p>
            <a:pPr algn="l"/>
            <a:r>
              <a:rPr sz="1500" b="1" i="0">
                <a:solidFill>
                  <a:srgbClr val="0B1F3A"/>
                </a:solidFill>
                <a:latin typeface="Georgia"/>
              </a:rPr>
              <a:t>Admin sub-roles</a:t>
            </a:r>
          </a:p>
        </p:txBody>
      </p:sp>
      <p:sp>
        <p:nvSpPr>
          <p:cNvPr id="19" name="Rectangle 18"/>
          <p:cNvSpPr/>
          <p:nvPr/>
        </p:nvSpPr>
        <p:spPr>
          <a:xfrm>
            <a:off x="508863" y="4069080"/>
            <a:ext cx="2103120" cy="1920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183" y="434340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1783" y="4251960"/>
            <a:ext cx="1463039" cy="365760"/>
          </a:xfrm>
          <a:prstGeom prst="rect">
            <a:avLst/>
          </a:prstGeom>
          <a:noFill/>
        </p:spPr>
        <p:txBody>
          <a:bodyPr wrap="square" lIns="0" rIns="0" tIns="0" bIns="0" anchor="t">
            <a:spAutoFit/>
          </a:bodyPr>
          <a:lstStyle/>
          <a:p>
            <a:pPr algn="l"/>
            <a:r>
              <a:rPr sz="1100" b="1" i="0">
                <a:solidFill>
                  <a:srgbClr val="F5B800"/>
                </a:solidFill>
                <a:latin typeface="Consolas"/>
              </a:rPr>
              <a:t>super_admin</a:t>
            </a:r>
          </a:p>
        </p:txBody>
      </p:sp>
      <p:sp>
        <p:nvSpPr>
          <p:cNvPr id="22" name="TextBox 21"/>
          <p:cNvSpPr txBox="1"/>
          <p:nvPr/>
        </p:nvSpPr>
        <p:spPr>
          <a:xfrm>
            <a:off x="783183" y="4709160"/>
            <a:ext cx="1645919" cy="1280160"/>
          </a:xfrm>
          <a:prstGeom prst="rect">
            <a:avLst/>
          </a:prstGeom>
          <a:noFill/>
        </p:spPr>
        <p:txBody>
          <a:bodyPr wrap="square" lIns="0" rIns="0" tIns="0" bIns="0" anchor="t">
            <a:spAutoFit/>
          </a:bodyPr>
          <a:lstStyle/>
          <a:p>
            <a:pPr algn="l">
              <a:lnSpc>
                <a:spcPct val="140000"/>
              </a:lnSpc>
            </a:pPr>
            <a:r>
              <a:rPr sz="1050" b="0" i="0">
                <a:solidFill>
                  <a:srgbClr val="FFFFFF"/>
                </a:solidFill>
                <a:latin typeface="Calibri"/>
              </a:rPr>
              <a:t>Full access. Assigns sub-roles to other admins.</a:t>
            </a:r>
          </a:p>
        </p:txBody>
      </p:sp>
      <p:sp>
        <p:nvSpPr>
          <p:cNvPr id="23" name="Rectangle 22"/>
          <p:cNvSpPr/>
          <p:nvPr/>
        </p:nvSpPr>
        <p:spPr>
          <a:xfrm>
            <a:off x="2776575" y="4069080"/>
            <a:ext cx="2103120" cy="1920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050895" y="434340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79495" y="4251960"/>
            <a:ext cx="1463039" cy="365760"/>
          </a:xfrm>
          <a:prstGeom prst="rect">
            <a:avLst/>
          </a:prstGeom>
          <a:noFill/>
        </p:spPr>
        <p:txBody>
          <a:bodyPr wrap="square" lIns="0" rIns="0" tIns="0" bIns="0" anchor="t">
            <a:spAutoFit/>
          </a:bodyPr>
          <a:lstStyle/>
          <a:p>
            <a:pPr algn="l"/>
            <a:r>
              <a:rPr sz="1100" b="1" i="0">
                <a:solidFill>
                  <a:srgbClr val="F5B800"/>
                </a:solidFill>
                <a:latin typeface="Consolas"/>
              </a:rPr>
              <a:t>dispatcher</a:t>
            </a:r>
          </a:p>
        </p:txBody>
      </p:sp>
      <p:sp>
        <p:nvSpPr>
          <p:cNvPr id="26" name="TextBox 25"/>
          <p:cNvSpPr txBox="1"/>
          <p:nvPr/>
        </p:nvSpPr>
        <p:spPr>
          <a:xfrm>
            <a:off x="3050895" y="4709160"/>
            <a:ext cx="1645919" cy="1280160"/>
          </a:xfrm>
          <a:prstGeom prst="rect">
            <a:avLst/>
          </a:prstGeom>
          <a:noFill/>
        </p:spPr>
        <p:txBody>
          <a:bodyPr wrap="square" lIns="0" rIns="0" tIns="0" bIns="0" anchor="t">
            <a:spAutoFit/>
          </a:bodyPr>
          <a:lstStyle/>
          <a:p>
            <a:pPr algn="l">
              <a:lnSpc>
                <a:spcPct val="140000"/>
              </a:lnSpc>
            </a:pPr>
            <a:r>
              <a:rPr sz="1050" b="0" i="0">
                <a:solidFill>
                  <a:srgbClr val="FFFFFF"/>
                </a:solidFill>
                <a:latin typeface="Calibri"/>
              </a:rPr>
              <a:t>Owns the Volume Reviews queue, schedules painters, runs the Job Board.</a:t>
            </a:r>
          </a:p>
        </p:txBody>
      </p:sp>
      <p:sp>
        <p:nvSpPr>
          <p:cNvPr id="27" name="Rectangle 26"/>
          <p:cNvSpPr/>
          <p:nvPr/>
        </p:nvSpPr>
        <p:spPr>
          <a:xfrm>
            <a:off x="5044287" y="4069080"/>
            <a:ext cx="2103120" cy="1920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18607" y="434340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47207" y="4251960"/>
            <a:ext cx="1463039" cy="365760"/>
          </a:xfrm>
          <a:prstGeom prst="rect">
            <a:avLst/>
          </a:prstGeom>
          <a:noFill/>
        </p:spPr>
        <p:txBody>
          <a:bodyPr wrap="square" lIns="0" rIns="0" tIns="0" bIns="0" anchor="t">
            <a:spAutoFit/>
          </a:bodyPr>
          <a:lstStyle/>
          <a:p>
            <a:pPr algn="l"/>
            <a:r>
              <a:rPr sz="1100" b="1" i="0">
                <a:solidFill>
                  <a:srgbClr val="F5B800"/>
                </a:solidFill>
                <a:latin typeface="Consolas"/>
              </a:rPr>
              <a:t>qa</a:t>
            </a:r>
          </a:p>
        </p:txBody>
      </p:sp>
      <p:sp>
        <p:nvSpPr>
          <p:cNvPr id="30" name="TextBox 29"/>
          <p:cNvSpPr txBox="1"/>
          <p:nvPr/>
        </p:nvSpPr>
        <p:spPr>
          <a:xfrm>
            <a:off x="5318607" y="4709160"/>
            <a:ext cx="1645919" cy="1280160"/>
          </a:xfrm>
          <a:prstGeom prst="rect">
            <a:avLst/>
          </a:prstGeom>
          <a:noFill/>
        </p:spPr>
        <p:txBody>
          <a:bodyPr wrap="square" lIns="0" rIns="0" tIns="0" bIns="0" anchor="t">
            <a:spAutoFit/>
          </a:bodyPr>
          <a:lstStyle/>
          <a:p>
            <a:pPr algn="l">
              <a:lnSpc>
                <a:spcPct val="140000"/>
              </a:lnSpc>
            </a:pPr>
            <a:r>
              <a:rPr sz="1050" b="0" i="0">
                <a:solidFill>
                  <a:srgbClr val="FFFFFF"/>
                </a:solidFill>
                <a:latin typeface="Calibri"/>
              </a:rPr>
              <a:t>Signs off completed jobs, manages milestone reviews.</a:t>
            </a:r>
          </a:p>
        </p:txBody>
      </p:sp>
      <p:sp>
        <p:nvSpPr>
          <p:cNvPr id="31" name="Rectangle 30"/>
          <p:cNvSpPr/>
          <p:nvPr/>
        </p:nvSpPr>
        <p:spPr>
          <a:xfrm>
            <a:off x="7311999" y="4069080"/>
            <a:ext cx="2103120" cy="1920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86319" y="434340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14919" y="4251960"/>
            <a:ext cx="1463039" cy="365760"/>
          </a:xfrm>
          <a:prstGeom prst="rect">
            <a:avLst/>
          </a:prstGeom>
          <a:noFill/>
        </p:spPr>
        <p:txBody>
          <a:bodyPr wrap="square" lIns="0" rIns="0" tIns="0" bIns="0" anchor="t">
            <a:spAutoFit/>
          </a:bodyPr>
          <a:lstStyle/>
          <a:p>
            <a:pPr algn="l"/>
            <a:r>
              <a:rPr sz="1100" b="1" i="0">
                <a:solidFill>
                  <a:srgbClr val="F5B800"/>
                </a:solidFill>
                <a:latin typeface="Consolas"/>
              </a:rPr>
              <a:t>finance</a:t>
            </a:r>
          </a:p>
        </p:txBody>
      </p:sp>
      <p:sp>
        <p:nvSpPr>
          <p:cNvPr id="34" name="TextBox 33"/>
          <p:cNvSpPr txBox="1"/>
          <p:nvPr/>
        </p:nvSpPr>
        <p:spPr>
          <a:xfrm>
            <a:off x="7586319" y="4709160"/>
            <a:ext cx="1645919" cy="1280160"/>
          </a:xfrm>
          <a:prstGeom prst="rect">
            <a:avLst/>
          </a:prstGeom>
          <a:noFill/>
        </p:spPr>
        <p:txBody>
          <a:bodyPr wrap="square" lIns="0" rIns="0" tIns="0" bIns="0" anchor="t">
            <a:spAutoFit/>
          </a:bodyPr>
          <a:lstStyle/>
          <a:p>
            <a:pPr algn="l">
              <a:lnSpc>
                <a:spcPct val="140000"/>
              </a:lnSpc>
            </a:pPr>
            <a:r>
              <a:rPr sz="1050" b="0" i="0">
                <a:solidFill>
                  <a:srgbClr val="FFFFFF"/>
                </a:solidFill>
                <a:latin typeface="Calibri"/>
              </a:rPr>
              <a:t>Payments, refunds, payouts, invoices.</a:t>
            </a:r>
          </a:p>
        </p:txBody>
      </p:sp>
      <p:sp>
        <p:nvSpPr>
          <p:cNvPr id="35" name="Rectangle 34"/>
          <p:cNvSpPr/>
          <p:nvPr/>
        </p:nvSpPr>
        <p:spPr>
          <a:xfrm>
            <a:off x="9579711" y="4069080"/>
            <a:ext cx="2103120" cy="1920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854031" y="434340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82631" y="4251960"/>
            <a:ext cx="1463039" cy="365760"/>
          </a:xfrm>
          <a:prstGeom prst="rect">
            <a:avLst/>
          </a:prstGeom>
          <a:noFill/>
        </p:spPr>
        <p:txBody>
          <a:bodyPr wrap="square" lIns="0" rIns="0" tIns="0" bIns="0" anchor="t">
            <a:spAutoFit/>
          </a:bodyPr>
          <a:lstStyle/>
          <a:p>
            <a:pPr algn="l"/>
            <a:r>
              <a:rPr sz="1100" b="1" i="0">
                <a:solidFill>
                  <a:srgbClr val="F5B800"/>
                </a:solidFill>
                <a:latin typeface="Consolas"/>
              </a:rPr>
              <a:t>inventory_manager</a:t>
            </a:r>
          </a:p>
        </p:txBody>
      </p:sp>
      <p:sp>
        <p:nvSpPr>
          <p:cNvPr id="38" name="TextBox 37"/>
          <p:cNvSpPr txBox="1"/>
          <p:nvPr/>
        </p:nvSpPr>
        <p:spPr>
          <a:xfrm>
            <a:off x="9854031" y="4709160"/>
            <a:ext cx="1645919" cy="1280160"/>
          </a:xfrm>
          <a:prstGeom prst="rect">
            <a:avLst/>
          </a:prstGeom>
          <a:noFill/>
        </p:spPr>
        <p:txBody>
          <a:bodyPr wrap="square" lIns="0" rIns="0" tIns="0" bIns="0" anchor="t">
            <a:spAutoFit/>
          </a:bodyPr>
          <a:lstStyle/>
          <a:p>
            <a:pPr algn="l">
              <a:lnSpc>
                <a:spcPct val="140000"/>
              </a:lnSpc>
            </a:pPr>
            <a:r>
              <a:rPr sz="1050" b="0" i="0">
                <a:solidFill>
                  <a:srgbClr val="FFFFFF"/>
                </a:solidFill>
                <a:latin typeface="Calibri"/>
              </a:rPr>
              <a:t>Paint catalog, suppliers, purchase orders, stock levels.</a:t>
            </a:r>
          </a:p>
        </p:txBody>
      </p:sp>
      <p:sp>
        <p:nvSpPr>
          <p:cNvPr id="39" name="TextBox 38"/>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40" name="TextBox 39"/>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Admin console — what each role sees</a:t>
            </a:r>
          </a:p>
        </p:txBody>
      </p:sp>
      <p:sp>
        <p:nvSpPr>
          <p:cNvPr id="5" name="Rectangle 4"/>
          <p:cNvSpPr/>
          <p:nvPr/>
        </p:nvSpPr>
        <p:spPr>
          <a:xfrm>
            <a:off x="868680" y="1280160"/>
            <a:ext cx="5349240" cy="521208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1600200"/>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19" y="1463039"/>
            <a:ext cx="4617720" cy="411480"/>
          </a:xfrm>
          <a:prstGeom prst="rect">
            <a:avLst/>
          </a:prstGeom>
          <a:noFill/>
        </p:spPr>
        <p:txBody>
          <a:bodyPr wrap="square" lIns="0" rIns="0" tIns="0" bIns="0" anchor="t">
            <a:spAutoFit/>
          </a:bodyPr>
          <a:lstStyle/>
          <a:p>
            <a:pPr algn="l"/>
            <a:r>
              <a:rPr sz="1700" b="1" i="0">
                <a:solidFill>
                  <a:srgbClr val="0B1F3A"/>
                </a:solidFill>
                <a:latin typeface="Georgia"/>
              </a:rPr>
              <a:t>Operations</a:t>
            </a:r>
          </a:p>
        </p:txBody>
      </p:sp>
      <p:sp>
        <p:nvSpPr>
          <p:cNvPr id="8" name="TextBox 7"/>
          <p:cNvSpPr txBox="1"/>
          <p:nvPr/>
        </p:nvSpPr>
        <p:spPr>
          <a:xfrm>
            <a:off x="1234440" y="2148839"/>
            <a:ext cx="2377440" cy="237744"/>
          </a:xfrm>
          <a:prstGeom prst="rect">
            <a:avLst/>
          </a:prstGeom>
          <a:noFill/>
        </p:spPr>
        <p:txBody>
          <a:bodyPr wrap="square" lIns="0" rIns="0" tIns="0" bIns="0" anchor="t">
            <a:spAutoFit/>
          </a:bodyPr>
          <a:lstStyle/>
          <a:p>
            <a:pPr algn="l"/>
            <a:r>
              <a:rPr sz="1150" b="1" i="0">
                <a:solidFill>
                  <a:srgbClr val="0B1F3A"/>
                </a:solidFill>
                <a:latin typeface="Calibri"/>
              </a:rPr>
              <a:t>Dashboard</a:t>
            </a:r>
          </a:p>
        </p:txBody>
      </p:sp>
      <p:sp>
        <p:nvSpPr>
          <p:cNvPr id="9" name="TextBox 8"/>
          <p:cNvSpPr txBox="1"/>
          <p:nvPr/>
        </p:nvSpPr>
        <p:spPr>
          <a:xfrm>
            <a:off x="1234440" y="2395727"/>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KPIs, revenue, customer satisfaction.</a:t>
            </a:r>
          </a:p>
        </p:txBody>
      </p:sp>
      <p:sp>
        <p:nvSpPr>
          <p:cNvPr id="10" name="TextBox 9"/>
          <p:cNvSpPr txBox="1"/>
          <p:nvPr/>
        </p:nvSpPr>
        <p:spPr>
          <a:xfrm>
            <a:off x="1234440" y="2862072"/>
            <a:ext cx="2377440" cy="237744"/>
          </a:xfrm>
          <a:prstGeom prst="rect">
            <a:avLst/>
          </a:prstGeom>
          <a:noFill/>
        </p:spPr>
        <p:txBody>
          <a:bodyPr wrap="square" lIns="0" rIns="0" tIns="0" bIns="0" anchor="t">
            <a:spAutoFit/>
          </a:bodyPr>
          <a:lstStyle/>
          <a:p>
            <a:pPr algn="l"/>
            <a:r>
              <a:rPr sz="1150" b="1" i="0">
                <a:solidFill>
                  <a:srgbClr val="0B1F3A"/>
                </a:solidFill>
                <a:latin typeface="Calibri"/>
              </a:rPr>
              <a:t>Job Board</a:t>
            </a:r>
          </a:p>
        </p:txBody>
      </p:sp>
      <p:sp>
        <p:nvSpPr>
          <p:cNvPr id="11" name="TextBox 10"/>
          <p:cNvSpPr txBox="1"/>
          <p:nvPr/>
        </p:nvSpPr>
        <p:spPr>
          <a:xfrm>
            <a:off x="1234440" y="3108960"/>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Kanban of every booking by stage.</a:t>
            </a:r>
          </a:p>
        </p:txBody>
      </p:sp>
      <p:sp>
        <p:nvSpPr>
          <p:cNvPr id="12" name="TextBox 11"/>
          <p:cNvSpPr txBox="1"/>
          <p:nvPr/>
        </p:nvSpPr>
        <p:spPr>
          <a:xfrm>
            <a:off x="1234440" y="3575304"/>
            <a:ext cx="2377440" cy="237744"/>
          </a:xfrm>
          <a:prstGeom prst="rect">
            <a:avLst/>
          </a:prstGeom>
          <a:noFill/>
        </p:spPr>
        <p:txBody>
          <a:bodyPr wrap="square" lIns="0" rIns="0" tIns="0" bIns="0" anchor="t">
            <a:spAutoFit/>
          </a:bodyPr>
          <a:lstStyle/>
          <a:p>
            <a:pPr algn="l"/>
            <a:r>
              <a:rPr sz="1150" b="1" i="0">
                <a:solidFill>
                  <a:srgbClr val="0B1F3A"/>
                </a:solidFill>
                <a:latin typeface="Calibri"/>
              </a:rPr>
              <a:t>Volume Reviews</a:t>
            </a:r>
          </a:p>
        </p:txBody>
      </p:sp>
      <p:sp>
        <p:nvSpPr>
          <p:cNvPr id="13" name="TextBox 12"/>
          <p:cNvSpPr txBox="1"/>
          <p:nvPr/>
        </p:nvSpPr>
        <p:spPr>
          <a:xfrm>
            <a:off x="1234440" y="3822191"/>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Dispatcher's confirm / reject queue for paint volume estimates.</a:t>
            </a:r>
          </a:p>
        </p:txBody>
      </p:sp>
      <p:sp>
        <p:nvSpPr>
          <p:cNvPr id="14" name="TextBox 13"/>
          <p:cNvSpPr txBox="1"/>
          <p:nvPr/>
        </p:nvSpPr>
        <p:spPr>
          <a:xfrm>
            <a:off x="1234440" y="4288536"/>
            <a:ext cx="2377440" cy="237744"/>
          </a:xfrm>
          <a:prstGeom prst="rect">
            <a:avLst/>
          </a:prstGeom>
          <a:noFill/>
        </p:spPr>
        <p:txBody>
          <a:bodyPr wrap="square" lIns="0" rIns="0" tIns="0" bIns="0" anchor="t">
            <a:spAutoFit/>
          </a:bodyPr>
          <a:lstStyle/>
          <a:p>
            <a:pPr algn="l"/>
            <a:r>
              <a:rPr sz="1150" b="1" i="0">
                <a:solidFill>
                  <a:srgbClr val="0B1F3A"/>
                </a:solidFill>
                <a:latin typeface="Calibri"/>
              </a:rPr>
              <a:t>Paint Masters</a:t>
            </a:r>
          </a:p>
        </p:txBody>
      </p:sp>
      <p:sp>
        <p:nvSpPr>
          <p:cNvPr id="15" name="TextBox 14"/>
          <p:cNvSpPr txBox="1"/>
          <p:nvPr/>
        </p:nvSpPr>
        <p:spPr>
          <a:xfrm>
            <a:off x="1234440" y="4535424"/>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Roster + remove/suspend, calendar, message broadcast.</a:t>
            </a:r>
          </a:p>
        </p:txBody>
      </p:sp>
      <p:sp>
        <p:nvSpPr>
          <p:cNvPr id="16" name="TextBox 15"/>
          <p:cNvSpPr txBox="1"/>
          <p:nvPr/>
        </p:nvSpPr>
        <p:spPr>
          <a:xfrm>
            <a:off x="1234440" y="5001768"/>
            <a:ext cx="2377440" cy="237744"/>
          </a:xfrm>
          <a:prstGeom prst="rect">
            <a:avLst/>
          </a:prstGeom>
          <a:noFill/>
        </p:spPr>
        <p:txBody>
          <a:bodyPr wrap="square" lIns="0" rIns="0" tIns="0" bIns="0" anchor="t">
            <a:spAutoFit/>
          </a:bodyPr>
          <a:lstStyle/>
          <a:p>
            <a:pPr algn="l"/>
            <a:r>
              <a:rPr sz="1150" b="1" i="0">
                <a:solidFill>
                  <a:srgbClr val="0B1F3A"/>
                </a:solidFill>
                <a:latin typeface="Calibri"/>
              </a:rPr>
              <a:t>Customers</a:t>
            </a:r>
          </a:p>
        </p:txBody>
      </p:sp>
      <p:sp>
        <p:nvSpPr>
          <p:cNvPr id="17" name="TextBox 16"/>
          <p:cNvSpPr txBox="1"/>
          <p:nvPr/>
        </p:nvSpPr>
        <p:spPr>
          <a:xfrm>
            <a:off x="1234440" y="5248656"/>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Customer profiles, notes, jobs, LTV.</a:t>
            </a:r>
          </a:p>
        </p:txBody>
      </p:sp>
      <p:sp>
        <p:nvSpPr>
          <p:cNvPr id="18" name="Rectangle 17"/>
          <p:cNvSpPr/>
          <p:nvPr/>
        </p:nvSpPr>
        <p:spPr>
          <a:xfrm>
            <a:off x="6583680" y="1280160"/>
            <a:ext cx="5349240" cy="521208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0" y="160020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1463039"/>
            <a:ext cx="4617720" cy="411480"/>
          </a:xfrm>
          <a:prstGeom prst="rect">
            <a:avLst/>
          </a:prstGeom>
          <a:noFill/>
        </p:spPr>
        <p:txBody>
          <a:bodyPr wrap="square" lIns="0" rIns="0" tIns="0" bIns="0" anchor="t">
            <a:spAutoFit/>
          </a:bodyPr>
          <a:lstStyle/>
          <a:p>
            <a:pPr algn="l"/>
            <a:r>
              <a:rPr sz="1700" b="1" i="0">
                <a:solidFill>
                  <a:srgbClr val="0B1F3A"/>
                </a:solidFill>
                <a:latin typeface="Georgia"/>
              </a:rPr>
              <a:t>Resources &amp; Account</a:t>
            </a:r>
          </a:p>
        </p:txBody>
      </p:sp>
      <p:sp>
        <p:nvSpPr>
          <p:cNvPr id="21" name="TextBox 20"/>
          <p:cNvSpPr txBox="1"/>
          <p:nvPr/>
        </p:nvSpPr>
        <p:spPr>
          <a:xfrm>
            <a:off x="6949440" y="2148839"/>
            <a:ext cx="2377440" cy="237744"/>
          </a:xfrm>
          <a:prstGeom prst="rect">
            <a:avLst/>
          </a:prstGeom>
          <a:noFill/>
        </p:spPr>
        <p:txBody>
          <a:bodyPr wrap="square" lIns="0" rIns="0" tIns="0" bIns="0" anchor="t">
            <a:spAutoFit/>
          </a:bodyPr>
          <a:lstStyle/>
          <a:p>
            <a:pPr algn="l"/>
            <a:r>
              <a:rPr sz="1150" b="1" i="0">
                <a:solidFill>
                  <a:srgbClr val="0B1F3A"/>
                </a:solidFill>
                <a:latin typeface="Calibri"/>
              </a:rPr>
              <a:t>Inventory</a:t>
            </a:r>
          </a:p>
        </p:txBody>
      </p:sp>
      <p:sp>
        <p:nvSpPr>
          <p:cNvPr id="22" name="TextBox 21"/>
          <p:cNvSpPr txBox="1"/>
          <p:nvPr/>
        </p:nvSpPr>
        <p:spPr>
          <a:xfrm>
            <a:off x="6949440" y="2395727"/>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Stock levels, purchase orders, suppliers.</a:t>
            </a:r>
          </a:p>
        </p:txBody>
      </p:sp>
      <p:sp>
        <p:nvSpPr>
          <p:cNvPr id="23" name="TextBox 22"/>
          <p:cNvSpPr txBox="1"/>
          <p:nvPr/>
        </p:nvSpPr>
        <p:spPr>
          <a:xfrm>
            <a:off x="6949440" y="2862072"/>
            <a:ext cx="2377440" cy="237744"/>
          </a:xfrm>
          <a:prstGeom prst="rect">
            <a:avLst/>
          </a:prstGeom>
          <a:noFill/>
        </p:spPr>
        <p:txBody>
          <a:bodyPr wrap="square" lIns="0" rIns="0" tIns="0" bIns="0" anchor="t">
            <a:spAutoFit/>
          </a:bodyPr>
          <a:lstStyle/>
          <a:p>
            <a:pPr algn="l"/>
            <a:r>
              <a:rPr sz="1150" b="1" i="0">
                <a:solidFill>
                  <a:srgbClr val="0B1F3A"/>
                </a:solidFill>
                <a:latin typeface="Calibri"/>
              </a:rPr>
              <a:t>Paint Catalog</a:t>
            </a:r>
          </a:p>
        </p:txBody>
      </p:sp>
      <p:sp>
        <p:nvSpPr>
          <p:cNvPr id="24" name="TextBox 23"/>
          <p:cNvSpPr txBox="1"/>
          <p:nvPr/>
        </p:nvSpPr>
        <p:spPr>
          <a:xfrm>
            <a:off x="6949440" y="3108960"/>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Inventory Manager: edit 9-type catalog (price, coverage, bucket).</a:t>
            </a:r>
          </a:p>
        </p:txBody>
      </p:sp>
      <p:sp>
        <p:nvSpPr>
          <p:cNvPr id="25" name="TextBox 24"/>
          <p:cNvSpPr txBox="1"/>
          <p:nvPr/>
        </p:nvSpPr>
        <p:spPr>
          <a:xfrm>
            <a:off x="6949440" y="3575304"/>
            <a:ext cx="2377440" cy="237744"/>
          </a:xfrm>
          <a:prstGeom prst="rect">
            <a:avLst/>
          </a:prstGeom>
          <a:noFill/>
        </p:spPr>
        <p:txBody>
          <a:bodyPr wrap="square" lIns="0" rIns="0" tIns="0" bIns="0" anchor="t">
            <a:spAutoFit/>
          </a:bodyPr>
          <a:lstStyle/>
          <a:p>
            <a:pPr algn="l"/>
            <a:r>
              <a:rPr sz="1150" b="1" i="0">
                <a:solidFill>
                  <a:srgbClr val="0B1F3A"/>
                </a:solidFill>
                <a:latin typeface="Calibri"/>
              </a:rPr>
              <a:t>Brand Partners</a:t>
            </a:r>
          </a:p>
        </p:txBody>
      </p:sp>
      <p:sp>
        <p:nvSpPr>
          <p:cNvPr id="26" name="TextBox 25"/>
          <p:cNvSpPr txBox="1"/>
          <p:nvPr/>
        </p:nvSpPr>
        <p:spPr>
          <a:xfrm>
            <a:off x="6949440" y="3822191"/>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Drag-and-drop editor for the homepage Trusted Partners grid.</a:t>
            </a:r>
          </a:p>
        </p:txBody>
      </p:sp>
      <p:sp>
        <p:nvSpPr>
          <p:cNvPr id="27" name="TextBox 26"/>
          <p:cNvSpPr txBox="1"/>
          <p:nvPr/>
        </p:nvSpPr>
        <p:spPr>
          <a:xfrm>
            <a:off x="6949440" y="4288536"/>
            <a:ext cx="2377440" cy="237744"/>
          </a:xfrm>
          <a:prstGeom prst="rect">
            <a:avLst/>
          </a:prstGeom>
          <a:noFill/>
        </p:spPr>
        <p:txBody>
          <a:bodyPr wrap="square" lIns="0" rIns="0" tIns="0" bIns="0" anchor="t">
            <a:spAutoFit/>
          </a:bodyPr>
          <a:lstStyle/>
          <a:p>
            <a:pPr algn="l"/>
            <a:r>
              <a:rPr sz="1150" b="1" i="0">
                <a:solidFill>
                  <a:srgbClr val="0B1F3A"/>
                </a:solidFill>
                <a:latin typeface="Calibri"/>
              </a:rPr>
              <a:t>Payouts</a:t>
            </a:r>
          </a:p>
        </p:txBody>
      </p:sp>
      <p:sp>
        <p:nvSpPr>
          <p:cNvPr id="28" name="TextBox 27"/>
          <p:cNvSpPr txBox="1"/>
          <p:nvPr/>
        </p:nvSpPr>
        <p:spPr>
          <a:xfrm>
            <a:off x="6949440" y="4535424"/>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Finance: painter payout queue and reconciliation.</a:t>
            </a:r>
          </a:p>
        </p:txBody>
      </p:sp>
      <p:sp>
        <p:nvSpPr>
          <p:cNvPr id="29" name="TextBox 28"/>
          <p:cNvSpPr txBox="1"/>
          <p:nvPr/>
        </p:nvSpPr>
        <p:spPr>
          <a:xfrm>
            <a:off x="6949440" y="5001768"/>
            <a:ext cx="2377440" cy="237744"/>
          </a:xfrm>
          <a:prstGeom prst="rect">
            <a:avLst/>
          </a:prstGeom>
          <a:noFill/>
        </p:spPr>
        <p:txBody>
          <a:bodyPr wrap="square" lIns="0" rIns="0" tIns="0" bIns="0" anchor="t">
            <a:spAutoFit/>
          </a:bodyPr>
          <a:lstStyle/>
          <a:p>
            <a:pPr algn="l"/>
            <a:r>
              <a:rPr sz="1150" b="1" i="0">
                <a:solidFill>
                  <a:srgbClr val="0B1F3A"/>
                </a:solidFill>
                <a:latin typeface="Calibri"/>
              </a:rPr>
              <a:t>Analytics</a:t>
            </a:r>
          </a:p>
        </p:txBody>
      </p:sp>
      <p:sp>
        <p:nvSpPr>
          <p:cNvPr id="30" name="TextBox 29"/>
          <p:cNvSpPr txBox="1"/>
          <p:nvPr/>
        </p:nvSpPr>
        <p:spPr>
          <a:xfrm>
            <a:off x="6949440" y="5248656"/>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Revenue, service mix, region donut, satisfaction.</a:t>
            </a:r>
          </a:p>
        </p:txBody>
      </p:sp>
      <p:sp>
        <p:nvSpPr>
          <p:cNvPr id="31" name="TextBox 30"/>
          <p:cNvSpPr txBox="1"/>
          <p:nvPr/>
        </p:nvSpPr>
        <p:spPr>
          <a:xfrm>
            <a:off x="6949440" y="5715000"/>
            <a:ext cx="2377440" cy="237744"/>
          </a:xfrm>
          <a:prstGeom prst="rect">
            <a:avLst/>
          </a:prstGeom>
          <a:noFill/>
        </p:spPr>
        <p:txBody>
          <a:bodyPr wrap="square" lIns="0" rIns="0" tIns="0" bIns="0" anchor="t">
            <a:spAutoFit/>
          </a:bodyPr>
          <a:lstStyle/>
          <a:p>
            <a:pPr algn="l"/>
            <a:r>
              <a:rPr sz="1150" b="1" i="0">
                <a:solidFill>
                  <a:srgbClr val="0B1F3A"/>
                </a:solidFill>
                <a:latin typeface="Calibri"/>
              </a:rPr>
              <a:t>Team &amp; Settings</a:t>
            </a:r>
          </a:p>
        </p:txBody>
      </p:sp>
      <p:sp>
        <p:nvSpPr>
          <p:cNvPr id="32" name="TextBox 31"/>
          <p:cNvSpPr txBox="1"/>
          <p:nvPr/>
        </p:nvSpPr>
        <p:spPr>
          <a:xfrm>
            <a:off x="6949440" y="5961888"/>
            <a:ext cx="4800600" cy="548640"/>
          </a:xfrm>
          <a:prstGeom prst="rect">
            <a:avLst/>
          </a:prstGeom>
          <a:noFill/>
        </p:spPr>
        <p:txBody>
          <a:bodyPr wrap="square" lIns="0" rIns="0" tIns="0" bIns="0" anchor="t">
            <a:spAutoFit/>
          </a:bodyPr>
          <a:lstStyle/>
          <a:p>
            <a:pPr algn="l">
              <a:lnSpc>
                <a:spcPct val="135000"/>
              </a:lnSpc>
            </a:pPr>
            <a:r>
              <a:rPr sz="1050" b="0" i="0">
                <a:solidFill>
                  <a:srgbClr val="424E60"/>
                </a:solidFill>
                <a:latin typeface="Calibri"/>
              </a:rPr>
              <a:t>Super-admin: invite team, assign sub-roles, branding.</a:t>
            </a:r>
          </a:p>
        </p:txBody>
      </p:sp>
      <p:sp>
        <p:nvSpPr>
          <p:cNvPr id="33" name="TextBox 32"/>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34" name="TextBox 33"/>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Architecture at a glance</a:t>
            </a:r>
          </a:p>
        </p:txBody>
      </p:sp>
      <p:sp>
        <p:nvSpPr>
          <p:cNvPr id="5" name="Rectangle 4"/>
          <p:cNvSpPr/>
          <p:nvPr/>
        </p:nvSpPr>
        <p:spPr>
          <a:xfrm>
            <a:off x="868680" y="1280160"/>
            <a:ext cx="10424160" cy="1207008"/>
          </a:xfrm>
          <a:prstGeom prst="rect">
            <a:avLst/>
          </a:prstGeom>
          <a:solidFill>
            <a:srgbClr val="E9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44751"/>
            <a:ext cx="10058400" cy="384048"/>
          </a:xfrm>
          <a:prstGeom prst="rect">
            <a:avLst/>
          </a:prstGeom>
          <a:noFill/>
        </p:spPr>
        <p:txBody>
          <a:bodyPr wrap="square" lIns="0" rIns="0" tIns="0" bIns="0" anchor="t">
            <a:spAutoFit/>
          </a:bodyPr>
          <a:lstStyle/>
          <a:p>
            <a:pPr algn="l"/>
            <a:r>
              <a:rPr sz="1500" b="1" i="0">
                <a:solidFill>
                  <a:srgbClr val="0B1F3A"/>
                </a:solidFill>
                <a:latin typeface="Georgia"/>
              </a:rPr>
              <a:t>Frontend (static HTML)</a:t>
            </a:r>
          </a:p>
        </p:txBody>
      </p:sp>
      <p:sp>
        <p:nvSpPr>
          <p:cNvPr id="7" name="TextBox 6"/>
          <p:cNvSpPr txBox="1"/>
          <p:nvPr/>
        </p:nvSpPr>
        <p:spPr>
          <a:xfrm>
            <a:off x="1097280" y="1874519"/>
            <a:ext cx="10058400" cy="566928"/>
          </a:xfrm>
          <a:prstGeom prst="rect">
            <a:avLst/>
          </a:prstGeom>
          <a:noFill/>
        </p:spPr>
        <p:txBody>
          <a:bodyPr wrap="square" lIns="0" rIns="0" tIns="0" bIns="0" anchor="t">
            <a:spAutoFit/>
          </a:bodyPr>
          <a:lstStyle/>
          <a:p>
            <a:pPr algn="l">
              <a:lnSpc>
                <a:spcPct val="140000"/>
              </a:lnSpc>
            </a:pPr>
            <a:r>
              <a:rPr sz="1050" b="0" i="0">
                <a:solidFill>
                  <a:srgbClr val="424E60"/>
                </a:solidFill>
                <a:latin typeface="Consolas"/>
              </a:rPr>
              <a:t>index, quote, booking, paints, brand, my, login, register, track, warranty + admin/*.</a:t>
            </a:r>
          </a:p>
          <a:p>
            <a:pPr algn="l">
              <a:lnSpc>
                <a:spcPct val="140000"/>
              </a:lnSpc>
            </a:pPr>
            <a:r>
              <a:rPr sz="1050" b="0" i="0">
                <a:solidFill>
                  <a:srgbClr val="424E60"/>
                </a:solidFill>
                <a:latin typeface="Consolas"/>
              </a:rPr>
              <a:t>Shared assets: shared.js, paint-catalog.js, styles.css, admin-shared.js.</a:t>
            </a:r>
          </a:p>
        </p:txBody>
      </p:sp>
      <p:sp>
        <p:nvSpPr>
          <p:cNvPr id="8" name="Rectangle 7"/>
          <p:cNvSpPr/>
          <p:nvPr/>
        </p:nvSpPr>
        <p:spPr>
          <a:xfrm>
            <a:off x="868680" y="2651760"/>
            <a:ext cx="10424160" cy="1207008"/>
          </a:xfrm>
          <a:prstGeom prst="rect">
            <a:avLst/>
          </a:prstGeom>
          <a:solidFill>
            <a:srgbClr val="FE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816352"/>
            <a:ext cx="10058400" cy="384048"/>
          </a:xfrm>
          <a:prstGeom prst="rect">
            <a:avLst/>
          </a:prstGeom>
          <a:noFill/>
        </p:spPr>
        <p:txBody>
          <a:bodyPr wrap="square" lIns="0" rIns="0" tIns="0" bIns="0" anchor="t">
            <a:spAutoFit/>
          </a:bodyPr>
          <a:lstStyle/>
          <a:p>
            <a:pPr algn="l"/>
            <a:r>
              <a:rPr sz="1500" b="1" i="0">
                <a:solidFill>
                  <a:srgbClr val="0B1F3A"/>
                </a:solidFill>
                <a:latin typeface="Georgia"/>
              </a:rPr>
              <a:t>API (Node + Express + JWT)</a:t>
            </a:r>
          </a:p>
        </p:txBody>
      </p:sp>
      <p:sp>
        <p:nvSpPr>
          <p:cNvPr id="10" name="TextBox 9"/>
          <p:cNvSpPr txBox="1"/>
          <p:nvPr/>
        </p:nvSpPr>
        <p:spPr>
          <a:xfrm>
            <a:off x="1097280" y="3246120"/>
            <a:ext cx="10058400" cy="566928"/>
          </a:xfrm>
          <a:prstGeom prst="rect">
            <a:avLst/>
          </a:prstGeom>
          <a:noFill/>
        </p:spPr>
        <p:txBody>
          <a:bodyPr wrap="square" lIns="0" rIns="0" tIns="0" bIns="0" anchor="t">
            <a:spAutoFit/>
          </a:bodyPr>
          <a:lstStyle/>
          <a:p>
            <a:pPr algn="l">
              <a:lnSpc>
                <a:spcPct val="140000"/>
              </a:lnSpc>
            </a:pPr>
            <a:r>
              <a:rPr sz="1050" b="0" i="0">
                <a:solidFill>
                  <a:srgbClr val="424E60"/>
                </a:solidFill>
                <a:latin typeface="Consolas"/>
              </a:rPr>
              <a:t>Mounted at /api: auth · painters · bookings · reviews · quotes · paint-volume · paint-products</a:t>
            </a:r>
          </a:p>
          <a:p>
            <a:pPr algn="l">
              <a:lnSpc>
                <a:spcPct val="140000"/>
              </a:lnSpc>
            </a:pPr>
            <a:r>
              <a:rPr sz="1050" b="0" i="0">
                <a:solidFill>
                  <a:srgbClr val="424E60"/>
                </a:solidFill>
                <a:latin typeface="Consolas"/>
              </a:rPr>
              <a:t>· payments · uploads · admin/users. Middleware: protect, restrictTo, requireSubRole.</a:t>
            </a:r>
          </a:p>
        </p:txBody>
      </p:sp>
      <p:sp>
        <p:nvSpPr>
          <p:cNvPr id="11" name="Rectangle 10"/>
          <p:cNvSpPr/>
          <p:nvPr/>
        </p:nvSpPr>
        <p:spPr>
          <a:xfrm>
            <a:off x="868680" y="4023360"/>
            <a:ext cx="10424160" cy="1207008"/>
          </a:xfrm>
          <a:prstGeom prst="rect">
            <a:avLst/>
          </a:prstGeom>
          <a:solidFill>
            <a:srgbClr val="E2F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187952"/>
            <a:ext cx="10058400" cy="384048"/>
          </a:xfrm>
          <a:prstGeom prst="rect">
            <a:avLst/>
          </a:prstGeom>
          <a:noFill/>
        </p:spPr>
        <p:txBody>
          <a:bodyPr wrap="square" lIns="0" rIns="0" tIns="0" bIns="0" anchor="t">
            <a:spAutoFit/>
          </a:bodyPr>
          <a:lstStyle/>
          <a:p>
            <a:pPr algn="l"/>
            <a:r>
              <a:rPr sz="1500" b="1" i="0">
                <a:solidFill>
                  <a:srgbClr val="0B1F3A"/>
                </a:solidFill>
                <a:latin typeface="Georgia"/>
              </a:rPr>
              <a:t>Services (pure JS)</a:t>
            </a:r>
          </a:p>
        </p:txBody>
      </p:sp>
      <p:sp>
        <p:nvSpPr>
          <p:cNvPr id="13" name="TextBox 12"/>
          <p:cNvSpPr txBox="1"/>
          <p:nvPr/>
        </p:nvSpPr>
        <p:spPr>
          <a:xfrm>
            <a:off x="1097280" y="4617720"/>
            <a:ext cx="10058400" cy="566928"/>
          </a:xfrm>
          <a:prstGeom prst="rect">
            <a:avLst/>
          </a:prstGeom>
          <a:noFill/>
        </p:spPr>
        <p:txBody>
          <a:bodyPr wrap="square" lIns="0" rIns="0" tIns="0" bIns="0" anchor="t">
            <a:spAutoFit/>
          </a:bodyPr>
          <a:lstStyle/>
          <a:p>
            <a:pPr algn="l">
              <a:lnSpc>
                <a:spcPct val="140000"/>
              </a:lnSpc>
            </a:pPr>
            <a:r>
              <a:rPr sz="1050" b="0" i="0">
                <a:solidFill>
                  <a:srgbClr val="424E60"/>
                </a:solidFill>
                <a:latin typeface="Consolas"/>
              </a:rPr>
              <a:t>pricing (calculateQuote, calculateRefund) · paintVolume (computeLine, recordEstimate, confirm)</a:t>
            </a:r>
          </a:p>
          <a:p>
            <a:pPr algn="l">
              <a:lnSpc>
                <a:spcPct val="140000"/>
              </a:lnSpc>
            </a:pPr>
            <a:r>
              <a:rPr sz="1050" b="0" i="0">
                <a:solidFill>
                  <a:srgbClr val="424E60"/>
                </a:solidFill>
                <a:latin typeface="Consolas"/>
              </a:rPr>
              <a:t>· availability · notifications · contracts · uploads · refunds · audit.</a:t>
            </a:r>
          </a:p>
        </p:txBody>
      </p:sp>
      <p:sp>
        <p:nvSpPr>
          <p:cNvPr id="14" name="Rectangle 13"/>
          <p:cNvSpPr/>
          <p:nvPr/>
        </p:nvSpPr>
        <p:spPr>
          <a:xfrm>
            <a:off x="868680" y="5394960"/>
            <a:ext cx="10424160" cy="12070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559552"/>
            <a:ext cx="10058400" cy="384048"/>
          </a:xfrm>
          <a:prstGeom prst="rect">
            <a:avLst/>
          </a:prstGeom>
          <a:noFill/>
        </p:spPr>
        <p:txBody>
          <a:bodyPr wrap="square" lIns="0" rIns="0" tIns="0" bIns="0" anchor="t">
            <a:spAutoFit/>
          </a:bodyPr>
          <a:lstStyle/>
          <a:p>
            <a:pPr algn="l"/>
            <a:r>
              <a:rPr sz="1500" b="1" i="0">
                <a:solidFill>
                  <a:srgbClr val="FFFFFF"/>
                </a:solidFill>
                <a:latin typeface="Georgia"/>
              </a:rPr>
              <a:t>Data (better-sqlite3)</a:t>
            </a:r>
          </a:p>
        </p:txBody>
      </p:sp>
      <p:sp>
        <p:nvSpPr>
          <p:cNvPr id="16" name="TextBox 15"/>
          <p:cNvSpPr txBox="1"/>
          <p:nvPr/>
        </p:nvSpPr>
        <p:spPr>
          <a:xfrm>
            <a:off x="1097280" y="5989320"/>
            <a:ext cx="10058400" cy="566928"/>
          </a:xfrm>
          <a:prstGeom prst="rect">
            <a:avLst/>
          </a:prstGeom>
          <a:noFill/>
        </p:spPr>
        <p:txBody>
          <a:bodyPr wrap="square" lIns="0" rIns="0" tIns="0" bIns="0" anchor="t">
            <a:spAutoFit/>
          </a:bodyPr>
          <a:lstStyle/>
          <a:p>
            <a:pPr algn="l">
              <a:lnSpc>
                <a:spcPct val="140000"/>
              </a:lnSpc>
            </a:pPr>
            <a:r>
              <a:rPr sz="1050" b="0" i="0">
                <a:solidFill>
                  <a:srgbClr val="FFFFFF"/>
                </a:solidFill>
                <a:latin typeface="Consolas"/>
              </a:rPr>
              <a:t>25 forward-only migrations · users (+sub_role) · painter_profiles · bookings · quotes · contracts</a:t>
            </a:r>
          </a:p>
          <a:p>
            <a:pPr algn="l">
              <a:lnSpc>
                <a:spcPct val="140000"/>
              </a:lnSpc>
            </a:pPr>
            <a:r>
              <a:rPr sz="1050" b="0" i="0">
                <a:solidFill>
                  <a:srgbClr val="FFFFFF"/>
                </a:solidFill>
                <a:latin typeface="Consolas"/>
              </a:rPr>
              <a:t>· paint_products · quote_volume_estimates · payments · audit_log · job_milestones · ...</a:t>
            </a:r>
          </a:p>
        </p:txBody>
      </p:sp>
      <p:sp>
        <p:nvSpPr>
          <p:cNvPr id="17" name="TextBox 16"/>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18" name="TextBox 17"/>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API surface — by area</a:t>
            </a:r>
          </a:p>
        </p:txBody>
      </p:sp>
      <p:sp>
        <p:nvSpPr>
          <p:cNvPr id="5" name="Rectangle 4"/>
          <p:cNvSpPr/>
          <p:nvPr/>
        </p:nvSpPr>
        <p:spPr>
          <a:xfrm>
            <a:off x="609447" y="1371600"/>
            <a:ext cx="5349240" cy="246888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9487" y="1700784"/>
            <a:ext cx="164592" cy="164592"/>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3807" y="1572768"/>
            <a:ext cx="4617720" cy="384048"/>
          </a:xfrm>
          <a:prstGeom prst="rect">
            <a:avLst/>
          </a:prstGeom>
          <a:noFill/>
        </p:spPr>
        <p:txBody>
          <a:bodyPr wrap="square" lIns="0" rIns="0" tIns="0" bIns="0" anchor="t">
            <a:spAutoFit/>
          </a:bodyPr>
          <a:lstStyle/>
          <a:p>
            <a:pPr algn="l"/>
            <a:r>
              <a:rPr sz="1500" b="1" i="0">
                <a:solidFill>
                  <a:srgbClr val="0B1F3A"/>
                </a:solidFill>
                <a:latin typeface="Georgia"/>
              </a:rPr>
              <a:t>Auth</a:t>
            </a:r>
          </a:p>
        </p:txBody>
      </p:sp>
      <p:sp>
        <p:nvSpPr>
          <p:cNvPr id="8" name="TextBox 7"/>
          <p:cNvSpPr txBox="1"/>
          <p:nvPr/>
        </p:nvSpPr>
        <p:spPr>
          <a:xfrm>
            <a:off x="975207" y="2084832"/>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/auth/register</a:t>
            </a:r>
          </a:p>
        </p:txBody>
      </p:sp>
      <p:sp>
        <p:nvSpPr>
          <p:cNvPr id="9" name="TextBox 8"/>
          <p:cNvSpPr txBox="1"/>
          <p:nvPr/>
        </p:nvSpPr>
        <p:spPr>
          <a:xfrm>
            <a:off x="975207" y="2322576"/>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/auth/login</a:t>
            </a:r>
          </a:p>
        </p:txBody>
      </p:sp>
      <p:sp>
        <p:nvSpPr>
          <p:cNvPr id="10" name="TextBox 9"/>
          <p:cNvSpPr txBox="1"/>
          <p:nvPr/>
        </p:nvSpPr>
        <p:spPr>
          <a:xfrm>
            <a:off x="975207" y="2560320"/>
            <a:ext cx="4800600" cy="237744"/>
          </a:xfrm>
          <a:prstGeom prst="rect">
            <a:avLst/>
          </a:prstGeom>
          <a:noFill/>
        </p:spPr>
        <p:txBody>
          <a:bodyPr wrap="square" lIns="0" rIns="0" tIns="0" bIns="0" anchor="t">
            <a:spAutoFit/>
          </a:bodyPr>
          <a:lstStyle/>
          <a:p>
            <a:pPr algn="l"/>
            <a:r>
              <a:rPr sz="1050" b="0" i="0">
                <a:solidFill>
                  <a:srgbClr val="424E60"/>
                </a:solidFill>
                <a:latin typeface="Consolas"/>
              </a:rPr>
              <a:t>GET  /auth/me</a:t>
            </a:r>
          </a:p>
        </p:txBody>
      </p:sp>
      <p:sp>
        <p:nvSpPr>
          <p:cNvPr id="11" name="TextBox 10"/>
          <p:cNvSpPr txBox="1"/>
          <p:nvPr/>
        </p:nvSpPr>
        <p:spPr>
          <a:xfrm>
            <a:off x="975207" y="2798063"/>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/auth/password</a:t>
            </a:r>
          </a:p>
        </p:txBody>
      </p:sp>
      <p:sp>
        <p:nvSpPr>
          <p:cNvPr id="12" name="Rectangle 11"/>
          <p:cNvSpPr/>
          <p:nvPr/>
        </p:nvSpPr>
        <p:spPr>
          <a:xfrm>
            <a:off x="6233007" y="1371600"/>
            <a:ext cx="5349240" cy="246888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53047" y="1700784"/>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27367" y="1572768"/>
            <a:ext cx="4617720" cy="384048"/>
          </a:xfrm>
          <a:prstGeom prst="rect">
            <a:avLst/>
          </a:prstGeom>
          <a:noFill/>
        </p:spPr>
        <p:txBody>
          <a:bodyPr wrap="square" lIns="0" rIns="0" tIns="0" bIns="0" anchor="t">
            <a:spAutoFit/>
          </a:bodyPr>
          <a:lstStyle/>
          <a:p>
            <a:pPr algn="l"/>
            <a:r>
              <a:rPr sz="1500" b="1" i="0">
                <a:solidFill>
                  <a:srgbClr val="0B1F3A"/>
                </a:solidFill>
                <a:latin typeface="Georgia"/>
              </a:rPr>
              <a:t>Quotes &amp; Volume</a:t>
            </a:r>
          </a:p>
        </p:txBody>
      </p:sp>
      <p:sp>
        <p:nvSpPr>
          <p:cNvPr id="15" name="TextBox 14"/>
          <p:cNvSpPr txBox="1"/>
          <p:nvPr/>
        </p:nvSpPr>
        <p:spPr>
          <a:xfrm>
            <a:off x="6598767" y="2084832"/>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/quotes</a:t>
            </a:r>
          </a:p>
        </p:txBody>
      </p:sp>
      <p:sp>
        <p:nvSpPr>
          <p:cNvPr id="16" name="TextBox 15"/>
          <p:cNvSpPr txBox="1"/>
          <p:nvPr/>
        </p:nvSpPr>
        <p:spPr>
          <a:xfrm>
            <a:off x="6598767" y="2322576"/>
            <a:ext cx="4800600" cy="237744"/>
          </a:xfrm>
          <a:prstGeom prst="rect">
            <a:avLst/>
          </a:prstGeom>
          <a:noFill/>
        </p:spPr>
        <p:txBody>
          <a:bodyPr wrap="square" lIns="0" rIns="0" tIns="0" bIns="0" anchor="t">
            <a:spAutoFit/>
          </a:bodyPr>
          <a:lstStyle/>
          <a:p>
            <a:pPr algn="l"/>
            <a:r>
              <a:rPr sz="1050" b="0" i="0">
                <a:solidFill>
                  <a:srgbClr val="424E60"/>
                </a:solidFill>
                <a:latin typeface="Consolas"/>
              </a:rPr>
              <a:t>GET  /quotes (filter by volume_status)</a:t>
            </a:r>
          </a:p>
        </p:txBody>
      </p:sp>
      <p:sp>
        <p:nvSpPr>
          <p:cNvPr id="17" name="TextBox 16"/>
          <p:cNvSpPr txBox="1"/>
          <p:nvPr/>
        </p:nvSpPr>
        <p:spPr>
          <a:xfrm>
            <a:off x="6598767" y="2560320"/>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/quotes/:id/finalize  ← gated</a:t>
            </a:r>
          </a:p>
        </p:txBody>
      </p:sp>
      <p:sp>
        <p:nvSpPr>
          <p:cNvPr id="18" name="TextBox 17"/>
          <p:cNvSpPr txBox="1"/>
          <p:nvPr/>
        </p:nvSpPr>
        <p:spPr>
          <a:xfrm>
            <a:off x="6598767" y="2798063"/>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/paint-volume/quotes/:id/estimates</a:t>
            </a:r>
          </a:p>
        </p:txBody>
      </p:sp>
      <p:sp>
        <p:nvSpPr>
          <p:cNvPr id="19" name="TextBox 18"/>
          <p:cNvSpPr txBox="1"/>
          <p:nvPr/>
        </p:nvSpPr>
        <p:spPr>
          <a:xfrm>
            <a:off x="6598767" y="3035807"/>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/paint-volume/quotes/:id/confirm</a:t>
            </a:r>
          </a:p>
        </p:txBody>
      </p:sp>
      <p:sp>
        <p:nvSpPr>
          <p:cNvPr id="20" name="TextBox 19"/>
          <p:cNvSpPr txBox="1"/>
          <p:nvPr/>
        </p:nvSpPr>
        <p:spPr>
          <a:xfrm>
            <a:off x="6598767" y="3273551"/>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/paint-volume/quotes/:id/reject</a:t>
            </a:r>
          </a:p>
        </p:txBody>
      </p:sp>
      <p:sp>
        <p:nvSpPr>
          <p:cNvPr id="21" name="TextBox 20"/>
          <p:cNvSpPr txBox="1"/>
          <p:nvPr/>
        </p:nvSpPr>
        <p:spPr>
          <a:xfrm>
            <a:off x="6598767" y="3511295"/>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/paint-volume/preview</a:t>
            </a:r>
          </a:p>
        </p:txBody>
      </p:sp>
      <p:sp>
        <p:nvSpPr>
          <p:cNvPr id="22" name="TextBox 21"/>
          <p:cNvSpPr txBox="1"/>
          <p:nvPr/>
        </p:nvSpPr>
        <p:spPr>
          <a:xfrm>
            <a:off x="6598767" y="3749039"/>
            <a:ext cx="4800600" cy="237744"/>
          </a:xfrm>
          <a:prstGeom prst="rect">
            <a:avLst/>
          </a:prstGeom>
          <a:noFill/>
        </p:spPr>
        <p:txBody>
          <a:bodyPr wrap="square" lIns="0" rIns="0" tIns="0" bIns="0" anchor="t">
            <a:spAutoFit/>
          </a:bodyPr>
          <a:lstStyle/>
          <a:p>
            <a:pPr algn="l"/>
            <a:r>
              <a:rPr sz="1050" b="0" i="0">
                <a:solidFill>
                  <a:srgbClr val="424E60"/>
                </a:solidFill>
                <a:latin typeface="Consolas"/>
              </a:rPr>
              <a:t>GET  /paint-volume/products</a:t>
            </a:r>
          </a:p>
        </p:txBody>
      </p:sp>
      <p:sp>
        <p:nvSpPr>
          <p:cNvPr id="23" name="Rectangle 22"/>
          <p:cNvSpPr/>
          <p:nvPr/>
        </p:nvSpPr>
        <p:spPr>
          <a:xfrm>
            <a:off x="609447" y="4069080"/>
            <a:ext cx="5349240" cy="246888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9487" y="4398264"/>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3807" y="4270248"/>
            <a:ext cx="4617720" cy="384048"/>
          </a:xfrm>
          <a:prstGeom prst="rect">
            <a:avLst/>
          </a:prstGeom>
          <a:noFill/>
        </p:spPr>
        <p:txBody>
          <a:bodyPr wrap="square" lIns="0" rIns="0" tIns="0" bIns="0" anchor="t">
            <a:spAutoFit/>
          </a:bodyPr>
          <a:lstStyle/>
          <a:p>
            <a:pPr algn="l"/>
            <a:r>
              <a:rPr sz="1500" b="1" i="0">
                <a:solidFill>
                  <a:srgbClr val="0B1F3A"/>
                </a:solidFill>
                <a:latin typeface="Georgia"/>
              </a:rPr>
              <a:t>Painters &amp; Bookings</a:t>
            </a:r>
          </a:p>
        </p:txBody>
      </p:sp>
      <p:sp>
        <p:nvSpPr>
          <p:cNvPr id="26" name="TextBox 25"/>
          <p:cNvSpPr txBox="1"/>
          <p:nvPr/>
        </p:nvSpPr>
        <p:spPr>
          <a:xfrm>
            <a:off x="975207" y="4782312"/>
            <a:ext cx="4800600" cy="237744"/>
          </a:xfrm>
          <a:prstGeom prst="rect">
            <a:avLst/>
          </a:prstGeom>
          <a:noFill/>
        </p:spPr>
        <p:txBody>
          <a:bodyPr wrap="square" lIns="0" rIns="0" tIns="0" bIns="0" anchor="t">
            <a:spAutoFit/>
          </a:bodyPr>
          <a:lstStyle/>
          <a:p>
            <a:pPr algn="l"/>
            <a:r>
              <a:rPr sz="1050" b="0" i="0">
                <a:solidFill>
                  <a:srgbClr val="424E60"/>
                </a:solidFill>
                <a:latin typeface="Consolas"/>
              </a:rPr>
              <a:t>GET  /painters</a:t>
            </a:r>
          </a:p>
        </p:txBody>
      </p:sp>
      <p:sp>
        <p:nvSpPr>
          <p:cNvPr id="27" name="TextBox 26"/>
          <p:cNvSpPr txBox="1"/>
          <p:nvPr/>
        </p:nvSpPr>
        <p:spPr>
          <a:xfrm>
            <a:off x="975207" y="5020056"/>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/painters/profile</a:t>
            </a:r>
          </a:p>
        </p:txBody>
      </p:sp>
      <p:sp>
        <p:nvSpPr>
          <p:cNvPr id="28" name="TextBox 27"/>
          <p:cNvSpPr txBox="1"/>
          <p:nvPr/>
        </p:nvSpPr>
        <p:spPr>
          <a:xfrm>
            <a:off x="975207" y="5257800"/>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/painters/:id/suspend</a:t>
            </a:r>
          </a:p>
        </p:txBody>
      </p:sp>
      <p:sp>
        <p:nvSpPr>
          <p:cNvPr id="29" name="TextBox 28"/>
          <p:cNvSpPr txBox="1"/>
          <p:nvPr/>
        </p:nvSpPr>
        <p:spPr>
          <a:xfrm>
            <a:off x="975207" y="5495544"/>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/painters/:id/reinstate</a:t>
            </a:r>
          </a:p>
        </p:txBody>
      </p:sp>
      <p:sp>
        <p:nvSpPr>
          <p:cNvPr id="30" name="TextBox 29"/>
          <p:cNvSpPr txBox="1"/>
          <p:nvPr/>
        </p:nvSpPr>
        <p:spPr>
          <a:xfrm>
            <a:off x="975207" y="5733288"/>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/bookings</a:t>
            </a:r>
          </a:p>
        </p:txBody>
      </p:sp>
      <p:sp>
        <p:nvSpPr>
          <p:cNvPr id="31" name="TextBox 30"/>
          <p:cNvSpPr txBox="1"/>
          <p:nvPr/>
        </p:nvSpPr>
        <p:spPr>
          <a:xfrm>
            <a:off x="975207" y="5971031"/>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/bookings/:id/confirm</a:t>
            </a:r>
          </a:p>
        </p:txBody>
      </p:sp>
      <p:sp>
        <p:nvSpPr>
          <p:cNvPr id="32" name="TextBox 31"/>
          <p:cNvSpPr txBox="1"/>
          <p:nvPr/>
        </p:nvSpPr>
        <p:spPr>
          <a:xfrm>
            <a:off x="975207" y="6208775"/>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/bookings/:id/complete</a:t>
            </a:r>
          </a:p>
        </p:txBody>
      </p:sp>
      <p:sp>
        <p:nvSpPr>
          <p:cNvPr id="33" name="Rectangle 32"/>
          <p:cNvSpPr/>
          <p:nvPr/>
        </p:nvSpPr>
        <p:spPr>
          <a:xfrm>
            <a:off x="6233007" y="4069080"/>
            <a:ext cx="5349240" cy="2468880"/>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553047" y="4398264"/>
            <a:ext cx="164592" cy="164592"/>
          </a:xfrm>
          <a:prstGeom prst="ellipse">
            <a:avLst/>
          </a:prstGeom>
          <a:solidFill>
            <a:srgbClr val="C05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7367" y="4270248"/>
            <a:ext cx="4617720" cy="384048"/>
          </a:xfrm>
          <a:prstGeom prst="rect">
            <a:avLst/>
          </a:prstGeom>
          <a:noFill/>
        </p:spPr>
        <p:txBody>
          <a:bodyPr wrap="square" lIns="0" rIns="0" tIns="0" bIns="0" anchor="t">
            <a:spAutoFit/>
          </a:bodyPr>
          <a:lstStyle/>
          <a:p>
            <a:pPr algn="l"/>
            <a:r>
              <a:rPr sz="1500" b="1" i="0">
                <a:solidFill>
                  <a:srgbClr val="0B1F3A"/>
                </a:solidFill>
                <a:latin typeface="Georgia"/>
              </a:rPr>
              <a:t>Catalog &amp; Admin</a:t>
            </a:r>
          </a:p>
        </p:txBody>
      </p:sp>
      <p:sp>
        <p:nvSpPr>
          <p:cNvPr id="36" name="TextBox 35"/>
          <p:cNvSpPr txBox="1"/>
          <p:nvPr/>
        </p:nvSpPr>
        <p:spPr>
          <a:xfrm>
            <a:off x="6598767" y="4782312"/>
            <a:ext cx="4800600" cy="237744"/>
          </a:xfrm>
          <a:prstGeom prst="rect">
            <a:avLst/>
          </a:prstGeom>
          <a:noFill/>
        </p:spPr>
        <p:txBody>
          <a:bodyPr wrap="square" lIns="0" rIns="0" tIns="0" bIns="0" anchor="t">
            <a:spAutoFit/>
          </a:bodyPr>
          <a:lstStyle/>
          <a:p>
            <a:pPr algn="l"/>
            <a:r>
              <a:rPr sz="1050" b="0" i="0">
                <a:solidFill>
                  <a:srgbClr val="424E60"/>
                </a:solidFill>
                <a:latin typeface="Consolas"/>
              </a:rPr>
              <a:t>GET  /paint-products</a:t>
            </a:r>
          </a:p>
        </p:txBody>
      </p:sp>
      <p:sp>
        <p:nvSpPr>
          <p:cNvPr id="37" name="TextBox 36"/>
          <p:cNvSpPr txBox="1"/>
          <p:nvPr/>
        </p:nvSpPr>
        <p:spPr>
          <a:xfrm>
            <a:off x="6598767" y="5020056"/>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/paint-products      (inventory_manager)</a:t>
            </a:r>
          </a:p>
        </p:txBody>
      </p:sp>
      <p:sp>
        <p:nvSpPr>
          <p:cNvPr id="38" name="TextBox 37"/>
          <p:cNvSpPr txBox="1"/>
          <p:nvPr/>
        </p:nvSpPr>
        <p:spPr>
          <a:xfrm>
            <a:off x="6598767" y="5257800"/>
            <a:ext cx="4800600" cy="237744"/>
          </a:xfrm>
          <a:prstGeom prst="rect">
            <a:avLst/>
          </a:prstGeom>
          <a:noFill/>
        </p:spPr>
        <p:txBody>
          <a:bodyPr wrap="square" lIns="0" rIns="0" tIns="0" bIns="0" anchor="t">
            <a:spAutoFit/>
          </a:bodyPr>
          <a:lstStyle/>
          <a:p>
            <a:pPr algn="l"/>
            <a:r>
              <a:rPr sz="1050" b="0" i="0">
                <a:solidFill>
                  <a:srgbClr val="424E60"/>
                </a:solidFill>
                <a:latin typeface="Consolas"/>
              </a:rPr>
              <a:t>PUT  /paint-products/:id  (inventory_manager)</a:t>
            </a:r>
          </a:p>
        </p:txBody>
      </p:sp>
      <p:sp>
        <p:nvSpPr>
          <p:cNvPr id="39" name="TextBox 38"/>
          <p:cNvSpPr txBox="1"/>
          <p:nvPr/>
        </p:nvSpPr>
        <p:spPr>
          <a:xfrm>
            <a:off x="6598767" y="5495544"/>
            <a:ext cx="4800600" cy="237744"/>
          </a:xfrm>
          <a:prstGeom prst="rect">
            <a:avLst/>
          </a:prstGeom>
          <a:noFill/>
        </p:spPr>
        <p:txBody>
          <a:bodyPr wrap="square" lIns="0" rIns="0" tIns="0" bIns="0" anchor="t">
            <a:spAutoFit/>
          </a:bodyPr>
          <a:lstStyle/>
          <a:p>
            <a:pPr algn="l"/>
            <a:r>
              <a:rPr sz="1050" b="0" i="0">
                <a:solidFill>
                  <a:srgbClr val="424E60"/>
                </a:solidFill>
                <a:latin typeface="Consolas"/>
              </a:rPr>
              <a:t>DEL  /paint-products/:id  (inventory_manager)</a:t>
            </a:r>
          </a:p>
        </p:txBody>
      </p:sp>
      <p:sp>
        <p:nvSpPr>
          <p:cNvPr id="40" name="TextBox 39"/>
          <p:cNvSpPr txBox="1"/>
          <p:nvPr/>
        </p:nvSpPr>
        <p:spPr>
          <a:xfrm>
            <a:off x="6598767" y="5733288"/>
            <a:ext cx="4800600" cy="237744"/>
          </a:xfrm>
          <a:prstGeom prst="rect">
            <a:avLst/>
          </a:prstGeom>
          <a:noFill/>
        </p:spPr>
        <p:txBody>
          <a:bodyPr wrap="square" lIns="0" rIns="0" tIns="0" bIns="0" anchor="t">
            <a:spAutoFit/>
          </a:bodyPr>
          <a:lstStyle/>
          <a:p>
            <a:pPr algn="l"/>
            <a:r>
              <a:rPr sz="1050" b="0" i="0">
                <a:solidFill>
                  <a:srgbClr val="424E60"/>
                </a:solidFill>
                <a:latin typeface="Consolas"/>
              </a:rPr>
              <a:t>GET  /admin/users</a:t>
            </a:r>
          </a:p>
        </p:txBody>
      </p:sp>
      <p:sp>
        <p:nvSpPr>
          <p:cNvPr id="41" name="TextBox 40"/>
          <p:cNvSpPr txBox="1"/>
          <p:nvPr/>
        </p:nvSpPr>
        <p:spPr>
          <a:xfrm>
            <a:off x="6598767" y="5971031"/>
            <a:ext cx="4800600" cy="237744"/>
          </a:xfrm>
          <a:prstGeom prst="rect">
            <a:avLst/>
          </a:prstGeom>
          <a:noFill/>
        </p:spPr>
        <p:txBody>
          <a:bodyPr wrap="square" lIns="0" rIns="0" tIns="0" bIns="0" anchor="t">
            <a:spAutoFit/>
          </a:bodyPr>
          <a:lstStyle/>
          <a:p>
            <a:pPr algn="l"/>
            <a:r>
              <a:rPr sz="1050" b="0" i="0">
                <a:solidFill>
                  <a:srgbClr val="424E60"/>
                </a:solidFill>
                <a:latin typeface="Consolas"/>
              </a:rPr>
              <a:t>POST /admin/users/:id/reset-password</a:t>
            </a:r>
          </a:p>
        </p:txBody>
      </p:sp>
      <p:sp>
        <p:nvSpPr>
          <p:cNvPr id="42" name="TextBox 41"/>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43" name="TextBox 42"/>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What shipped this iteration</a:t>
            </a:r>
          </a:p>
        </p:txBody>
      </p:sp>
      <p:sp>
        <p:nvSpPr>
          <p:cNvPr id="5" name="Rectangle 4"/>
          <p:cNvSpPr/>
          <p:nvPr/>
        </p:nvSpPr>
        <p:spPr>
          <a:xfrm>
            <a:off x="868680" y="1234440"/>
            <a:ext cx="10424160" cy="1627632"/>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1508760"/>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1371600"/>
            <a:ext cx="10058400" cy="320040"/>
          </a:xfrm>
          <a:prstGeom prst="rect">
            <a:avLst/>
          </a:prstGeom>
          <a:noFill/>
        </p:spPr>
        <p:txBody>
          <a:bodyPr wrap="square" lIns="0" rIns="0" tIns="0" bIns="0" anchor="t">
            <a:spAutoFit/>
          </a:bodyPr>
          <a:lstStyle/>
          <a:p>
            <a:pPr algn="l"/>
            <a:r>
              <a:rPr sz="1400" b="1" i="0">
                <a:solidFill>
                  <a:srgbClr val="0B1F3A"/>
                </a:solidFill>
                <a:latin typeface="Georgia"/>
              </a:rPr>
              <a:t>Volume gate (the headline)</a:t>
            </a:r>
          </a:p>
        </p:txBody>
      </p:sp>
      <p:sp>
        <p:nvSpPr>
          <p:cNvPr id="8" name="Oval 7"/>
          <p:cNvSpPr/>
          <p:nvPr/>
        </p:nvSpPr>
        <p:spPr>
          <a:xfrm>
            <a:off x="1143000" y="1856232"/>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7592" y="1801368"/>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paint_products catalog table + 9-product seed.</a:t>
            </a:r>
          </a:p>
        </p:txBody>
      </p:sp>
      <p:sp>
        <p:nvSpPr>
          <p:cNvPr id="10" name="Oval 9"/>
          <p:cNvSpPr/>
          <p:nvPr/>
        </p:nvSpPr>
        <p:spPr>
          <a:xfrm>
            <a:off x="6217920" y="1856232"/>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801368"/>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Sub-role column on users (super_admin / dispatcher / qa / finance / inventory_manager).</a:t>
            </a:r>
          </a:p>
        </p:txBody>
      </p:sp>
      <p:sp>
        <p:nvSpPr>
          <p:cNvPr id="12" name="Oval 11"/>
          <p:cNvSpPr/>
          <p:nvPr/>
        </p:nvSpPr>
        <p:spPr>
          <a:xfrm>
            <a:off x="1143000" y="2185416"/>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07592" y="2130552"/>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quote_volume_estimates table + atomic POST /quotes with paintLines.</a:t>
            </a:r>
          </a:p>
        </p:txBody>
      </p:sp>
      <p:sp>
        <p:nvSpPr>
          <p:cNvPr id="14" name="Oval 13"/>
          <p:cNvSpPr/>
          <p:nvPr/>
        </p:nvSpPr>
        <p:spPr>
          <a:xfrm>
            <a:off x="6217920" y="2185416"/>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30552"/>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Dispatcher review screen at admin/volume-reviews.html.</a:t>
            </a:r>
          </a:p>
        </p:txBody>
      </p:sp>
      <p:sp>
        <p:nvSpPr>
          <p:cNvPr id="16" name="Oval 15"/>
          <p:cNvSpPr/>
          <p:nvPr/>
        </p:nvSpPr>
        <p:spPr>
          <a:xfrm>
            <a:off x="1143000" y="2514600"/>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07592" y="2459736"/>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PUT /quotes/:id/finalize gated on volume_status='confirmed'.</a:t>
            </a:r>
          </a:p>
        </p:txBody>
      </p:sp>
      <p:sp>
        <p:nvSpPr>
          <p:cNvPr id="18" name="Rectangle 17"/>
          <p:cNvSpPr/>
          <p:nvPr/>
        </p:nvSpPr>
        <p:spPr>
          <a:xfrm>
            <a:off x="868680" y="2935224"/>
            <a:ext cx="10424160" cy="1627632"/>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43000" y="3209544"/>
            <a:ext cx="164592" cy="164592"/>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072384"/>
            <a:ext cx="10058400" cy="320040"/>
          </a:xfrm>
          <a:prstGeom prst="rect">
            <a:avLst/>
          </a:prstGeom>
          <a:noFill/>
        </p:spPr>
        <p:txBody>
          <a:bodyPr wrap="square" lIns="0" rIns="0" tIns="0" bIns="0" anchor="t">
            <a:spAutoFit/>
          </a:bodyPr>
          <a:lstStyle/>
          <a:p>
            <a:pPr algn="l"/>
            <a:r>
              <a:rPr sz="1400" b="1" i="0">
                <a:solidFill>
                  <a:srgbClr val="0B1F3A"/>
                </a:solidFill>
                <a:latin typeface="Georgia"/>
              </a:rPr>
              <a:t>Customer-facing surface</a:t>
            </a:r>
          </a:p>
        </p:txBody>
      </p:sp>
      <p:sp>
        <p:nvSpPr>
          <p:cNvPr id="21" name="Oval 20"/>
          <p:cNvSpPr/>
          <p:nvPr/>
        </p:nvSpPr>
        <p:spPr>
          <a:xfrm>
            <a:off x="1143000" y="3557016"/>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3502152"/>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Step 4 'Paint' added to quote.html — multi-product picker with live preview.</a:t>
            </a:r>
          </a:p>
        </p:txBody>
      </p:sp>
      <p:sp>
        <p:nvSpPr>
          <p:cNvPr id="23" name="Oval 22"/>
          <p:cNvSpPr/>
          <p:nvPr/>
        </p:nvSpPr>
        <p:spPr>
          <a:xfrm>
            <a:off x="6217920" y="3557016"/>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3502152"/>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Stateless calculator on paints.html — pick product + area → litres / buckets / cost.</a:t>
            </a:r>
          </a:p>
        </p:txBody>
      </p:sp>
      <p:sp>
        <p:nvSpPr>
          <p:cNvPr id="25" name="Oval 24"/>
          <p:cNvSpPr/>
          <p:nvPr/>
        </p:nvSpPr>
        <p:spPr>
          <a:xfrm>
            <a:off x="1143000" y="3886200"/>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07592" y="3831336"/>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booking.html now POSTs to /api/quotes and shows pending-review confirmation.</a:t>
            </a:r>
          </a:p>
        </p:txBody>
      </p:sp>
      <p:sp>
        <p:nvSpPr>
          <p:cNvPr id="27" name="Oval 26"/>
          <p:cNvSpPr/>
          <p:nvPr/>
        </p:nvSpPr>
        <p:spPr>
          <a:xfrm>
            <a:off x="6217920" y="3886200"/>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3831336"/>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Caparol storefront — anchor-partner hero on index.html, 22-product gallery on brand.html.</a:t>
            </a:r>
          </a:p>
        </p:txBody>
      </p:sp>
      <p:sp>
        <p:nvSpPr>
          <p:cNvPr id="29" name="Rectangle 28"/>
          <p:cNvSpPr/>
          <p:nvPr/>
        </p:nvSpPr>
        <p:spPr>
          <a:xfrm>
            <a:off x="868680" y="4636008"/>
            <a:ext cx="10424160" cy="1627632"/>
          </a:xfrm>
          <a:prstGeom prst="rect">
            <a:avLst/>
          </a:prstGeom>
          <a:solidFill>
            <a:srgbClr val="F7FAFD"/>
          </a:solidFill>
          <a:ln w="6350">
            <a:solidFill>
              <a:srgbClr val="E9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43000" y="4910328"/>
            <a:ext cx="164592" cy="164592"/>
          </a:xfrm>
          <a:prstGeom prst="ellipse">
            <a:avLst/>
          </a:prstGeom>
          <a:solidFill>
            <a:srgbClr val="C05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773168"/>
            <a:ext cx="10058400" cy="320040"/>
          </a:xfrm>
          <a:prstGeom prst="rect">
            <a:avLst/>
          </a:prstGeom>
          <a:noFill/>
        </p:spPr>
        <p:txBody>
          <a:bodyPr wrap="square" lIns="0" rIns="0" tIns="0" bIns="0" anchor="t">
            <a:spAutoFit/>
          </a:bodyPr>
          <a:lstStyle/>
          <a:p>
            <a:pPr algn="l"/>
            <a:r>
              <a:rPr sz="1400" b="1" i="0">
                <a:solidFill>
                  <a:srgbClr val="0B1F3A"/>
                </a:solidFill>
                <a:latin typeface="Georgia"/>
              </a:rPr>
              <a:t>Admin tools &amp; fixes</a:t>
            </a:r>
          </a:p>
        </p:txBody>
      </p:sp>
      <p:sp>
        <p:nvSpPr>
          <p:cNvPr id="32" name="Oval 31"/>
          <p:cNvSpPr/>
          <p:nvPr/>
        </p:nvSpPr>
        <p:spPr>
          <a:xfrm>
            <a:off x="1143000" y="5257800"/>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07592" y="5202936"/>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admin/paint-products.html — full CRUD for the catalog.</a:t>
            </a:r>
          </a:p>
        </p:txBody>
      </p:sp>
      <p:sp>
        <p:nvSpPr>
          <p:cNvPr id="34" name="Oval 33"/>
          <p:cNvSpPr/>
          <p:nvPr/>
        </p:nvSpPr>
        <p:spPr>
          <a:xfrm>
            <a:off x="6217920" y="5257800"/>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82512" y="5202936"/>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admin/brand-partners.html — drag-and-drop editor for the Trusted Partners grid.</a:t>
            </a:r>
          </a:p>
        </p:txBody>
      </p:sp>
      <p:sp>
        <p:nvSpPr>
          <p:cNvPr id="36" name="Oval 35"/>
          <p:cNvSpPr/>
          <p:nvPr/>
        </p:nvSpPr>
        <p:spPr>
          <a:xfrm>
            <a:off x="1143000" y="5586984"/>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07592" y="5532120"/>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Remove-from-roster on admin/artisans.html (soft-delete via suspended_at).</a:t>
            </a:r>
          </a:p>
        </p:txBody>
      </p:sp>
      <p:sp>
        <p:nvSpPr>
          <p:cNvPr id="38" name="Oval 37"/>
          <p:cNvSpPr/>
          <p:nvPr/>
        </p:nvSpPr>
        <p:spPr>
          <a:xfrm>
            <a:off x="6217920" y="5586984"/>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5532120"/>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Fixed: server.js now mounts /api/quotes, /api/paint-volume, /api/paint-products.</a:t>
            </a:r>
          </a:p>
        </p:txBody>
      </p:sp>
      <p:sp>
        <p:nvSpPr>
          <p:cNvPr id="40" name="Oval 39"/>
          <p:cNvSpPr/>
          <p:nvPr/>
        </p:nvSpPr>
        <p:spPr>
          <a:xfrm>
            <a:off x="1143000" y="5916168"/>
            <a:ext cx="91440" cy="914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07592" y="5861304"/>
            <a:ext cx="4937760" cy="329184"/>
          </a:xfrm>
          <a:prstGeom prst="rect">
            <a:avLst/>
          </a:prstGeom>
          <a:noFill/>
        </p:spPr>
        <p:txBody>
          <a:bodyPr wrap="square" lIns="0" rIns="0" tIns="0" bIns="0" anchor="t">
            <a:spAutoFit/>
          </a:bodyPr>
          <a:lstStyle/>
          <a:p>
            <a:pPr algn="l">
              <a:lnSpc>
                <a:spcPct val="130000"/>
              </a:lnSpc>
            </a:pPr>
            <a:r>
              <a:rPr sz="1000" b="0" i="0">
                <a:solidFill>
                  <a:srgbClr val="424E60"/>
                </a:solidFill>
                <a:latin typeface="Calibri"/>
              </a:rPr>
              <a:t>Fixed: new customers without bookings no longer see a fake ₵4,200 demo project.</a:t>
            </a:r>
          </a:p>
        </p:txBody>
      </p:sp>
      <p:sp>
        <p:nvSpPr>
          <p:cNvPr id="42" name="TextBox 41"/>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43" name="TextBox 42"/>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704088"/>
            <a:ext cx="164592" cy="164592"/>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11480"/>
            <a:ext cx="11137392" cy="640080"/>
          </a:xfrm>
          <a:prstGeom prst="rect">
            <a:avLst/>
          </a:prstGeom>
          <a:noFill/>
        </p:spPr>
        <p:txBody>
          <a:bodyPr wrap="square" lIns="0" rIns="0" tIns="0" bIns="0" anchor="t">
            <a:spAutoFit/>
          </a:bodyPr>
          <a:lstStyle/>
          <a:p>
            <a:pPr algn="l"/>
            <a:r>
              <a:rPr sz="3000" b="1" i="0">
                <a:solidFill>
                  <a:srgbClr val="0B1F3A"/>
                </a:solidFill>
                <a:latin typeface="Georgia"/>
              </a:rPr>
              <a:t>Roadmap — what's next, in priority order</a:t>
            </a:r>
          </a:p>
        </p:txBody>
      </p:sp>
      <p:sp>
        <p:nvSpPr>
          <p:cNvPr id="5" name="Oval 4"/>
          <p:cNvSpPr/>
          <p:nvPr/>
        </p:nvSpPr>
        <p:spPr>
          <a:xfrm>
            <a:off x="868680" y="1371600"/>
            <a:ext cx="548640" cy="5486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71600"/>
            <a:ext cx="548640" cy="548640"/>
          </a:xfrm>
          <a:prstGeom prst="rect">
            <a:avLst/>
          </a:prstGeom>
          <a:noFill/>
        </p:spPr>
        <p:txBody>
          <a:bodyPr wrap="square" lIns="0" rIns="0" tIns="0" bIns="0" anchor="ctr">
            <a:spAutoFit/>
          </a:bodyPr>
          <a:lstStyle/>
          <a:p>
            <a:pPr algn="ctr"/>
            <a:r>
              <a:rPr sz="1400" b="1" i="0">
                <a:solidFill>
                  <a:srgbClr val="0B1F3A"/>
                </a:solidFill>
                <a:latin typeface="Calibri"/>
              </a:rPr>
              <a:t>01</a:t>
            </a:r>
          </a:p>
        </p:txBody>
      </p:sp>
      <p:sp>
        <p:nvSpPr>
          <p:cNvPr id="7" name="TextBox 6"/>
          <p:cNvSpPr txBox="1"/>
          <p:nvPr/>
        </p:nvSpPr>
        <p:spPr>
          <a:xfrm>
            <a:off x="1600200" y="1335024"/>
            <a:ext cx="9692640" cy="310896"/>
          </a:xfrm>
          <a:prstGeom prst="rect">
            <a:avLst/>
          </a:prstGeom>
          <a:noFill/>
        </p:spPr>
        <p:txBody>
          <a:bodyPr wrap="square" lIns="0" rIns="0" tIns="0" bIns="0" anchor="t">
            <a:spAutoFit/>
          </a:bodyPr>
          <a:lstStyle/>
          <a:p>
            <a:pPr algn="l"/>
            <a:r>
              <a:rPr sz="1400" b="1" i="0">
                <a:solidFill>
                  <a:srgbClr val="0B1F3A"/>
                </a:solidFill>
                <a:latin typeface="Georgia"/>
              </a:rPr>
              <a:t>Booking → /api/bookings</a:t>
            </a:r>
          </a:p>
        </p:txBody>
      </p:sp>
      <p:sp>
        <p:nvSpPr>
          <p:cNvPr id="8" name="TextBox 7"/>
          <p:cNvSpPr txBox="1"/>
          <p:nvPr/>
        </p:nvSpPr>
        <p:spPr>
          <a:xfrm>
            <a:off x="1600200" y="1645919"/>
            <a:ext cx="9692640" cy="41148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Replace the demo localStorage bridge with a real POST so the Job Board fills from production data, not seeds.</a:t>
            </a:r>
          </a:p>
        </p:txBody>
      </p:sp>
      <p:sp>
        <p:nvSpPr>
          <p:cNvPr id="9" name="Oval 8"/>
          <p:cNvSpPr/>
          <p:nvPr/>
        </p:nvSpPr>
        <p:spPr>
          <a:xfrm>
            <a:off x="868680" y="2148840"/>
            <a:ext cx="548640" cy="5486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548640" cy="548640"/>
          </a:xfrm>
          <a:prstGeom prst="rect">
            <a:avLst/>
          </a:prstGeom>
          <a:noFill/>
        </p:spPr>
        <p:txBody>
          <a:bodyPr wrap="square" lIns="0" rIns="0" tIns="0" bIns="0" anchor="ctr">
            <a:spAutoFit/>
          </a:bodyPr>
          <a:lstStyle/>
          <a:p>
            <a:pPr algn="ctr"/>
            <a:r>
              <a:rPr sz="1400" b="1" i="0">
                <a:solidFill>
                  <a:srgbClr val="0B1F3A"/>
                </a:solidFill>
                <a:latin typeface="Calibri"/>
              </a:rPr>
              <a:t>02</a:t>
            </a:r>
          </a:p>
        </p:txBody>
      </p:sp>
      <p:sp>
        <p:nvSpPr>
          <p:cNvPr id="11" name="TextBox 10"/>
          <p:cNvSpPr txBox="1"/>
          <p:nvPr/>
        </p:nvSpPr>
        <p:spPr>
          <a:xfrm>
            <a:off x="1600200" y="2112264"/>
            <a:ext cx="9692640" cy="310896"/>
          </a:xfrm>
          <a:prstGeom prst="rect">
            <a:avLst/>
          </a:prstGeom>
          <a:noFill/>
        </p:spPr>
        <p:txBody>
          <a:bodyPr wrap="square" lIns="0" rIns="0" tIns="0" bIns="0" anchor="t">
            <a:spAutoFit/>
          </a:bodyPr>
          <a:lstStyle/>
          <a:p>
            <a:pPr algn="l"/>
            <a:r>
              <a:rPr sz="1400" b="1" i="0">
                <a:solidFill>
                  <a:srgbClr val="0B1F3A"/>
                </a:solidFill>
                <a:latin typeface="Georgia"/>
              </a:rPr>
              <a:t>Super-admin sub-role assignment UI</a:t>
            </a:r>
          </a:p>
        </p:txBody>
      </p:sp>
      <p:sp>
        <p:nvSpPr>
          <p:cNvPr id="12" name="TextBox 11"/>
          <p:cNvSpPr txBox="1"/>
          <p:nvPr/>
        </p:nvSpPr>
        <p:spPr>
          <a:xfrm>
            <a:off x="1600200" y="2423160"/>
            <a:ext cx="9692640" cy="41148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PUT /admin/users/:id/sub-role + a small editor under Settings → Team. Removes the SQL-poking step when onboarding new staff.</a:t>
            </a:r>
          </a:p>
        </p:txBody>
      </p:sp>
      <p:sp>
        <p:nvSpPr>
          <p:cNvPr id="13" name="Oval 12"/>
          <p:cNvSpPr/>
          <p:nvPr/>
        </p:nvSpPr>
        <p:spPr>
          <a:xfrm>
            <a:off x="868680" y="2926079"/>
            <a:ext cx="548640" cy="5486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926079"/>
            <a:ext cx="548640" cy="548640"/>
          </a:xfrm>
          <a:prstGeom prst="rect">
            <a:avLst/>
          </a:prstGeom>
          <a:noFill/>
        </p:spPr>
        <p:txBody>
          <a:bodyPr wrap="square" lIns="0" rIns="0" tIns="0" bIns="0" anchor="ctr">
            <a:spAutoFit/>
          </a:bodyPr>
          <a:lstStyle/>
          <a:p>
            <a:pPr algn="ctr"/>
            <a:r>
              <a:rPr sz="1400" b="1" i="0">
                <a:solidFill>
                  <a:srgbClr val="0B1F3A"/>
                </a:solidFill>
                <a:latin typeface="Calibri"/>
              </a:rPr>
              <a:t>03</a:t>
            </a:r>
          </a:p>
        </p:txBody>
      </p:sp>
      <p:sp>
        <p:nvSpPr>
          <p:cNvPr id="15" name="TextBox 14"/>
          <p:cNvSpPr txBox="1"/>
          <p:nvPr/>
        </p:nvSpPr>
        <p:spPr>
          <a:xfrm>
            <a:off x="1600200" y="2889503"/>
            <a:ext cx="9692640" cy="310896"/>
          </a:xfrm>
          <a:prstGeom prst="rect">
            <a:avLst/>
          </a:prstGeom>
          <a:noFill/>
        </p:spPr>
        <p:txBody>
          <a:bodyPr wrap="square" lIns="0" rIns="0" tIns="0" bIns="0" anchor="t">
            <a:spAutoFit/>
          </a:bodyPr>
          <a:lstStyle/>
          <a:p>
            <a:pPr algn="l"/>
            <a:r>
              <a:rPr sz="1400" b="1" i="0">
                <a:solidFill>
                  <a:srgbClr val="0B1F3A"/>
                </a:solidFill>
                <a:latin typeface="Georgia"/>
              </a:rPr>
              <a:t>Track page volume polling</a:t>
            </a:r>
          </a:p>
        </p:txBody>
      </p:sp>
      <p:sp>
        <p:nvSpPr>
          <p:cNvPr id="16" name="TextBox 15"/>
          <p:cNvSpPr txBox="1"/>
          <p:nvPr/>
        </p:nvSpPr>
        <p:spPr>
          <a:xfrm>
            <a:off x="1600200" y="3200399"/>
            <a:ext cx="9692640" cy="41148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track.html polls GET /quotes/:id so the customer sees the moment the dispatcher confirms or rejects the volume.</a:t>
            </a:r>
          </a:p>
        </p:txBody>
      </p:sp>
      <p:sp>
        <p:nvSpPr>
          <p:cNvPr id="17" name="Oval 16"/>
          <p:cNvSpPr/>
          <p:nvPr/>
        </p:nvSpPr>
        <p:spPr>
          <a:xfrm>
            <a:off x="868680" y="3703320"/>
            <a:ext cx="548640" cy="548640"/>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03320"/>
            <a:ext cx="548640" cy="548640"/>
          </a:xfrm>
          <a:prstGeom prst="rect">
            <a:avLst/>
          </a:prstGeom>
          <a:noFill/>
        </p:spPr>
        <p:txBody>
          <a:bodyPr wrap="square" lIns="0" rIns="0" tIns="0" bIns="0" anchor="ctr">
            <a:spAutoFit/>
          </a:bodyPr>
          <a:lstStyle/>
          <a:p>
            <a:pPr algn="ctr"/>
            <a:r>
              <a:rPr sz="1400" b="1" i="0">
                <a:solidFill>
                  <a:srgbClr val="0B1F3A"/>
                </a:solidFill>
                <a:latin typeface="Calibri"/>
              </a:rPr>
              <a:t>04</a:t>
            </a:r>
          </a:p>
        </p:txBody>
      </p:sp>
      <p:sp>
        <p:nvSpPr>
          <p:cNvPr id="19" name="TextBox 18"/>
          <p:cNvSpPr txBox="1"/>
          <p:nvPr/>
        </p:nvSpPr>
        <p:spPr>
          <a:xfrm>
            <a:off x="1600200" y="3666744"/>
            <a:ext cx="9692640" cy="310896"/>
          </a:xfrm>
          <a:prstGeom prst="rect">
            <a:avLst/>
          </a:prstGeom>
          <a:noFill/>
        </p:spPr>
        <p:txBody>
          <a:bodyPr wrap="square" lIns="0" rIns="0" tIns="0" bIns="0" anchor="t">
            <a:spAutoFit/>
          </a:bodyPr>
          <a:lstStyle/>
          <a:p>
            <a:pPr algn="l"/>
            <a:r>
              <a:rPr sz="1400" b="1" i="0">
                <a:solidFill>
                  <a:srgbClr val="0B1F3A"/>
                </a:solidFill>
                <a:latin typeface="Georgia"/>
              </a:rPr>
              <a:t>Material reservation on confirm</a:t>
            </a:r>
          </a:p>
        </p:txBody>
      </p:sp>
      <p:sp>
        <p:nvSpPr>
          <p:cNvPr id="20" name="TextBox 19"/>
          <p:cNvSpPr txBox="1"/>
          <p:nvPr/>
        </p:nvSpPr>
        <p:spPr>
          <a:xfrm>
            <a:off x="1600200" y="3977639"/>
            <a:ext cx="9692640" cy="41148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On volume-confirm, write rows into material_usage so the Inventory Manager sees committed paint. Auto-draft purchase orders below reorder level.</a:t>
            </a:r>
          </a:p>
        </p:txBody>
      </p:sp>
      <p:sp>
        <p:nvSpPr>
          <p:cNvPr id="21" name="Oval 20"/>
          <p:cNvSpPr/>
          <p:nvPr/>
        </p:nvSpPr>
        <p:spPr>
          <a:xfrm>
            <a:off x="868680" y="4480559"/>
            <a:ext cx="548640" cy="548640"/>
          </a:xfrm>
          <a:prstGeom prst="ellipse">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480559"/>
            <a:ext cx="548640" cy="548640"/>
          </a:xfrm>
          <a:prstGeom prst="rect">
            <a:avLst/>
          </a:prstGeom>
          <a:noFill/>
        </p:spPr>
        <p:txBody>
          <a:bodyPr wrap="square" lIns="0" rIns="0" tIns="0" bIns="0" anchor="ctr">
            <a:spAutoFit/>
          </a:bodyPr>
          <a:lstStyle/>
          <a:p>
            <a:pPr algn="ctr"/>
            <a:r>
              <a:rPr sz="1400" b="1" i="0">
                <a:solidFill>
                  <a:srgbClr val="0B1F3A"/>
                </a:solidFill>
                <a:latin typeface="Calibri"/>
              </a:rPr>
              <a:t>05</a:t>
            </a:r>
          </a:p>
        </p:txBody>
      </p:sp>
      <p:sp>
        <p:nvSpPr>
          <p:cNvPr id="23" name="TextBox 22"/>
          <p:cNvSpPr txBox="1"/>
          <p:nvPr/>
        </p:nvSpPr>
        <p:spPr>
          <a:xfrm>
            <a:off x="1600200" y="4443983"/>
            <a:ext cx="9692640" cy="310896"/>
          </a:xfrm>
          <a:prstGeom prst="rect">
            <a:avLst/>
          </a:prstGeom>
          <a:noFill/>
        </p:spPr>
        <p:txBody>
          <a:bodyPr wrap="square" lIns="0" rIns="0" tIns="0" bIns="0" anchor="t">
            <a:spAutoFit/>
          </a:bodyPr>
          <a:lstStyle/>
          <a:p>
            <a:pPr algn="l"/>
            <a:r>
              <a:rPr sz="1400" b="1" i="0">
                <a:solidFill>
                  <a:srgbClr val="0B1F3A"/>
                </a:solidFill>
                <a:latin typeface="Georgia"/>
              </a:rPr>
              <a:t>Reconcile client and backend pricing</a:t>
            </a:r>
          </a:p>
        </p:txBody>
      </p:sp>
      <p:sp>
        <p:nvSpPr>
          <p:cNvPr id="24" name="TextBox 23"/>
          <p:cNvSpPr txBox="1"/>
          <p:nvPr/>
        </p:nvSpPr>
        <p:spPr>
          <a:xfrm>
            <a:off x="1600200" y="4754880"/>
            <a:ext cx="9692640" cy="41148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calculateQuote() uses a simpler model than the client. Either align the backend to the client's multipliers or pass the client total directly.</a:t>
            </a:r>
          </a:p>
        </p:txBody>
      </p:sp>
      <p:sp>
        <p:nvSpPr>
          <p:cNvPr id="25" name="Oval 24"/>
          <p:cNvSpPr/>
          <p:nvPr/>
        </p:nvSpPr>
        <p:spPr>
          <a:xfrm>
            <a:off x="868680" y="5257800"/>
            <a:ext cx="548640" cy="548640"/>
          </a:xfrm>
          <a:prstGeom prst="ellipse">
            <a:avLst/>
          </a:prstGeom>
          <a:solidFill>
            <a:srgbClr val="C05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257800"/>
            <a:ext cx="548640" cy="548640"/>
          </a:xfrm>
          <a:prstGeom prst="rect">
            <a:avLst/>
          </a:prstGeom>
          <a:noFill/>
        </p:spPr>
        <p:txBody>
          <a:bodyPr wrap="square" lIns="0" rIns="0" tIns="0" bIns="0" anchor="ctr">
            <a:spAutoFit/>
          </a:bodyPr>
          <a:lstStyle/>
          <a:p>
            <a:pPr algn="ctr"/>
            <a:r>
              <a:rPr sz="1400" b="1" i="0">
                <a:solidFill>
                  <a:srgbClr val="0B1F3A"/>
                </a:solidFill>
                <a:latin typeface="Calibri"/>
              </a:rPr>
              <a:t>06</a:t>
            </a:r>
          </a:p>
        </p:txBody>
      </p:sp>
      <p:sp>
        <p:nvSpPr>
          <p:cNvPr id="27" name="TextBox 26"/>
          <p:cNvSpPr txBox="1"/>
          <p:nvPr/>
        </p:nvSpPr>
        <p:spPr>
          <a:xfrm>
            <a:off x="1600200" y="5221224"/>
            <a:ext cx="9692640" cy="310896"/>
          </a:xfrm>
          <a:prstGeom prst="rect">
            <a:avLst/>
          </a:prstGeom>
          <a:noFill/>
        </p:spPr>
        <p:txBody>
          <a:bodyPr wrap="square" lIns="0" rIns="0" tIns="0" bIns="0" anchor="t">
            <a:spAutoFit/>
          </a:bodyPr>
          <a:lstStyle/>
          <a:p>
            <a:pPr algn="l"/>
            <a:r>
              <a:rPr sz="1400" b="1" i="0">
                <a:solidFill>
                  <a:srgbClr val="0B1F3A"/>
                </a:solidFill>
                <a:latin typeface="Georgia"/>
              </a:rPr>
              <a:t>Painter mobile day-of-job flow</a:t>
            </a:r>
          </a:p>
        </p:txBody>
      </p:sp>
      <p:sp>
        <p:nvSpPr>
          <p:cNvPr id="28" name="TextBox 27"/>
          <p:cNvSpPr txBox="1"/>
          <p:nvPr/>
        </p:nvSpPr>
        <p:spPr>
          <a:xfrm>
            <a:off x="1600200" y="5532120"/>
            <a:ext cx="9692640" cy="411480"/>
          </a:xfrm>
          <a:prstGeom prst="rect">
            <a:avLst/>
          </a:prstGeom>
          <a:noFill/>
        </p:spPr>
        <p:txBody>
          <a:bodyPr wrap="square" lIns="0" rIns="0" tIns="0" bIns="0" anchor="t">
            <a:spAutoFit/>
          </a:bodyPr>
          <a:lstStyle/>
          <a:p>
            <a:pPr algn="l">
              <a:lnSpc>
                <a:spcPct val="140000"/>
              </a:lnSpc>
            </a:pPr>
            <a:r>
              <a:rPr sz="1100" b="0" i="0">
                <a:solidFill>
                  <a:srgbClr val="424E60"/>
                </a:solidFill>
                <a:latin typeface="Calibri"/>
              </a:rPr>
              <a:t>Photo milestone uploads, QA checklist, in-app navigation. Cuts our biggest source of dispatch headaches.</a:t>
            </a:r>
          </a:p>
        </p:txBody>
      </p:sp>
      <p:sp>
        <p:nvSpPr>
          <p:cNvPr id="29" name="TextBox 28"/>
          <p:cNvSpPr txBox="1"/>
          <p:nvPr/>
        </p:nvSpPr>
        <p:spPr>
          <a:xfrm>
            <a:off x="548640" y="6473952"/>
            <a:ext cx="7315200" cy="274320"/>
          </a:xfrm>
          <a:prstGeom prst="rect">
            <a:avLst/>
          </a:prstGeom>
          <a:noFill/>
        </p:spPr>
        <p:txBody>
          <a:bodyPr wrap="square" lIns="0" rIns="0" tIns="0" bIns="0" anchor="t">
            <a:spAutoFit/>
          </a:bodyPr>
          <a:lstStyle/>
          <a:p>
            <a:pPr algn="l"/>
            <a:r>
              <a:rPr sz="900" b="0" i="0">
                <a:solidFill>
                  <a:srgbClr val="6E7A8C"/>
                </a:solidFill>
                <a:latin typeface="Calibri"/>
              </a:rPr>
              <a:t>Paint Masters · Project Overview</a:t>
            </a:r>
          </a:p>
        </p:txBody>
      </p:sp>
      <p:sp>
        <p:nvSpPr>
          <p:cNvPr id="30" name="TextBox 29"/>
          <p:cNvSpPr txBox="1"/>
          <p:nvPr/>
        </p:nvSpPr>
        <p:spPr>
          <a:xfrm>
            <a:off x="11094415" y="6473952"/>
            <a:ext cx="548640" cy="274320"/>
          </a:xfrm>
          <a:prstGeom prst="rect">
            <a:avLst/>
          </a:prstGeom>
          <a:noFill/>
        </p:spPr>
        <p:txBody>
          <a:bodyPr wrap="square" lIns="0" rIns="0" tIns="0" bIns="0" anchor="t">
            <a:spAutoFit/>
          </a:bodyPr>
          <a:lstStyle/>
          <a:p>
            <a:pPr algn="r"/>
            <a:r>
              <a:rPr sz="900" b="0" i="0">
                <a:solidFill>
                  <a:srgbClr val="6E7A8C"/>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15600" y="914400"/>
            <a:ext cx="548640" cy="548640"/>
          </a:xfrm>
          <a:prstGeom prst="ellipse">
            <a:avLst/>
          </a:prstGeom>
          <a:solidFill>
            <a:srgbClr val="F5B800">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0" y="2194560"/>
            <a:ext cx="274320" cy="274320"/>
          </a:xfrm>
          <a:prstGeom prst="ellipse">
            <a:avLst/>
          </a:prstGeom>
          <a:solidFill>
            <a:srgbClr val="D7263D">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457200" cy="457200"/>
          </a:xfrm>
          <a:prstGeom prst="ellipse">
            <a:avLst/>
          </a:prstGeom>
          <a:solidFill>
            <a:srgbClr val="1E7F4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5166360"/>
            <a:ext cx="365760" cy="36576"/>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03120"/>
            <a:ext cx="10515600" cy="457200"/>
          </a:xfrm>
          <a:prstGeom prst="rect">
            <a:avLst/>
          </a:prstGeom>
          <a:noFill/>
        </p:spPr>
        <p:txBody>
          <a:bodyPr wrap="square" lIns="0" rIns="0" tIns="0" bIns="0" anchor="t">
            <a:spAutoFit/>
          </a:bodyPr>
          <a:lstStyle/>
          <a:p>
            <a:pPr algn="l"/>
            <a:r>
              <a:rPr sz="1300" b="1" i="0">
                <a:solidFill>
                  <a:srgbClr val="F5B800"/>
                </a:solidFill>
                <a:latin typeface="Calibri"/>
              </a:rPr>
              <a:t>PAINT MASTERS</a:t>
            </a:r>
          </a:p>
        </p:txBody>
      </p:sp>
      <p:sp>
        <p:nvSpPr>
          <p:cNvPr id="8" name="TextBox 7"/>
          <p:cNvSpPr txBox="1"/>
          <p:nvPr/>
        </p:nvSpPr>
        <p:spPr>
          <a:xfrm>
            <a:off x="868680" y="2606040"/>
            <a:ext cx="10515600" cy="1280160"/>
          </a:xfrm>
          <a:prstGeom prst="rect">
            <a:avLst/>
          </a:prstGeom>
          <a:noFill/>
        </p:spPr>
        <p:txBody>
          <a:bodyPr wrap="square" lIns="0" rIns="0" tIns="0" bIns="0" anchor="t">
            <a:spAutoFit/>
          </a:bodyPr>
          <a:lstStyle/>
          <a:p>
            <a:pPr algn="l"/>
            <a:r>
              <a:rPr sz="5800" b="1" i="0">
                <a:solidFill>
                  <a:srgbClr val="FFFFFF"/>
                </a:solidFill>
                <a:latin typeface="Georgia"/>
              </a:rPr>
              <a:t>Thank you.</a:t>
            </a:r>
          </a:p>
        </p:txBody>
      </p:sp>
      <p:sp>
        <p:nvSpPr>
          <p:cNvPr id="9" name="TextBox 8"/>
          <p:cNvSpPr txBox="1"/>
          <p:nvPr/>
        </p:nvSpPr>
        <p:spPr>
          <a:xfrm>
            <a:off x="868680" y="4114800"/>
            <a:ext cx="10515600" cy="457200"/>
          </a:xfrm>
          <a:prstGeom prst="rect">
            <a:avLst/>
          </a:prstGeom>
          <a:noFill/>
        </p:spPr>
        <p:txBody>
          <a:bodyPr wrap="square" lIns="0" rIns="0" tIns="0" bIns="0" anchor="t">
            <a:spAutoFit/>
          </a:bodyPr>
          <a:lstStyle/>
          <a:p>
            <a:pPr algn="l"/>
            <a:r>
              <a:rPr sz="1500" b="0" i="1">
                <a:solidFill>
                  <a:srgbClr val="C4CBD7"/>
                </a:solidFill>
                <a:latin typeface="Calibri"/>
              </a:rPr>
              <a:t>Questions, pushback and "have you considered…" are all welcome.</a:t>
            </a:r>
          </a:p>
        </p:txBody>
      </p:sp>
      <p:sp>
        <p:nvSpPr>
          <p:cNvPr id="10" name="TextBox 9"/>
          <p:cNvSpPr txBox="1"/>
          <p:nvPr/>
        </p:nvSpPr>
        <p:spPr>
          <a:xfrm>
            <a:off x="868680" y="5349240"/>
            <a:ext cx="10515600" cy="274320"/>
          </a:xfrm>
          <a:prstGeom prst="rect">
            <a:avLst/>
          </a:prstGeom>
          <a:noFill/>
        </p:spPr>
        <p:txBody>
          <a:bodyPr wrap="square" lIns="0" rIns="0" tIns="0" bIns="0" anchor="t">
            <a:spAutoFit/>
          </a:bodyPr>
          <a:lstStyle/>
          <a:p>
            <a:pPr algn="l"/>
            <a:r>
              <a:rPr sz="1100" b="0" i="0">
                <a:solidFill>
                  <a:srgbClr val="C4CBD7"/>
                </a:solidFill>
                <a:latin typeface="Calibri"/>
              </a:rPr>
              <a:t>minjaein48@gmail.com  ·  Cowork mode build  ·  May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