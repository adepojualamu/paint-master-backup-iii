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7103" y="0"/>
            <a:ext cx="164592" cy="1371600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27103" y="1371600"/>
            <a:ext cx="164592" cy="13716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27103" y="2743200"/>
            <a:ext cx="164592" cy="1371600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27103" y="4114800"/>
            <a:ext cx="164592" cy="1371600"/>
          </a:xfrm>
          <a:prstGeom prst="rect">
            <a:avLst/>
          </a:prstGeom>
          <a:solidFill>
            <a:srgbClr val="1A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27103" y="5486400"/>
            <a:ext cx="164592" cy="1371600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54864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0" b="1">
                <a:solidFill>
                  <a:srgbClr val="0B1F3A"/>
                </a:solidFill>
                <a:latin typeface="Calibri"/>
              </a:rPr>
              <a:t>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B800"/>
                </a:solidFill>
                <a:latin typeface="Calibri"/>
              </a:rPr>
              <a:t>CUSTOMER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Booking your
paint job.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"/>
              </a:rPr>
              <a:t>The complete walkthrough — quote to warranty — in twelve slides.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17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Paint Masters Ghana — internal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The whole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CUSTOMER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34155"/>
                </a:solidFill>
                <a:latin typeface="Calibri"/>
              </a:rPr>
              <a:t>From an instant quote to a 12-month warranty in your hand. Every step lives at paintmasters.gh — no app to install.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1.  Get an instant quote in 60 seconds.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2.  Book the job — date, address, access notes.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3.  Pay via Mobile Money or card. Funds go into escrow.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4.  Track progress on the live tracker. Chat with the Master and dispatch.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5.  Sign off after the QA inspection.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6.  Download your 12-month warranty certificate.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F5B800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Get an instant quote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Four inputs. Live total. Sixty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The quote builder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STEP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34155"/>
                </a:solidFill>
                <a:latin typeface="Calibri"/>
              </a:rPr>
              <a:t>The yellow Get Instant Quote button on the homepage is the fastest path. The total updates as you change inputs — labour, materials, travel, VAT all itemised.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Service: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Interior Wall Repaint, Exterior Refresh, Decorative Faux Finish, Roof Coating, or specialty.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Area in m²: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Bedroom ≈ 35, small living room ≈ 50, hallway ≈ 12. Rough is fine — the Master adjusts on site.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Materials included: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Yes = we bring paint and primer. No = labour only.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Region: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Drives the travel surcharge. Zero in Accra.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F5B800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Book 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Address, date, time window, access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What we ask on the booking 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STEP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28016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Address — be specific.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"12 Boundary Road, Cantonments" beats "East Legon".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Date and time window.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Morning, Afternoon, or All-day. We schedule by half-day blocks; the Master arrives within an hour of the window opening.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Delivery contact phone.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The number we'll call if the Master gets held up in traffic.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Access notes.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Side gate code, dog warning, parking instructions. The Master sees these on their app before they arrive.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Your booking ref: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A code like PM-482015. Keep it — it's how you find your tracker and how you claim warranty later.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F5B800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Pay — strictly cashless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Mobile Money or card. Funds sit in escrow until QA pass plus a 7-day holdback.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Two ways to pay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STEP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539496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Mobile Money — the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MTN MoMo, Telecel, AirtelTigo. The fastest path.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Pick MoMo on the booking page; a USSD prompt arrives on your phone in 5 seconds.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Enter your MoMo PIN to approve. Done in 30 seconds.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You get a confirmation SMS and an emailed receipt.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539496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54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Bank card — for international 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9456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Through the Hubtel hosted checkout.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The bank's 3-D Secure step adds about a minute.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Same escrow flow as MoMo — money is held, not paid out yet.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If your bank declines, switch to MoMo and try again.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Why cashless protects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CASHLESS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34155"/>
                </a:solidFill>
                <a:latin typeface="Calibri"/>
              </a:rPr>
              <a:t>Your money goes into escrow, not directly to the Master. It only releases after our QA team passes the job AND a 7-day holdback period elapses.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If a defect shows up in week one, we redo the work before any money has moved.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If a Master ever asks you for cash on the side — don't pay them.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Open the project tracker, tap the red ⚠ Report a cash request button.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Dispatch pulls the Master off your job and reassigns within the hour at no extra cost.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You will not lose your deposit.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F5B800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Track in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Live status, photos, chat, and four action buttons.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The project tracker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STEP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34155"/>
                </a:solidFill>
                <a:latin typeface="Calibri"/>
              </a:rPr>
              <a:t>Sign in, click Track Project in the nav. The page shows everything happening on your job.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Where the job is right now — the timeline ticks through six stages.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Your assigned Paint Master — name, photo, star rating, specialties.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Progress photos — they upload them through the day. You can add your own too.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Materials and hours logged.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Live chat with your dispatcher. Three send modes: in-platform, SMS, WhatsApp.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Four action buttons: photo request, scope change, leave a review, report a concern.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The four action buttons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TRACKER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1703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4583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4583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Request a photo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4583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Describe the spot — "the corner above the door, I want to check the seam." Master and dispatch both see the request and reply.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85135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68015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8015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Change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8015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Tell us about a change — "add the second-floor hallway." Both Master and admin must approve before it takes effect; we send a revised quote.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8567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81447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1447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Leave a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1447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Open after QA pass. Pick 1–5 stars, write a comment, drag photos from your tracker into the review.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1999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4879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4879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Report cash 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4879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Only if a Master asks you for cash. Pulls them off the job, calls you back within 30 minutes.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25431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08311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8311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Report a concern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8311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Anything else not right. Quality, safety, behaviour, property damage. Senior dispatcher follows up within 60 minutes.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Uploading your own photos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PHOTOS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34155"/>
                </a:solidFill>
                <a:latin typeface="Calibri"/>
              </a:rPr>
              <a:t>The progress-photo grid has a + Add photos tile. Drop image files (JPEG, PNG, WebP, GIF up to 8 MB each).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Every customer-uploaded photo goes through admin moderation first.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A small ⏳ Pending review badge appears on the photo until admin approves.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Approved photos lose the badge and become visible to your Master too.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If a photo is rejected (rare):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A ✕ Rejected badge appears with the reason. You can re-upload a different shot.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Why moderation: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Keeps the tracker on-topic. No accidental personal photos, no off-topic shots.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F5B800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Your warranty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Twelve months. Downloadable certificate. Real recourse if something fails.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What the warranty covers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STEP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98167" y="1920240"/>
            <a:ext cx="2743200" cy="3291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98167" y="228600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0B1F3A"/>
                </a:solidFill>
                <a:latin typeface="Calibr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8167" y="4023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5B800"/>
                </a:solidFill>
                <a:latin typeface="Calibri"/>
              </a:rPr>
              <a:t>Months of 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1047" y="45720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From completion. 18 months for Caparol jobs.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4247" y="228600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0B1F3A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4247" y="4023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5B800"/>
                </a:solidFill>
                <a:latin typeface="Calibri"/>
              </a:rPr>
              <a:t>Of original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7127" y="45720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Premature peel, blister, flake, crack, colour drift.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50327" y="1920240"/>
            <a:ext cx="2743200" cy="3291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0327" y="228600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0B1F3A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327" y="4023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5B800"/>
                </a:solidFill>
                <a:latin typeface="Calibri"/>
              </a:rPr>
              <a:t>Cost to claim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3207" y="45720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We redo the affected work at no charge.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Downloading and claiming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STEP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28016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On the tracker, the Your warranty card unlocks a 📄 Download certificate button.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Click it; a styled certificate opens in a new tab.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Hit ⬇ Download PDF in the toolbar (or File → Print → Save as PDF).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The same certificate appears on My Account → Warranty certificates at any time.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To make a claim: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Open your tracker → Report a concern → category "Quality of work".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Or email warranty@paintmasters.gh with the certificate number.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A senior Paint Master reinspects and we redo the affected work at no cost.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Calibri"/>
              </a:rPr>
              <a:t>PAINT MASTERS —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You're ready to 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CBD5E1"/>
                </a:solidFill>
                <a:latin typeface="Calibri"/>
              </a:rPr>
              <a:t>Welcome to Paint Masters, customer.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In-platform chat on your project tracker — fastest if you have an active job.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WhatsApp +233 54 000 0000 — Mon–Sat, 7am–8pm GMT.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Email support@paintmasters.gh — replies within 4 working hours.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Always have your booking ref (PM-XXXXXX) handy when you contact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38339" y="6693408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76678" y="6693408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017" y="6693408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53356" y="6693408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